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Create a more comprehensive PowerPoint based on the user's detailed instructions</a:t>
            </a:r>
          </a:p>
          <a:p/>
          <a:p>
            <a:r>
              <a:t>from pptx import Presentation</a:t>
            </a:r>
          </a:p>
          <a:p>
            <a:r>
              <a:t>from pptx.util import Inches</a:t>
            </a:r>
          </a:p>
          <a:p/>
          <a:p>
            <a:r>
              <a:t>prs = Presentation()</a:t>
            </a:r>
          </a:p>
          <a:p/>
          <a:p>
            <a:r>
              <a:t>def add_slide(title, bullets):</a:t>
            </a:r>
          </a:p>
          <a:p>
            <a:r>
              <a:t>    slide_layout = prs.slide_layouts[1]</a:t>
            </a:r>
          </a:p>
          <a:p>
            <a:r>
              <a:t>    slide = prs.slides.add_slide(slide_layout)</a:t>
            </a:r>
          </a:p>
          <a:p>
            <a:r>
              <a:t>    slide.shapes.title.text = title</a:t>
            </a:r>
          </a:p>
          <a:p>
            <a:r>
              <a:t>    tf = slide.placeholders[1].text_frame</a:t>
            </a:r>
          </a:p>
          <a:p>
            <a:r>
              <a:t>    tf.clear()</a:t>
            </a:r>
          </a:p>
          <a:p>
            <a:r>
              <a:t>    for i, b in enumerate(bullets):</a:t>
            </a:r>
          </a:p>
          <a:p>
            <a:r>
              <a:t>        if i == 0:</a:t>
            </a:r>
          </a:p>
          <a:p>
            <a:r>
              <a:t>            tf.text = b</a:t>
            </a:r>
          </a:p>
          <a:p>
            <a:r>
              <a:t>        else:</a:t>
            </a:r>
          </a:p>
          <a:p>
            <a:r>
              <a:t>            p = tf.add_paragraph()</a:t>
            </a:r>
          </a:p>
          <a:p>
            <a:r>
              <a:t>            p.text = b</a:t>
            </a:r>
          </a:p>
          <a:p>
            <a:r>
              <a:t>            p.level = 0</a:t>
            </a:r>
          </a:p>
          <a:p/>
          <a:p>
            <a:r>
              <a:t># 1. Title</a:t>
            </a:r>
          </a:p>
          <a:p>
            <a:r>
              <a:t>add_slide(</a:t>
            </a:r>
          </a:p>
          <a:p>
            <a:r>
              <a:t>    "LLM Prompt Engineering for Breast Cancer Workup Extraction",</a:t>
            </a:r>
          </a:p>
          <a:p>
            <a:r>
              <a:t>    [</a:t>
            </a:r>
          </a:p>
          <a:p>
            <a:r>
              <a:t>        "Evaluating accuracy, hallucination, and safety",</a:t>
            </a:r>
          </a:p>
          <a:p>
            <a:r>
              <a:t>        "Prompt engineering + RAG + LangGraph",</a:t>
            </a:r>
          </a:p>
          <a:p>
            <a:r>
              <a:t>        "Memorial Sloan Kettering | Surgical Oncology AI"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2. Background - LLM basics</a:t>
            </a:r>
          </a:p>
          <a:p>
            <a:r>
              <a:t>add_slide(</a:t>
            </a:r>
          </a:p>
          <a:p>
            <a:r>
              <a:t>    "What is a Large Language Model (LLM)?",</a:t>
            </a:r>
          </a:p>
          <a:p>
            <a:r>
              <a:t>    [</a:t>
            </a:r>
          </a:p>
          <a:p>
            <a:r>
              <a:t>        "Neural networks trained on large text corpora",</a:t>
            </a:r>
          </a:p>
          <a:p>
            <a:r>
              <a:t>        "Based on transformer architecture",</a:t>
            </a:r>
          </a:p>
          <a:p>
            <a:r>
              <a:t>        "Learn probability distributions over language",</a:t>
            </a:r>
          </a:p>
          <a:p>
            <a:r>
              <a:t>        "Non-deterministic outputs (same input ≠ same output)"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3. Transformer basics</a:t>
            </a:r>
          </a:p>
          <a:p>
            <a:r>
              <a:t>add_slide(</a:t>
            </a:r>
          </a:p>
          <a:p>
            <a:r>
              <a:t>    "Transformer Architecture (High-Level)",</a:t>
            </a:r>
          </a:p>
          <a:p>
            <a:r>
              <a:t>    [</a:t>
            </a:r>
          </a:p>
          <a:p>
            <a:r>
              <a:t>        "Input tokens → embeddings",</a:t>
            </a:r>
          </a:p>
          <a:p>
            <a:r>
              <a:t>        "Multi-head self-attention layers",</a:t>
            </a:r>
          </a:p>
          <a:p>
            <a:r>
              <a:t>        "Feedforward layers",</a:t>
            </a:r>
          </a:p>
          <a:p>
            <a:r>
              <a:t>        "Stacked layers (depth)",</a:t>
            </a:r>
          </a:p>
          <a:p>
            <a:r>
              <a:t>        "Output probability distribution over tokens"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4. Attention intuition</a:t>
            </a:r>
          </a:p>
          <a:p>
            <a:r>
              <a:t>add_slide(</a:t>
            </a:r>
          </a:p>
          <a:p>
            <a:r>
              <a:t>    "Self-Attention Mechanism",</a:t>
            </a:r>
          </a:p>
          <a:p>
            <a:r>
              <a:t>    [</a:t>
            </a:r>
          </a:p>
          <a:p>
            <a:r>
              <a:t>        "Model attends to all tokens simultaneously",</a:t>
            </a:r>
          </a:p>
          <a:p>
            <a:r>
              <a:t>        "Captures long-range dependencies",</a:t>
            </a:r>
          </a:p>
          <a:p>
            <a:r>
              <a:t>        "Weighted relationships between words",</a:t>
            </a:r>
          </a:p>
          <a:p>
            <a:r>
              <a:t>        "Key driver of LLM performance"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5. Model architectures comparison</a:t>
            </a:r>
          </a:p>
          <a:p>
            <a:r>
              <a:t>add_slide(</a:t>
            </a:r>
          </a:p>
          <a:p>
            <a:r>
              <a:t>    "Modern LLM Architectures",</a:t>
            </a:r>
          </a:p>
          <a:p>
            <a:r>
              <a:t>    [</a:t>
            </a:r>
          </a:p>
          <a:p>
            <a:r>
              <a:t>        "Encoder (BERT): bidirectional context understanding",</a:t>
            </a:r>
          </a:p>
          <a:p>
            <a:r>
              <a:t>        "Encoder-decoder (BART/T5): input → output transformation",</a:t>
            </a:r>
          </a:p>
          <a:p>
            <a:r>
              <a:t>        "Decoder-only (GPT, Claude): autoregressive generation",</a:t>
            </a:r>
          </a:p>
          <a:p>
            <a:r>
              <a:t>        "Tradeoff: understanding vs generation"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6. Claude Sonnet 4 &amp; OpenAI GPT-5.2</a:t>
            </a:r>
          </a:p>
          <a:p>
            <a:r>
              <a:t>add_slide(</a:t>
            </a:r>
          </a:p>
          <a:p>
            <a:r>
              <a:t>    "Production LLMs Used",</a:t>
            </a:r>
          </a:p>
          <a:p>
            <a:r>
              <a:t>    [</a:t>
            </a:r>
          </a:p>
          <a:p>
            <a:r>
              <a:t>        "Claude Sonnet 4: strong reasoning, low hallucination",</a:t>
            </a:r>
          </a:p>
          <a:p>
            <a:r>
              <a:t>        "OpenAI GPT-5.2: structured outputs, high controllability",</a:t>
            </a:r>
          </a:p>
          <a:p>
            <a:r>
              <a:t>        "Both support long context + JSON extraction",</a:t>
            </a:r>
          </a:p>
          <a:p>
            <a:r>
              <a:t>        "Behavior shaped heavily by prompt design"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7. Why prompt engineering matters</a:t>
            </a:r>
          </a:p>
          <a:p>
            <a:r>
              <a:t>add_slide(</a:t>
            </a:r>
          </a:p>
          <a:p>
            <a:r>
              <a:t>    "Why Prompt Engineering?",</a:t>
            </a:r>
          </a:p>
          <a:p>
            <a:r>
              <a:t>    [</a:t>
            </a:r>
          </a:p>
          <a:p>
            <a:r>
              <a:t>        "LLMs are non-deterministic",</a:t>
            </a:r>
          </a:p>
          <a:p>
            <a:r>
              <a:t>        "Outputs depend on instruction clarity",</a:t>
            </a:r>
          </a:p>
          <a:p>
            <a:r>
              <a:t>        "Poor prompts → hallucination + inconsistency",</a:t>
            </a:r>
          </a:p>
          <a:p>
            <a:r>
              <a:t>        "Goal: maximize accuracy, minimize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8. Prompt engineering definition</a:t>
            </a:r>
          </a:p>
          <a:p>
            <a:r>
              <a:t>add_slide(</a:t>
            </a:r>
          </a:p>
          <a:p>
            <a:r>
              <a:t>    "Prompt Engineering",</a:t>
            </a:r>
          </a:p>
          <a:p>
            <a:r>
              <a:t>    [</a:t>
            </a:r>
          </a:p>
          <a:p>
            <a:r>
              <a:t>        "Designing instructions to control model behavior",</a:t>
            </a:r>
          </a:p>
          <a:p>
            <a:r>
              <a:t>        "Uses roles, constraints, examples, formatting",</a:t>
            </a:r>
          </a:p>
          <a:p>
            <a:r>
              <a:t>        "Critical for clinical safety applications",</a:t>
            </a:r>
          </a:p>
          <a:p>
            <a:r>
              <a:t>        "Enables structured extraction without retraining"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9. Automated prompt engineering</a:t>
            </a:r>
          </a:p>
          <a:p>
            <a:r>
              <a:t>add_slide(</a:t>
            </a:r>
          </a:p>
          <a:p>
            <a:r>
              <a:t>    "Automated Prompt Engineering",</a:t>
            </a:r>
          </a:p>
          <a:p>
            <a:r>
              <a:t>    [</a:t>
            </a:r>
          </a:p>
          <a:p>
            <a:r>
              <a:t>        "Systematic testing of prompt variants",</a:t>
            </a:r>
          </a:p>
          <a:p>
            <a:r>
              <a:t>        "Evaluate performance across multiple runs",</a:t>
            </a:r>
          </a:p>
          <a:p>
            <a:r>
              <a:t>        "Optimize prompts based on metrics",</a:t>
            </a:r>
          </a:p>
          <a:p>
            <a:r>
              <a:t>        "Treat prompts as version-controlled artifacts"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10. Project overview</a:t>
            </a:r>
          </a:p>
          <a:p>
            <a:r>
              <a:t>add_slide(</a:t>
            </a:r>
          </a:p>
          <a:p>
            <a:r>
              <a:t>    "Project Overview",</a:t>
            </a:r>
          </a:p>
          <a:p>
            <a:r>
              <a:t>    [</a:t>
            </a:r>
          </a:p>
          <a:p>
            <a:r>
              <a:t>        "Input: breast cancer radiology + pathology PDFs",</a:t>
            </a:r>
          </a:p>
          <a:p>
            <a:r>
              <a:t>        "Task: extract 14 structured clinical features",</a:t>
            </a:r>
          </a:p>
          <a:p>
            <a:r>
              <a:t>        "Compare LLM vs human annotations",</a:t>
            </a:r>
          </a:p>
          <a:p>
            <a:r>
              <a:t>        "Evaluate accuracy, omission, fabrication"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11. Key metric definitions</a:t>
            </a:r>
          </a:p>
          <a:p>
            <a:r>
              <a:t>add_slide(</a:t>
            </a:r>
          </a:p>
          <a:p>
            <a:r>
              <a:t>    "Evaluation Metrics",</a:t>
            </a:r>
          </a:p>
          <a:p>
            <a:r>
              <a:t>    [</a:t>
            </a:r>
          </a:p>
          <a:p>
            <a:r>
              <a:t>        "TP: correct extraction",</a:t>
            </a:r>
          </a:p>
          <a:p>
            <a:r>
              <a:t>        "FN: omission",</a:t>
            </a:r>
          </a:p>
          <a:p>
            <a:r>
              <a:t>        "FP: fabrication",</a:t>
            </a:r>
          </a:p>
          <a:p>
            <a:r>
              <a:t>        "TN: correct absence",</a:t>
            </a:r>
          </a:p>
          <a:p>
            <a:r>
              <a:t>        "Primary outcome: fabrication rate = FP / (FP + TN)"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12. Prompt versions</a:t>
            </a:r>
          </a:p>
          <a:p>
            <a:r>
              <a:t>add_slide(</a:t>
            </a:r>
          </a:p>
          <a:p>
            <a:r>
              <a:t>    "Prompt Versions",</a:t>
            </a:r>
          </a:p>
          <a:p>
            <a:r>
              <a:t>    [</a:t>
            </a:r>
          </a:p>
          <a:p>
            <a:r>
              <a:t>        "Prompt V1: zero-shot extraction",</a:t>
            </a:r>
          </a:p>
          <a:p>
            <a:r>
              <a:t>        "Prompt V2: structured developer prompt",</a:t>
            </a:r>
          </a:p>
          <a:p>
            <a:r>
              <a:t>        "Strict anti-fabrication rules",</a:t>
            </a:r>
          </a:p>
          <a:p>
            <a:r>
              <a:t>        "JSON output enforcement"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13. Developer prompt principles</a:t>
            </a:r>
          </a:p>
          <a:p>
            <a:r>
              <a:t>add_slide(</a:t>
            </a:r>
          </a:p>
          <a:p>
            <a:r>
              <a:t>    "Structured Developer Prompt (V2)",</a:t>
            </a:r>
          </a:p>
          <a:p>
            <a:r>
              <a:t>    [</a:t>
            </a:r>
          </a:p>
          <a:p>
            <a:r>
              <a:t>        "Hard constraints: no inference allowed",</a:t>
            </a:r>
          </a:p>
          <a:p>
            <a:r>
              <a:t>        "Return 'Not reported' if missing",</a:t>
            </a:r>
          </a:p>
          <a:p>
            <a:r>
              <a:t>        "Return 'Indeterminate' if conflicting",</a:t>
            </a:r>
          </a:p>
          <a:p>
            <a:r>
              <a:t>        "Evidence-based extraction required"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14. Prompt structure</a:t>
            </a:r>
          </a:p>
          <a:p>
            <a:r>
              <a:t>add_slide(</a:t>
            </a:r>
          </a:p>
          <a:p>
            <a:r>
              <a:t>    "Prompt Structure",</a:t>
            </a:r>
          </a:p>
          <a:p>
            <a:r>
              <a:t>    [</a:t>
            </a:r>
          </a:p>
          <a:p>
            <a:r>
              <a:t>        "System / developer message defines rules",</a:t>
            </a:r>
          </a:p>
          <a:p>
            <a:r>
              <a:t>        "User message provides document",</a:t>
            </a:r>
          </a:p>
          <a:p>
            <a:r>
              <a:t>        "Assistant outputs structured JSON",</a:t>
            </a:r>
          </a:p>
          <a:p>
            <a:r>
              <a:t>        "Separation of instructions and data"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15. Prompting techniques</a:t>
            </a:r>
          </a:p>
          <a:p>
            <a:r>
              <a:t>add_slide(</a:t>
            </a:r>
          </a:p>
          <a:p>
            <a:r>
              <a:t>    "Prompting Techniques Evaluated",</a:t>
            </a:r>
          </a:p>
          <a:p>
            <a:r>
              <a:t>    [</a:t>
            </a:r>
          </a:p>
          <a:p>
            <a:r>
              <a:t>        "Zero-shot",</a:t>
            </a:r>
          </a:p>
          <a:p>
            <a:r>
              <a:t>        "Chain-of-thought",</a:t>
            </a:r>
          </a:p>
          <a:p>
            <a:r>
              <a:t>        "Few-shot",</a:t>
            </a:r>
          </a:p>
          <a:p>
            <a:r>
              <a:t>        "RAG (retrieval augmented generation)",</a:t>
            </a:r>
          </a:p>
          <a:p>
            <a:r>
              <a:t>        "Program-aided prompting",</a:t>
            </a:r>
          </a:p>
          <a:p>
            <a:r>
              <a:t>        "ReAct / BFOP"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16. Why prompting over fine-tuning</a:t>
            </a:r>
          </a:p>
          <a:p>
            <a:r>
              <a:t>add_slide(</a:t>
            </a:r>
          </a:p>
          <a:p>
            <a:r>
              <a:t>    "Prompting vs Fine-Tuning",</a:t>
            </a:r>
          </a:p>
          <a:p>
            <a:r>
              <a:t>    [</a:t>
            </a:r>
          </a:p>
          <a:p>
            <a:r>
              <a:t>        "No need for large labeled datasets",</a:t>
            </a:r>
          </a:p>
          <a:p>
            <a:r>
              <a:t>        "Faster iteration cycle",</a:t>
            </a:r>
          </a:p>
          <a:p>
            <a:r>
              <a:t>        "Lower cost",</a:t>
            </a:r>
          </a:p>
          <a:p>
            <a:r>
              <a:t>        "More interpretable and controllable",</a:t>
            </a:r>
          </a:p>
          <a:p>
            <a:r>
              <a:t>        "Easier safety constraints"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17. Meta prompting</a:t>
            </a:r>
          </a:p>
          <a:p>
            <a:r>
              <a:t>add_slide(</a:t>
            </a:r>
          </a:p>
          <a:p>
            <a:r>
              <a:t>    "Meta Prompting",</a:t>
            </a:r>
          </a:p>
          <a:p>
            <a:r>
              <a:t>    [</a:t>
            </a:r>
          </a:p>
          <a:p>
            <a:r>
              <a:t>        "Prompts that define how prompts should behave",</a:t>
            </a:r>
          </a:p>
          <a:p>
            <a:r>
              <a:t>        "Controls reasoning, format, and validation",</a:t>
            </a:r>
          </a:p>
          <a:p>
            <a:r>
              <a:t>        "Used to enforce consistency",</a:t>
            </a:r>
          </a:p>
          <a:p>
            <a:r>
              <a:t>        "Critical for production systems"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18. RAG introduction</a:t>
            </a:r>
          </a:p>
          <a:p>
            <a:r>
              <a:t>add_slide(</a:t>
            </a:r>
          </a:p>
          <a:p>
            <a:r>
              <a:t>    "Retrieval-Augmented Generation (RAG)",</a:t>
            </a:r>
          </a:p>
          <a:p>
            <a:r>
              <a:t>    [</a:t>
            </a:r>
          </a:p>
          <a:p>
            <a:r>
              <a:t>        "LLM restricted to retrieved document chunks",</a:t>
            </a:r>
          </a:p>
          <a:p>
            <a:r>
              <a:t>        "Reduces hallucination",</a:t>
            </a:r>
          </a:p>
          <a:p>
            <a:r>
              <a:t>        "Improves factual grounding",</a:t>
            </a:r>
          </a:p>
          <a:p>
            <a:r>
              <a:t>        "Core component of pipeline"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19. LangGraph pipeline</a:t>
            </a:r>
          </a:p>
          <a:p>
            <a:r>
              <a:t>add_slide(</a:t>
            </a:r>
          </a:p>
          <a:p>
            <a:r>
              <a:t>    "LangGraph Agentic Pipeline",</a:t>
            </a:r>
          </a:p>
          <a:p>
            <a:r>
              <a:t>    [</a:t>
            </a:r>
          </a:p>
          <a:p>
            <a:r>
              <a:t>        "Query generation",</a:t>
            </a:r>
          </a:p>
          <a:p>
            <a:r>
              <a:t>        "Evidence retrieval",</a:t>
            </a:r>
          </a:p>
          <a:p>
            <a:r>
              <a:t>        "Evidence grading",</a:t>
            </a:r>
          </a:p>
          <a:p>
            <a:r>
              <a:t>        "Validation decision",</a:t>
            </a:r>
          </a:p>
          <a:p>
            <a:r>
              <a:t>        "Iterative query refinement"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20. Knowledge graph</a:t>
            </a:r>
          </a:p>
          <a:p>
            <a:r>
              <a:t>add_slide(</a:t>
            </a:r>
          </a:p>
          <a:p>
            <a:r>
              <a:t>    "Knowledge Graph Layer",</a:t>
            </a:r>
          </a:p>
          <a:p>
            <a:r>
              <a:t>    [</a:t>
            </a:r>
          </a:p>
          <a:p>
            <a:r>
              <a:t>        "Nodes: patient, features, observations, evidence",</a:t>
            </a:r>
          </a:p>
          <a:p>
            <a:r>
              <a:t>        "Edges connect evidence to extracted features",</a:t>
            </a:r>
          </a:p>
          <a:p>
            <a:r>
              <a:t>        "Used for validation and hallucination detection",</a:t>
            </a:r>
          </a:p>
          <a:p>
            <a:r>
              <a:t>        "Supports agentic reasoning"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21. Fabrication detection</a:t>
            </a:r>
          </a:p>
          <a:p>
            <a:r>
              <a:t>add_slide(</a:t>
            </a:r>
          </a:p>
          <a:p>
            <a:r>
              <a:t>    "Fabrication Detection",</a:t>
            </a:r>
          </a:p>
          <a:p>
            <a:r>
              <a:t>    [</a:t>
            </a:r>
          </a:p>
          <a:p>
            <a:r>
              <a:t>        "Compare LLM output vs source evidence",</a:t>
            </a:r>
          </a:p>
          <a:p>
            <a:r>
              <a:t>        "Flag unsupported claims",</a:t>
            </a:r>
          </a:p>
          <a:p>
            <a:r>
              <a:t>        "Classify: correct, fabrication, omission, uncertain",</a:t>
            </a:r>
          </a:p>
          <a:p>
            <a:r>
              <a:t>        "Generate corrected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22. Self-consistency metric (image slide)</a:t>
            </a:r>
          </a:p>
          <a:p>
            <a:r>
              <a:t>slide_layout = prs.slide_layouts[5]</a:t>
            </a:r>
          </a:p>
          <a:p>
            <a:r>
              <a:t>slide = prs.slides.add_slide(slide_layout)</a:t>
            </a:r>
          </a:p>
          <a:p>
            <a:r>
              <a:t>slide.shapes.title.text = "Self-Consistency &amp; Reproducibility"</a:t>
            </a:r>
          </a:p>
          <a:p/>
          <a:p>
            <a:r>
              <a:t>img_path = "/mnt/data/51ce234e-ae92-4f08-9e2d-9a1f7d769c22.png"</a:t>
            </a:r>
          </a:p>
          <a:p>
            <a:r>
              <a:t>slide.shapes.add_picture(img_path, Inches(1), Inches(1.5), width=Inches(6))</a:t>
            </a:r>
          </a:p>
          <a:p/>
          <a:p>
            <a:r>
              <a:t># 23. Explanation slide</a:t>
            </a:r>
          </a:p>
          <a:p>
            <a:r>
              <a:t>add_slide(</a:t>
            </a:r>
          </a:p>
          <a:p>
            <a:r>
              <a:t>    "Why Self-Consistency?",</a:t>
            </a:r>
          </a:p>
          <a:p>
            <a:r>
              <a:t>    [</a:t>
            </a:r>
          </a:p>
          <a:p>
            <a:r>
              <a:t>        "LLM outputs vary across runs",</a:t>
            </a:r>
          </a:p>
          <a:p>
            <a:r>
              <a:t>        "Multiple iterations needed for reliability",</a:t>
            </a:r>
          </a:p>
          <a:p>
            <a:r>
              <a:t>        "≥5 runs per case improves stability",</a:t>
            </a:r>
          </a:p>
          <a:p>
            <a:r>
              <a:t>        "Measure agreement across outputs"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24. HCAT safety metrics</a:t>
            </a:r>
          </a:p>
          <a:p>
            <a:r>
              <a:t>add_slide(</a:t>
            </a:r>
          </a:p>
          <a:p>
            <a:r>
              <a:t>    "HCAT Safety Metrics",</a:t>
            </a:r>
          </a:p>
          <a:p>
            <a:r>
              <a:t>    [</a:t>
            </a:r>
          </a:p>
          <a:p>
            <a:r>
              <a:t>        "Measure residual PHI risk after deidentification",</a:t>
            </a:r>
          </a:p>
          <a:p>
            <a:r>
              <a:t>        "PHI recall, precision, F1",</a:t>
            </a:r>
          </a:p>
          <a:p>
            <a:r>
              <a:t>        "False negative rate (critical safety metric)",</a:t>
            </a:r>
          </a:p>
          <a:p>
            <a:r>
              <a:t>        "Residual PHI risk score"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25. Safety importance</a:t>
            </a:r>
          </a:p>
          <a:p>
            <a:r>
              <a:t>add_slide(</a:t>
            </a:r>
          </a:p>
          <a:p>
            <a:r>
              <a:t>    "Why Safety Matters",</a:t>
            </a:r>
          </a:p>
          <a:p>
            <a:r>
              <a:t>    [</a:t>
            </a:r>
          </a:p>
          <a:p>
            <a:r>
              <a:t>        "Clinical data must remain de-identified",</a:t>
            </a:r>
          </a:p>
          <a:p>
            <a:r>
              <a:t>        "Prevent PHI leakage",</a:t>
            </a:r>
          </a:p>
          <a:p>
            <a:r>
              <a:t>        "Ensure HIPAA compliance",</a:t>
            </a:r>
          </a:p>
          <a:p>
            <a:r>
              <a:t>        "Quantify risk using HCAT framework"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26. Full pipeline</a:t>
            </a:r>
          </a:p>
          <a:p>
            <a:r>
              <a:t>add_slide(</a:t>
            </a:r>
          </a:p>
          <a:p>
            <a:r>
              <a:t>    "End-to-End Pipeline",</a:t>
            </a:r>
          </a:p>
          <a:p>
            <a:r>
              <a:t>    [</a:t>
            </a:r>
          </a:p>
          <a:p>
            <a:r>
              <a:t>        "OCR + deidentification",</a:t>
            </a:r>
          </a:p>
          <a:p>
            <a:r>
              <a:t>        "LLM extraction (prompt variants)",</a:t>
            </a:r>
          </a:p>
          <a:p>
            <a:r>
              <a:t>        "Human validation",</a:t>
            </a:r>
          </a:p>
          <a:p>
            <a:r>
              <a:t>        "Metric computation",</a:t>
            </a:r>
          </a:p>
          <a:p>
            <a:r>
              <a:t>        "RAG-based validation layer"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27. Contributions</a:t>
            </a:r>
          </a:p>
          <a:p>
            <a:r>
              <a:t>add_slide(</a:t>
            </a:r>
          </a:p>
          <a:p>
            <a:r>
              <a:t>    "Key Contributions",</a:t>
            </a:r>
          </a:p>
          <a:p>
            <a:r>
              <a:t>    [</a:t>
            </a:r>
          </a:p>
          <a:p>
            <a:r>
              <a:t>        "Clinical evaluation of LLM summarization",</a:t>
            </a:r>
          </a:p>
          <a:p>
            <a:r>
              <a:t>        "Fabrication-focused safety analysis",</a:t>
            </a:r>
          </a:p>
          <a:p>
            <a:r>
              <a:t>        "Prompt optimization framework",</a:t>
            </a:r>
          </a:p>
          <a:p>
            <a:r>
              <a:t>        "Production monitoring strategy"</a:t>
            </a:r>
          </a:p>
          <a:p>
            <a:r>
              <a:t>    ]</a:t>
            </a:r>
          </a:p>
          <a:p>
            <a:r>
              <a:t>)</a:t>
            </a:r>
          </a:p>
          <a:p/>
          <a:p>
            <a:r>
              <a:t># Save</a:t>
            </a:r>
          </a:p>
          <a:p>
            <a:r>
              <a:t>file_path = "/mnt/data/llm_prompt_engineering_breast_cancer_v2.pptx"</a:t>
            </a:r>
          </a:p>
          <a:p>
            <a:r>
              <a:t>prs.save(file_path)</a:t>
            </a:r>
          </a:p>
          <a:p/>
          <a:p>
            <a:r>
              <a:t>file_path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Prompt Engineering for Breast Cancer Workup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Accuracy, hallucination, safety</a:t>
            </a:r>
          </a:p>
          <a:p>
            <a:r>
              <a:t>MSK | Surgical Oncology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Transformer-based neural network</a:t>
            </a:r>
          </a:p>
          <a:p>
            <a:r>
              <a:t>Probability distribution over tokens</a:t>
            </a:r>
          </a:p>
          <a:p>
            <a:r>
              <a:t>Non-deterministic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variability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input → different outputs</a:t>
            </a:r>
          </a:p>
          <a:p>
            <a:r>
              <a:t>Reproducibility challenge</a:t>
            </a:r>
          </a:p>
          <a:p>
            <a:r>
              <a:t>Clinical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Variability</a:t>
            </a:r>
          </a:p>
        </p:txBody>
      </p:sp>
      <p:pic>
        <p:nvPicPr>
          <p:cNvPr id="3" name="Picture 2" descr="51ce234e-ae92-4f08-9e2d-9a1f7d769c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090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Embeddings</a:t>
            </a:r>
          </a:p>
          <a:p>
            <a:r>
              <a:t>Self-attention</a:t>
            </a:r>
          </a:p>
          <a:p>
            <a:r>
              <a:t>Feedforward layers</a:t>
            </a:r>
          </a:p>
          <a:p>
            <a:r>
              <a:t>Stacked layers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Tokens attend globally</a:t>
            </a:r>
          </a:p>
          <a:p>
            <a:r>
              <a:t>Captures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BERT encoder</a:t>
            </a:r>
          </a:p>
          <a:p>
            <a:r>
              <a:t>BART encoder-decoder</a:t>
            </a:r>
          </a:p>
          <a:p>
            <a:r>
              <a:t>T5 text-to-text</a:t>
            </a:r>
          </a:p>
          <a:p>
            <a:r>
              <a:t>GPT/Claude decoder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vs GPT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Claude: reasoning</a:t>
            </a:r>
          </a:p>
          <a:p>
            <a:r>
              <a:t>GPT: structure</a:t>
            </a:r>
          </a:p>
          <a:p>
            <a:r>
              <a:t>Prompt-sensitive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model behavior</a:t>
            </a:r>
          </a:p>
          <a:p>
            <a:r>
              <a:t>Critical for safety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</a:t>
            </a:r>
          </a:p>
          <a:p>
            <a:r>
              <a:t>User</a:t>
            </a:r>
          </a:p>
          <a:p>
            <a:r>
              <a:t>Output</a:t>
            </a:r>
          </a:p>
          <a:p>
            <a:r>
              <a:t>Separation of data/instructions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</a:t>
            </a:r>
          </a:p>
          <a:p>
            <a:r>
              <a:t>Context</a:t>
            </a:r>
          </a:p>
          <a:p>
            <a:r>
              <a:t>References</a:t>
            </a:r>
          </a:p>
          <a:p>
            <a:r>
              <a:t>Constraints</a:t>
            </a:r>
          </a:p>
          <a:p>
            <a:r>
              <a:t>Output format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Iterate prompts</a:t>
            </a:r>
          </a:p>
          <a:p>
            <a:r>
              <a:t>Evaluate</a:t>
            </a:r>
          </a:p>
          <a:p>
            <a:r>
              <a:t>Optimize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 → features</a:t>
            </a:r>
          </a:p>
          <a:p>
            <a:r>
              <a:t>14 variables</a:t>
            </a:r>
          </a:p>
          <a:p>
            <a:r>
              <a:t>LLM vs human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V1 vs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V1 zero-shot</a:t>
            </a:r>
          </a:p>
          <a:p>
            <a:r>
              <a:t>V2 structured</a:t>
            </a:r>
          </a:p>
          <a:p>
            <a:r>
              <a:t>Anti-fabrication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Zero-shot</a:t>
            </a:r>
          </a:p>
          <a:p>
            <a:r>
              <a:t>CoT</a:t>
            </a:r>
          </a:p>
          <a:p>
            <a:r>
              <a:t>Few-shot</a:t>
            </a:r>
          </a:p>
          <a:p>
            <a:r>
              <a:t>RAG</a:t>
            </a:r>
          </a:p>
          <a:p>
            <a:r>
              <a:t>ReAct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Prompting vs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dataset</a:t>
            </a:r>
          </a:p>
          <a:p>
            <a:r>
              <a:t>Fast</a:t>
            </a:r>
          </a:p>
          <a:p>
            <a:r>
              <a:t>Safe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reasoning</a:t>
            </a:r>
          </a:p>
          <a:p>
            <a:r>
              <a:t>Enforce structure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 evidence</a:t>
            </a:r>
          </a:p>
          <a:p>
            <a:r>
              <a:t>Reduce hallucination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</a:t>
            </a:r>
          </a:p>
          <a:p>
            <a:r>
              <a:t>Retrieve</a:t>
            </a:r>
          </a:p>
          <a:p>
            <a:r>
              <a:t>Validate</a:t>
            </a:r>
          </a:p>
          <a:p>
            <a:r>
              <a:t>Iterate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TP FN FP TN</a:t>
            </a:r>
          </a:p>
          <a:p>
            <a:r>
              <a:t>Fabrication rate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HCAT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 recall/precision</a:t>
            </a:r>
          </a:p>
          <a:p>
            <a:r>
              <a:t>Risk score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OCR</a:t>
            </a:r>
          </a:p>
          <a:p>
            <a:r>
              <a:t>De-ID</a:t>
            </a:r>
          </a:p>
          <a:p>
            <a:r>
              <a:t>LLM</a:t>
            </a:r>
          </a:p>
          <a:p>
            <a:r>
              <a:t>Validation</a:t>
            </a:r>
          </a:p>
          <a:p>
            <a:r>
              <a:t>RAG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evaluation</a:t>
            </a:r>
          </a:p>
          <a:p>
            <a:r>
              <a:t>Prompt optimization</a:t>
            </a:r>
          </a:p>
          <a:p>
            <a:r>
              <a:t>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