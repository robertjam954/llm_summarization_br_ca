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4.xml" ContentType="application/vnd.openxmlformats-officedocument.presentationml.notesSlide+xml"/>
  <Override PartName="/ppt/charts/chart5.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handoutMasterIdLst>
    <p:handoutMasterId r:id="rId21"/>
  </p:handoutMasterIdLst>
  <p:sldIdLst>
    <p:sldId id="454" r:id="rId2"/>
    <p:sldId id="439" r:id="rId3"/>
    <p:sldId id="455" r:id="rId4"/>
    <p:sldId id="456" r:id="rId5"/>
    <p:sldId id="457" r:id="rId6"/>
    <p:sldId id="458" r:id="rId7"/>
    <p:sldId id="491" r:id="rId8"/>
    <p:sldId id="492" r:id="rId9"/>
    <p:sldId id="460" r:id="rId10"/>
    <p:sldId id="504" r:id="rId11"/>
    <p:sldId id="496" r:id="rId12"/>
    <p:sldId id="498" r:id="rId13"/>
    <p:sldId id="495" r:id="rId14"/>
    <p:sldId id="508" r:id="rId15"/>
    <p:sldId id="466" r:id="rId16"/>
    <p:sldId id="469" r:id="rId17"/>
    <p:sldId id="467" r:id="rId18"/>
    <p:sldId id="468" r:id="rId19"/>
  </p:sldIdLst>
  <p:sldSz cx="9144000" cy="5143500" type="screen16x9"/>
  <p:notesSz cx="7026275" cy="93122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D1689A-4C89-2578-3B4B-E89A834151D6}" name="Nancy Raider" initials="NR" userId="S::nar4015@med.cornell.edu::d49d8a2c-e8e6-46d3-9c26-d4f35563bb5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5555"/>
    <a:srgbClr val="343433"/>
    <a:srgbClr val="B31B1B"/>
    <a:srgbClr val="E87722"/>
    <a:srgbClr val="000000"/>
    <a:srgbClr val="CF4520"/>
    <a:srgbClr val="A20815"/>
    <a:srgbClr val="636463"/>
    <a:srgbClr val="F47A22"/>
    <a:srgbClr val="A21E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1126B3-1379-4587-852D-F9A97210D511}" v="83" dt="2026-05-29T21:05:41.4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9863" autoAdjust="0"/>
  </p:normalViewPr>
  <p:slideViewPr>
    <p:cSldViewPr snapToGrid="0">
      <p:cViewPr varScale="1">
        <p:scale>
          <a:sx n="98" d="100"/>
          <a:sy n="98" d="100"/>
        </p:scale>
        <p:origin x="2584" y="168"/>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8/10/relationships/authors" Target="author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title>
      <c:tx>
        <c:rich>
          <a:bodyPr/>
          <a:lstStyle/>
          <a:p>
            <a:pPr>
              <a:defRPr sz="1600" b="1"/>
            </a:pPr>
            <a:r>
              <a:rPr lang="en-US" sz="1600" b="1"/>
              <a:t>Accuracy by Feature for Preoperative Summaries</a:t>
            </a:r>
          </a:p>
        </c:rich>
      </c:tx>
      <c:overlay val="0"/>
    </c:title>
    <c:autoTitleDeleted val="0"/>
    <c:plotArea>
      <c:layout/>
      <c:barChart>
        <c:barDir val="col"/>
        <c:grouping val="clustered"/>
        <c:varyColors val="0"/>
        <c:ser>
          <c:idx val="0"/>
          <c:order val="0"/>
          <c:tx>
            <c:v>Human</c:v>
          </c:tx>
          <c:spPr>
            <a:solidFill>
              <a:srgbClr val="1F5FA8"/>
            </a:solidFill>
            <a:ln>
              <a:noFill/>
            </a:ln>
          </c:spPr>
          <c:invertIfNegative val="1"/>
          <c:dLbls>
            <c:dLbl>
              <c:idx val="5"/>
              <c:tx>
                <c:rich>
                  <a:bodyPr/>
                  <a:lstStyle/>
                  <a:p>
                    <a:r>
                      <a:rPr lang="en-US" sz="1600" b="1">
                        <a:solidFill>
                          <a:srgbClr val="B31B1B"/>
                        </a:solidFill>
                      </a:rPr>
                      <a:t>★</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D6A-7545-BE6F-A39DF45B3575}"/>
                </c:ext>
              </c:extLst>
            </c:dLbl>
            <c:dLbl>
              <c:idx val="6"/>
              <c:tx>
                <c:rich>
                  <a:bodyPr/>
                  <a:lstStyle/>
                  <a:p>
                    <a:r>
                      <a:rPr lang="en-US" sz="1600" b="1">
                        <a:solidFill>
                          <a:srgbClr val="B31B1B"/>
                        </a:solidFill>
                      </a:rPr>
                      <a:t>★</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D6A-7545-BE6F-A39DF45B3575}"/>
                </c:ext>
              </c:extLst>
            </c:dLbl>
            <c:dLbl>
              <c:idx val="7"/>
              <c:tx>
                <c:rich>
                  <a:bodyPr/>
                  <a:lstStyle/>
                  <a:p>
                    <a:r>
                      <a:rPr lang="en-US" sz="1600" b="1">
                        <a:solidFill>
                          <a:srgbClr val="B31B1B"/>
                        </a:solidFill>
                      </a:rPr>
                      <a:t>★</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6D6A-7545-BE6F-A39DF45B3575}"/>
                </c:ext>
              </c:extLst>
            </c:dLbl>
            <c:dLbl>
              <c:idx val="8"/>
              <c:tx>
                <c:rich>
                  <a:bodyPr/>
                  <a:lstStyle/>
                  <a:p>
                    <a:r>
                      <a:rPr lang="en-US" sz="1600" b="1">
                        <a:solidFill>
                          <a:srgbClr val="B31B1B"/>
                        </a:solidFill>
                      </a:rPr>
                      <a:t>★</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D6A-7545-BE6F-A39DF45B3575}"/>
                </c:ext>
              </c:extLst>
            </c:dLbl>
            <c:dLbl>
              <c:idx val="10"/>
              <c:tx>
                <c:rich>
                  <a:bodyPr/>
                  <a:lstStyle/>
                  <a:p>
                    <a:r>
                      <a:rPr lang="en-US" sz="1600" b="1">
                        <a:solidFill>
                          <a:srgbClr val="B31B1B"/>
                        </a:solidFill>
                      </a:rPr>
                      <a:t>★</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D6A-7545-BE6F-A39DF45B3575}"/>
                </c:ext>
              </c:extLst>
            </c:dLbl>
            <c:dLbl>
              <c:idx val="11"/>
              <c:tx>
                <c:rich>
                  <a:bodyPr/>
                  <a:lstStyle/>
                  <a:p>
                    <a:r>
                      <a:rPr lang="en-US" sz="1600" b="1">
                        <a:solidFill>
                          <a:srgbClr val="B31B1B"/>
                        </a:solidFill>
                      </a:rPr>
                      <a:t>★</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6D6A-7545-BE6F-A39DF45B3575}"/>
                </c:ext>
              </c:extLst>
            </c:dLbl>
            <c:dLbl>
              <c:idx val="13"/>
              <c:tx>
                <c:rich>
                  <a:bodyPr/>
                  <a:lstStyle/>
                  <a:p>
                    <a:r>
                      <a:rPr lang="en-US" sz="1600" b="1">
                        <a:solidFill>
                          <a:srgbClr val="B31B1B"/>
                        </a:solidFill>
                      </a:rPr>
                      <a:t>★</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6D6A-7545-BE6F-A39DF45B3575}"/>
                </c:ext>
              </c:extLst>
            </c:dLbl>
            <c:spPr>
              <a:noFill/>
              <a:ln>
                <a:noFill/>
              </a:ln>
              <a:effectLst/>
            </c:spPr>
            <c:txPr>
              <a:bodyPr/>
              <a:lstStyle/>
              <a:p>
                <a:pPr>
                  <a:defRPr sz="1400"/>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errBars>
            <c:errBarType val="both"/>
            <c:errValType val="cust"/>
            <c:noEndCap val="0"/>
            <c:plus>
              <c:numRef>
                <c:f>plus</c:f>
                <c:numCache>
                  <c:formatCode>General</c:formatCode>
                  <c:ptCount val="14"/>
                  <c:pt idx="0">
                    <c:v>2</c:v>
                  </c:pt>
                  <c:pt idx="1">
                    <c:v>2</c:v>
                  </c:pt>
                  <c:pt idx="2">
                    <c:v>0</c:v>
                  </c:pt>
                  <c:pt idx="3">
                    <c:v>3</c:v>
                  </c:pt>
                  <c:pt idx="4">
                    <c:v>7</c:v>
                  </c:pt>
                  <c:pt idx="5">
                    <c:v>6</c:v>
                  </c:pt>
                  <c:pt idx="6">
                    <c:v>6</c:v>
                  </c:pt>
                  <c:pt idx="7">
                    <c:v>3</c:v>
                  </c:pt>
                  <c:pt idx="8">
                    <c:v>5</c:v>
                  </c:pt>
                  <c:pt idx="9">
                    <c:v>1</c:v>
                  </c:pt>
                  <c:pt idx="10">
                    <c:v>8</c:v>
                  </c:pt>
                  <c:pt idx="11">
                    <c:v>2</c:v>
                  </c:pt>
                  <c:pt idx="12">
                    <c:v>2</c:v>
                  </c:pt>
                  <c:pt idx="13">
                    <c:v>5</c:v>
                  </c:pt>
                </c:numCache>
              </c:numRef>
            </c:plus>
            <c:minus>
              <c:numRef>
                <c:f>minus</c:f>
                <c:numCache>
                  <c:formatCode>General</c:formatCode>
                  <c:ptCount val="14"/>
                  <c:pt idx="0">
                    <c:v>4</c:v>
                  </c:pt>
                  <c:pt idx="1">
                    <c:v>3</c:v>
                  </c:pt>
                  <c:pt idx="2">
                    <c:v>3</c:v>
                  </c:pt>
                  <c:pt idx="3">
                    <c:v>7</c:v>
                  </c:pt>
                  <c:pt idx="4">
                    <c:v>12</c:v>
                  </c:pt>
                  <c:pt idx="5">
                    <c:v>10</c:v>
                  </c:pt>
                  <c:pt idx="6">
                    <c:v>8</c:v>
                  </c:pt>
                  <c:pt idx="7">
                    <c:v>5</c:v>
                  </c:pt>
                  <c:pt idx="8">
                    <c:v>6</c:v>
                  </c:pt>
                  <c:pt idx="9">
                    <c:v>3</c:v>
                  </c:pt>
                  <c:pt idx="10">
                    <c:v>7</c:v>
                  </c:pt>
                  <c:pt idx="11">
                    <c:v>4</c:v>
                  </c:pt>
                  <c:pt idx="12">
                    <c:v>3</c:v>
                  </c:pt>
                  <c:pt idx="13">
                    <c:v>7</c:v>
                  </c:pt>
                </c:numCache>
              </c:numRef>
            </c:minus>
            <c:spPr>
              <a:ln w="9525">
                <a:solidFill>
                  <a:srgbClr val="404040"/>
                </a:solidFill>
              </a:ln>
            </c:spPr>
          </c:errBars>
          <c:cat>
            <c:strLit>
              <c:ptCount val="14"/>
              <c:pt idx="0">
                <c:v>Lesion size</c:v>
              </c:pt>
              <c:pt idx="1">
                <c:v>Lesion location</c:v>
              </c:pt>
              <c:pt idx="2">
                <c:v>Laterality</c:v>
              </c:pt>
              <c:pt idx="3">
                <c:v>Calcifications</c:v>
              </c:pt>
              <c:pt idx="4">
                <c:v>MRI enhancement</c:v>
              </c:pt>
              <c:pt idx="5">
                <c:v>Extent enhancement</c:v>
              </c:pt>
              <c:pt idx="6">
                <c:v>Lymph node status</c:v>
              </c:pt>
              <c:pt idx="7">
                <c:v>Biopsy method</c:v>
              </c:pt>
              <c:pt idx="8">
                <c:v>Clip placement</c:v>
              </c:pt>
              <c:pt idx="9">
                <c:v>Histology</c:v>
              </c:pt>
              <c:pt idx="10">
                <c:v>Invasive component</c:v>
              </c:pt>
              <c:pt idx="11">
                <c:v>Receptor status</c:v>
              </c:pt>
              <c:pt idx="12">
                <c:v>Preserved chronology</c:v>
              </c:pt>
              <c:pt idx="13">
                <c:v>Workup recs</c:v>
              </c:pt>
            </c:strLit>
          </c:cat>
          <c:val>
            <c:numLit>
              <c:formatCode>0</c:formatCode>
              <c:ptCount val="14"/>
              <c:pt idx="0">
                <c:v>96</c:v>
              </c:pt>
              <c:pt idx="1">
                <c:v>98</c:v>
              </c:pt>
              <c:pt idx="2">
                <c:v>100</c:v>
              </c:pt>
              <c:pt idx="3">
                <c:v>94</c:v>
              </c:pt>
              <c:pt idx="4">
                <c:v>86</c:v>
              </c:pt>
              <c:pt idx="5">
                <c:v>87</c:v>
              </c:pt>
              <c:pt idx="6">
                <c:v>72</c:v>
              </c:pt>
              <c:pt idx="7">
                <c:v>93</c:v>
              </c:pt>
              <c:pt idx="8">
                <c:v>86</c:v>
              </c:pt>
              <c:pt idx="9">
                <c:v>98</c:v>
              </c:pt>
              <c:pt idx="10">
                <c:v>30</c:v>
              </c:pt>
              <c:pt idx="11">
                <c:v>96</c:v>
              </c:pt>
              <c:pt idx="12">
                <c:v>97</c:v>
              </c:pt>
              <c:pt idx="13">
                <c:v>83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6D6A-7545-BE6F-A39DF45B3575}"/>
            </c:ext>
          </c:extLst>
        </c:ser>
        <c:ser>
          <c:idx val="1"/>
          <c:order val="1"/>
          <c:tx>
            <c:v>AI</c:v>
          </c:tx>
          <c:spPr>
            <a:pattFill prst="ltUpDiag">
              <a:fgClr>
                <a:srgbClr val="E87722"/>
              </a:fgClr>
              <a:bgClr>
                <a:srgbClr val="FFFFFF"/>
              </a:bgClr>
            </a:pattFill>
            <a:ln w="9525">
              <a:solidFill>
                <a:srgbClr val="E87722"/>
              </a:solidFill>
            </a:ln>
          </c:spPr>
          <c:invertIfNegative val="1"/>
          <c:errBars>
            <c:errBarType val="both"/>
            <c:errValType val="cust"/>
            <c:noEndCap val="0"/>
            <c:plus>
              <c:numRef>
                <c:f>plus</c:f>
                <c:numCache>
                  <c:formatCode>General</c:formatCode>
                  <c:ptCount val="14"/>
                  <c:pt idx="0">
                    <c:v>3</c:v>
                  </c:pt>
                  <c:pt idx="1">
                    <c:v>1</c:v>
                  </c:pt>
                  <c:pt idx="2">
                    <c:v>0</c:v>
                  </c:pt>
                  <c:pt idx="3">
                    <c:v>1</c:v>
                  </c:pt>
                  <c:pt idx="4">
                    <c:v>3</c:v>
                  </c:pt>
                  <c:pt idx="5">
                    <c:v>3</c:v>
                  </c:pt>
                  <c:pt idx="6">
                    <c:v>3</c:v>
                  </c:pt>
                  <c:pt idx="7">
                    <c:v>1</c:v>
                  </c:pt>
                  <c:pt idx="8">
                    <c:v>2</c:v>
                  </c:pt>
                  <c:pt idx="9">
                    <c:v>1</c:v>
                  </c:pt>
                  <c:pt idx="10">
                    <c:v>3</c:v>
                  </c:pt>
                  <c:pt idx="11">
                    <c:v>4</c:v>
                  </c:pt>
                  <c:pt idx="12">
                    <c:v>1</c:v>
                  </c:pt>
                  <c:pt idx="13">
                    <c:v>3</c:v>
                  </c:pt>
                </c:numCache>
              </c:numRef>
            </c:plus>
            <c:minus>
              <c:numRef>
                <c:f>minus</c:f>
                <c:numCache>
                  <c:formatCode>General</c:formatCode>
                  <c:ptCount val="14"/>
                  <c:pt idx="0">
                    <c:v>4</c:v>
                  </c:pt>
                  <c:pt idx="1">
                    <c:v>3</c:v>
                  </c:pt>
                  <c:pt idx="2">
                    <c:v>3</c:v>
                  </c:pt>
                  <c:pt idx="3">
                    <c:v>5</c:v>
                  </c:pt>
                  <c:pt idx="4">
                    <c:v>9</c:v>
                  </c:pt>
                  <c:pt idx="5">
                    <c:v>8</c:v>
                  </c:pt>
                  <c:pt idx="6">
                    <c:v>5</c:v>
                  </c:pt>
                  <c:pt idx="7">
                    <c:v>2</c:v>
                  </c:pt>
                  <c:pt idx="8">
                    <c:v>4</c:v>
                  </c:pt>
                  <c:pt idx="9">
                    <c:v>4</c:v>
                  </c:pt>
                  <c:pt idx="10">
                    <c:v>6</c:v>
                  </c:pt>
                  <c:pt idx="11">
                    <c:v>6</c:v>
                  </c:pt>
                  <c:pt idx="12">
                    <c:v>3</c:v>
                  </c:pt>
                  <c:pt idx="13">
                    <c:v>6</c:v>
                  </c:pt>
                </c:numCache>
              </c:numRef>
            </c:minus>
            <c:spPr>
              <a:ln w="9525">
                <a:solidFill>
                  <a:srgbClr val="404040"/>
                </a:solidFill>
              </a:ln>
            </c:spPr>
          </c:errBars>
          <c:cat>
            <c:strLit>
              <c:ptCount val="14"/>
              <c:pt idx="0">
                <c:v>Lesion size</c:v>
              </c:pt>
              <c:pt idx="1">
                <c:v>Lesion location</c:v>
              </c:pt>
              <c:pt idx="2">
                <c:v>Laterality</c:v>
              </c:pt>
              <c:pt idx="3">
                <c:v>Calcifications</c:v>
              </c:pt>
              <c:pt idx="4">
                <c:v>MRI enhancement</c:v>
              </c:pt>
              <c:pt idx="5">
                <c:v>Extent enhancement</c:v>
              </c:pt>
              <c:pt idx="6">
                <c:v>Lymph node status</c:v>
              </c:pt>
              <c:pt idx="7">
                <c:v>Biopsy method</c:v>
              </c:pt>
              <c:pt idx="8">
                <c:v>Clip placement</c:v>
              </c:pt>
              <c:pt idx="9">
                <c:v>Histology</c:v>
              </c:pt>
              <c:pt idx="10">
                <c:v>Invasive component</c:v>
              </c:pt>
              <c:pt idx="11">
                <c:v>Receptor status</c:v>
              </c:pt>
              <c:pt idx="12">
                <c:v>Preserved chronology</c:v>
              </c:pt>
              <c:pt idx="13">
                <c:v>Workup recs</c:v>
              </c:pt>
            </c:strLit>
          </c:cat>
          <c:val>
            <c:numLit>
              <c:formatCode>0</c:formatCode>
              <c:ptCount val="14"/>
              <c:pt idx="0">
                <c:v>95</c:v>
              </c:pt>
              <c:pt idx="1">
                <c:v>98</c:v>
              </c:pt>
              <c:pt idx="2">
                <c:v>100</c:v>
              </c:pt>
              <c:pt idx="3">
                <c:v>98</c:v>
              </c:pt>
              <c:pt idx="4">
                <c:v>96</c:v>
              </c:pt>
              <c:pt idx="5">
                <c:v>96</c:v>
              </c:pt>
              <c:pt idx="6">
                <c:v>95</c:v>
              </c:pt>
              <c:pt idx="7">
                <c:v>99</c:v>
              </c:pt>
              <c:pt idx="8">
                <c:v>97</c:v>
              </c:pt>
              <c:pt idx="9">
                <c:v>98</c:v>
              </c:pt>
              <c:pt idx="10">
                <c:v>94</c:v>
              </c:pt>
              <c:pt idx="11">
                <c:v>86</c:v>
              </c:pt>
              <c:pt idx="12">
                <c:v>99</c:v>
              </c:pt>
              <c:pt idx="13">
                <c:v>92</c:v>
              </c:pt>
            </c:numLit>
          </c:val>
          <c:extLst>
            <c:ext xmlns:c16="http://schemas.microsoft.com/office/drawing/2014/chart" uri="{C3380CC4-5D6E-409C-BE32-E72D297353CC}">
              <c16:uniqueId val="{00000008-6D6A-7545-BE6F-A39DF45B3575}"/>
            </c:ext>
          </c:extLst>
        </c:ser>
        <c:dLbls>
          <c:showLegendKey val="0"/>
          <c:showVal val="0"/>
          <c:showCatName val="0"/>
          <c:showSerName val="0"/>
          <c:showPercent val="0"/>
          <c:showBubbleSize val="0"/>
        </c:dLbls>
        <c:gapWidth val="80"/>
        <c:overlap val="-20"/>
        <c:axId val="1"/>
        <c:axId val="2"/>
      </c:barChart>
      <c:catAx>
        <c:axId val="1"/>
        <c:scaling>
          <c:orientation val="minMax"/>
        </c:scaling>
        <c:delete val="0"/>
        <c:axPos val="b"/>
        <c:numFmt formatCode="General" sourceLinked="0"/>
        <c:majorTickMark val="none"/>
        <c:minorTickMark val="none"/>
        <c:tickLblPos val="nextTo"/>
        <c:txPr>
          <a:bodyPr rot="-2700000" vert="horz"/>
          <a:lstStyle/>
          <a:p>
            <a:pPr>
              <a:defRPr sz="1400"/>
            </a:pPr>
            <a:endParaRPr lang="en-US"/>
          </a:p>
        </c:txPr>
        <c:crossAx val="2"/>
        <c:crosses val="autoZero"/>
        <c:auto val="1"/>
        <c:lblAlgn val="ctr"/>
        <c:lblOffset val="100"/>
        <c:noMultiLvlLbl val="1"/>
      </c:catAx>
      <c:valAx>
        <c:axId val="2"/>
        <c:scaling>
          <c:orientation val="minMax"/>
          <c:max val="115"/>
          <c:min val="0"/>
        </c:scaling>
        <c:delete val="0"/>
        <c:axPos val="l"/>
        <c:majorGridlines>
          <c:spPr>
            <a:ln w="9525">
              <a:solidFill>
                <a:srgbClr val="D9D9D9"/>
              </a:solidFill>
            </a:ln>
          </c:spPr>
        </c:majorGridlines>
        <c:title>
          <c:tx>
            <c:rich>
              <a:bodyPr rot="-5400000" vert="horz"/>
              <a:lstStyle/>
              <a:p>
                <a:pPr>
                  <a:defRPr sz="1400" b="1"/>
                </a:pPr>
                <a:r>
                  <a:rPr lang="en-US" sz="1400" b="1"/>
                  <a:t>Accuracy (%)</a:t>
                </a:r>
              </a:p>
            </c:rich>
          </c:tx>
          <c:overlay val="0"/>
        </c:title>
        <c:numFmt formatCode="0" sourceLinked="1"/>
        <c:majorTickMark val="out"/>
        <c:minorTickMark val="none"/>
        <c:tickLblPos val="nextTo"/>
        <c:txPr>
          <a:bodyPr/>
          <a:lstStyle/>
          <a:p>
            <a:pPr>
              <a:defRPr sz="1400"/>
            </a:pPr>
            <a:endParaRPr lang="en-US"/>
          </a:p>
        </c:txPr>
        <c:crossAx val="1"/>
        <c:crosses val="autoZero"/>
        <c:crossBetween val="between"/>
      </c:valAx>
    </c:plotArea>
    <c:legend>
      <c:legendPos val="t"/>
      <c:layout>
        <c:manualLayout>
          <c:xMode val="edge"/>
          <c:yMode val="edge"/>
          <c:x val="0.42980375716924274"/>
          <c:y val="9.0680473372781067E-2"/>
          <c:w val="0.13730606590842812"/>
          <c:h val="5.6999953408190841E-2"/>
        </c:manualLayout>
      </c:layout>
      <c:overlay val="0"/>
      <c:txPr>
        <a:bodyPr/>
        <a:lstStyle/>
        <a:p>
          <a:pPr>
            <a:defRPr sz="1400"/>
          </a:pPr>
          <a:endParaRPr lang="en-US"/>
        </a:p>
      </c:txPr>
    </c:legend>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title>
      <c:tx>
        <c:rich>
          <a:bodyPr/>
          <a:lstStyle/>
          <a:p>
            <a:pPr>
              <a:defRPr sz="1600" b="1"/>
            </a:pPr>
            <a:r>
              <a:rPr lang="en-US" sz="1600" b="1" dirty="0"/>
              <a:t>Omission Rate by Feature for Preoperative Summaries</a:t>
            </a:r>
          </a:p>
        </c:rich>
      </c:tx>
      <c:overlay val="0"/>
    </c:title>
    <c:autoTitleDeleted val="0"/>
    <c:plotArea>
      <c:layout/>
      <c:barChart>
        <c:barDir val="col"/>
        <c:grouping val="clustered"/>
        <c:varyColors val="0"/>
        <c:ser>
          <c:idx val="0"/>
          <c:order val="0"/>
          <c:tx>
            <c:v>Human</c:v>
          </c:tx>
          <c:spPr>
            <a:solidFill>
              <a:srgbClr val="1F5FA8"/>
            </a:solidFill>
            <a:ln>
              <a:noFill/>
            </a:ln>
          </c:spPr>
          <c:invertIfNegative val="1"/>
          <c:errBars>
            <c:errBarType val="both"/>
            <c:errValType val="cust"/>
            <c:noEndCap val="0"/>
            <c:plus>
              <c:numRef>
                <c:f>p</c:f>
                <c:numCache>
                  <c:formatCode>General</c:formatCode>
                  <c:ptCount val="14"/>
                  <c:pt idx="0">
                    <c:v>3.6</c:v>
                  </c:pt>
                  <c:pt idx="1">
                    <c:v>3.2</c:v>
                  </c:pt>
                  <c:pt idx="2">
                    <c:v>2.7</c:v>
                  </c:pt>
                  <c:pt idx="3">
                    <c:v>5.7</c:v>
                  </c:pt>
                  <c:pt idx="4">
                    <c:v>12</c:v>
                  </c:pt>
                  <c:pt idx="5">
                    <c:v>9</c:v>
                  </c:pt>
                  <c:pt idx="6">
                    <c:v>8</c:v>
                  </c:pt>
                  <c:pt idx="7">
                    <c:v>4.5</c:v>
                  </c:pt>
                  <c:pt idx="8">
                    <c:v>6</c:v>
                  </c:pt>
                  <c:pt idx="9">
                    <c:v>3.4000000000000004</c:v>
                  </c:pt>
                  <c:pt idx="10">
                    <c:v>7</c:v>
                  </c:pt>
                  <c:pt idx="11">
                    <c:v>4.0999999999999996</c:v>
                  </c:pt>
                  <c:pt idx="12">
                    <c:v>3.4000000000000004</c:v>
                  </c:pt>
                  <c:pt idx="13">
                    <c:v>7</c:v>
                  </c:pt>
                </c:numCache>
              </c:numRef>
            </c:plus>
            <c:minus>
              <c:numRef>
                <c:f>m</c:f>
                <c:numCache>
                  <c:formatCode>General</c:formatCode>
                  <c:ptCount val="14"/>
                  <c:pt idx="0">
                    <c:v>1.6600000000000001</c:v>
                  </c:pt>
                  <c:pt idx="1">
                    <c:v>1.1099999999999999</c:v>
                  </c:pt>
                  <c:pt idx="2">
                    <c:v>0.47</c:v>
                  </c:pt>
                  <c:pt idx="3">
                    <c:v>3.3</c:v>
                  </c:pt>
                  <c:pt idx="4">
                    <c:v>7.3</c:v>
                  </c:pt>
                  <c:pt idx="5">
                    <c:v>5.4</c:v>
                  </c:pt>
                  <c:pt idx="6">
                    <c:v>6</c:v>
                  </c:pt>
                  <c:pt idx="7">
                    <c:v>2.8</c:v>
                  </c:pt>
                  <c:pt idx="8">
                    <c:v>4.6999999999999993</c:v>
                  </c:pt>
                  <c:pt idx="9">
                    <c:v>1.3599999999999999</c:v>
                  </c:pt>
                  <c:pt idx="10">
                    <c:v>8</c:v>
                  </c:pt>
                  <c:pt idx="11">
                    <c:v>1.9000000000000001</c:v>
                  </c:pt>
                  <c:pt idx="12">
                    <c:v>1.35</c:v>
                  </c:pt>
                  <c:pt idx="13">
                    <c:v>5</c:v>
                  </c:pt>
                </c:numCache>
              </c:numRef>
            </c:minus>
            <c:spPr>
              <a:ln w="9525">
                <a:solidFill>
                  <a:srgbClr val="404040"/>
                </a:solidFill>
              </a:ln>
            </c:spPr>
          </c:errBars>
          <c:cat>
            <c:strLit>
              <c:ptCount val="14"/>
              <c:pt idx="0">
                <c:v>Lesion size</c:v>
              </c:pt>
              <c:pt idx="1">
                <c:v>Lesion location</c:v>
              </c:pt>
              <c:pt idx="2">
                <c:v>Laterality</c:v>
              </c:pt>
              <c:pt idx="3">
                <c:v>Calcifications</c:v>
              </c:pt>
              <c:pt idx="4">
                <c:v>MRI enhancement</c:v>
              </c:pt>
              <c:pt idx="5">
                <c:v>Extent enhancement</c:v>
              </c:pt>
              <c:pt idx="6">
                <c:v>Lymph node status</c:v>
              </c:pt>
              <c:pt idx="7">
                <c:v>Biopsy method</c:v>
              </c:pt>
              <c:pt idx="8">
                <c:v>Clip placement</c:v>
              </c:pt>
              <c:pt idx="9">
                <c:v>Histology</c:v>
              </c:pt>
              <c:pt idx="10">
                <c:v>Invasive component</c:v>
              </c:pt>
              <c:pt idx="11">
                <c:v>Receptor status</c:v>
              </c:pt>
              <c:pt idx="12">
                <c:v>Preserved chronology</c:v>
              </c:pt>
              <c:pt idx="13">
                <c:v>Workup recs</c:v>
              </c:pt>
            </c:strLit>
          </c:cat>
          <c:val>
            <c:numLit>
              <c:formatCode>0.0</c:formatCode>
              <c:ptCount val="14"/>
              <c:pt idx="0">
                <c:v>2.6</c:v>
              </c:pt>
              <c:pt idx="1">
                <c:v>1.5</c:v>
              </c:pt>
              <c:pt idx="2">
                <c:v>0.5</c:v>
              </c:pt>
              <c:pt idx="3">
                <c:v>6.3</c:v>
              </c:pt>
              <c:pt idx="4">
                <c:v>14</c:v>
              </c:pt>
              <c:pt idx="5">
                <c:v>12</c:v>
              </c:pt>
              <c:pt idx="6">
                <c:v>28</c:v>
              </c:pt>
              <c:pt idx="7">
                <c:v>6.5</c:v>
              </c:pt>
              <c:pt idx="8">
                <c:v>14</c:v>
              </c:pt>
              <c:pt idx="9">
                <c:v>2</c:v>
              </c:pt>
              <c:pt idx="10">
                <c:v>70</c:v>
              </c:pt>
              <c:pt idx="11">
                <c:v>3.2</c:v>
              </c:pt>
              <c:pt idx="12">
                <c:v>2</c:v>
              </c:pt>
              <c:pt idx="13">
                <c:v>17</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B53-E341-BC3F-066B61D17C0F}"/>
            </c:ext>
          </c:extLst>
        </c:ser>
        <c:ser>
          <c:idx val="1"/>
          <c:order val="1"/>
          <c:tx>
            <c:v>AI</c:v>
          </c:tx>
          <c:spPr>
            <a:pattFill prst="ltUpDiag">
              <a:fgClr>
                <a:srgbClr val="E87722"/>
              </a:fgClr>
              <a:bgClr>
                <a:srgbClr val="FFFFFF"/>
              </a:bgClr>
            </a:pattFill>
            <a:ln w="9525">
              <a:solidFill>
                <a:srgbClr val="E87722"/>
              </a:solidFill>
            </a:ln>
          </c:spPr>
          <c:invertIfNegative val="1"/>
          <c:errBars>
            <c:errBarType val="both"/>
            <c:errValType val="cust"/>
            <c:noEndCap val="0"/>
            <c:plus>
              <c:numRef>
                <c:f>p</c:f>
                <c:numCache>
                  <c:formatCode>General</c:formatCode>
                  <c:ptCount val="14"/>
                  <c:pt idx="0">
                    <c:v>3.6</c:v>
                  </c:pt>
                  <c:pt idx="1">
                    <c:v>3.4000000000000004</c:v>
                  </c:pt>
                  <c:pt idx="2">
                    <c:v>2.7</c:v>
                  </c:pt>
                  <c:pt idx="3">
                    <c:v>4.9000000000000004</c:v>
                  </c:pt>
                  <c:pt idx="4">
                    <c:v>9.5</c:v>
                  </c:pt>
                  <c:pt idx="5">
                    <c:v>6.6</c:v>
                  </c:pt>
                  <c:pt idx="6">
                    <c:v>4.9000000000000004</c:v>
                  </c:pt>
                  <c:pt idx="7">
                    <c:v>0.01</c:v>
                  </c:pt>
                  <c:pt idx="8">
                    <c:v>3.9000000000000004</c:v>
                  </c:pt>
                  <c:pt idx="9">
                    <c:v>3.4000000000000004</c:v>
                  </c:pt>
                  <c:pt idx="10">
                    <c:v>5.2</c:v>
                  </c:pt>
                  <c:pt idx="11">
                    <c:v>6</c:v>
                  </c:pt>
                  <c:pt idx="12">
                    <c:v>2.7</c:v>
                  </c:pt>
                  <c:pt idx="13">
                    <c:v>5.2</c:v>
                  </c:pt>
                </c:numCache>
              </c:numRef>
            </c:plus>
            <c:minus>
              <c:numRef>
                <c:f>m</c:f>
                <c:numCache>
                  <c:formatCode>General</c:formatCode>
                  <c:ptCount val="14"/>
                  <c:pt idx="0">
                    <c:v>1.6600000000000001</c:v>
                  </c:pt>
                  <c:pt idx="1">
                    <c:v>1.35</c:v>
                  </c:pt>
                  <c:pt idx="2">
                    <c:v>0.47</c:v>
                  </c:pt>
                  <c:pt idx="3">
                    <c:v>1.79</c:v>
                  </c:pt>
                  <c:pt idx="4">
                    <c:v>2.89</c:v>
                  </c:pt>
                  <c:pt idx="5">
                    <c:v>2.5299999999999998</c:v>
                  </c:pt>
                  <c:pt idx="6">
                    <c:v>2.6000000000000005</c:v>
                  </c:pt>
                  <c:pt idx="7">
                    <c:v>0</c:v>
                  </c:pt>
                  <c:pt idx="8">
                    <c:v>1.7999999999999998</c:v>
                  </c:pt>
                  <c:pt idx="9">
                    <c:v>1.3599999999999999</c:v>
                  </c:pt>
                  <c:pt idx="10">
                    <c:v>2.6999999999999997</c:v>
                  </c:pt>
                  <c:pt idx="11">
                    <c:v>4.3000000000000007</c:v>
                  </c:pt>
                  <c:pt idx="12">
                    <c:v>0.47</c:v>
                  </c:pt>
                  <c:pt idx="13">
                    <c:v>3.1999999999999997</c:v>
                  </c:pt>
                </c:numCache>
              </c:numRef>
            </c:minus>
            <c:spPr>
              <a:ln w="9525">
                <a:solidFill>
                  <a:srgbClr val="404040"/>
                </a:solidFill>
              </a:ln>
            </c:spPr>
          </c:errBars>
          <c:cat>
            <c:strLit>
              <c:ptCount val="14"/>
              <c:pt idx="0">
                <c:v>Lesion size</c:v>
              </c:pt>
              <c:pt idx="1">
                <c:v>Lesion location</c:v>
              </c:pt>
              <c:pt idx="2">
                <c:v>Laterality</c:v>
              </c:pt>
              <c:pt idx="3">
                <c:v>Calcifications</c:v>
              </c:pt>
              <c:pt idx="4">
                <c:v>MRI enhancement</c:v>
              </c:pt>
              <c:pt idx="5">
                <c:v>Extent enhancement</c:v>
              </c:pt>
              <c:pt idx="6">
                <c:v>Lymph node status</c:v>
              </c:pt>
              <c:pt idx="7">
                <c:v>Biopsy method</c:v>
              </c:pt>
              <c:pt idx="8">
                <c:v>Clip placement</c:v>
              </c:pt>
              <c:pt idx="9">
                <c:v>Histology</c:v>
              </c:pt>
              <c:pt idx="10">
                <c:v>Invasive component</c:v>
              </c:pt>
              <c:pt idx="11">
                <c:v>Receptor status</c:v>
              </c:pt>
              <c:pt idx="12">
                <c:v>Preserved chronology</c:v>
              </c:pt>
              <c:pt idx="13">
                <c:v>Workup recs</c:v>
              </c:pt>
            </c:strLit>
          </c:cat>
          <c:val>
            <c:numLit>
              <c:formatCode>0.0</c:formatCode>
              <c:ptCount val="14"/>
              <c:pt idx="0">
                <c:v>2.6</c:v>
              </c:pt>
              <c:pt idx="1">
                <c:v>2</c:v>
              </c:pt>
              <c:pt idx="2">
                <c:v>0.5</c:v>
              </c:pt>
              <c:pt idx="3">
                <c:v>2.4</c:v>
              </c:pt>
              <c:pt idx="4">
                <c:v>3.5</c:v>
              </c:pt>
              <c:pt idx="5">
                <c:v>3.4</c:v>
              </c:pt>
              <c:pt idx="6">
                <c:v>4.9000000000000004</c:v>
              </c:pt>
              <c:pt idx="7">
                <c:v>0</c:v>
              </c:pt>
              <c:pt idx="8">
                <c:v>2.8</c:v>
              </c:pt>
              <c:pt idx="9">
                <c:v>2</c:v>
              </c:pt>
              <c:pt idx="10">
                <c:v>4.8</c:v>
              </c:pt>
              <c:pt idx="11">
                <c:v>13</c:v>
              </c:pt>
              <c:pt idx="12">
                <c:v>0.5</c:v>
              </c:pt>
              <c:pt idx="13">
                <c:v>6.8</c:v>
              </c:pt>
            </c:numLit>
          </c:val>
          <c:extLst>
            <c:ext xmlns:c16="http://schemas.microsoft.com/office/drawing/2014/chart" uri="{C3380CC4-5D6E-409C-BE32-E72D297353CC}">
              <c16:uniqueId val="{00000001-BB53-E341-BC3F-066B61D17C0F}"/>
            </c:ext>
          </c:extLst>
        </c:ser>
        <c:dLbls>
          <c:showLegendKey val="0"/>
          <c:showVal val="0"/>
          <c:showCatName val="0"/>
          <c:showSerName val="0"/>
          <c:showPercent val="0"/>
          <c:showBubbleSize val="0"/>
        </c:dLbls>
        <c:gapWidth val="80"/>
        <c:overlap val="-20"/>
        <c:axId val="1"/>
        <c:axId val="2"/>
      </c:barChart>
      <c:catAx>
        <c:axId val="1"/>
        <c:scaling>
          <c:orientation val="minMax"/>
        </c:scaling>
        <c:delete val="0"/>
        <c:axPos val="b"/>
        <c:numFmt formatCode="General" sourceLinked="0"/>
        <c:majorTickMark val="none"/>
        <c:minorTickMark val="none"/>
        <c:tickLblPos val="nextTo"/>
        <c:txPr>
          <a:bodyPr rot="-2700000" vert="horz"/>
          <a:lstStyle/>
          <a:p>
            <a:pPr>
              <a:defRPr sz="1400"/>
            </a:pPr>
            <a:endParaRPr lang="en-US"/>
          </a:p>
        </c:txPr>
        <c:crossAx val="2"/>
        <c:crosses val="autoZero"/>
        <c:auto val="1"/>
        <c:lblAlgn val="ctr"/>
        <c:lblOffset val="100"/>
        <c:noMultiLvlLbl val="1"/>
      </c:catAx>
      <c:valAx>
        <c:axId val="2"/>
        <c:scaling>
          <c:orientation val="minMax"/>
          <c:min val="0"/>
        </c:scaling>
        <c:delete val="0"/>
        <c:axPos val="l"/>
        <c:majorGridlines>
          <c:spPr>
            <a:ln w="9525">
              <a:solidFill>
                <a:srgbClr val="D9D9D9"/>
              </a:solidFill>
            </a:ln>
          </c:spPr>
        </c:majorGridlines>
        <c:title>
          <c:tx>
            <c:rich>
              <a:bodyPr rot="-5400000" vert="horz"/>
              <a:lstStyle/>
              <a:p>
                <a:pPr>
                  <a:defRPr sz="1400" b="1"/>
                </a:pPr>
                <a:r>
                  <a:rPr lang="en-US" sz="1400" b="1"/>
                  <a:t>Omission (%)</a:t>
                </a:r>
              </a:p>
            </c:rich>
          </c:tx>
          <c:overlay val="0"/>
        </c:title>
        <c:numFmt formatCode="0.0" sourceLinked="1"/>
        <c:majorTickMark val="out"/>
        <c:minorTickMark val="none"/>
        <c:tickLblPos val="nextTo"/>
        <c:txPr>
          <a:bodyPr/>
          <a:lstStyle/>
          <a:p>
            <a:pPr>
              <a:defRPr sz="1400"/>
            </a:pPr>
            <a:endParaRPr lang="en-US"/>
          </a:p>
        </c:txPr>
        <c:crossAx val="1"/>
        <c:crosses val="autoZero"/>
        <c:crossBetween val="between"/>
      </c:valAx>
    </c:plotArea>
    <c:legend>
      <c:legendPos val="t"/>
      <c:layout>
        <c:manualLayout>
          <c:xMode val="edge"/>
          <c:yMode val="edge"/>
          <c:x val="0.43134696704578596"/>
          <c:y val="9.6191827298143476E-2"/>
          <c:w val="0.13730606590842812"/>
          <c:h val="5.615849181497292E-2"/>
        </c:manualLayout>
      </c:layout>
      <c:overlay val="0"/>
      <c:txPr>
        <a:bodyPr/>
        <a:lstStyle/>
        <a:p>
          <a:pPr>
            <a:defRPr sz="1400"/>
          </a:pPr>
          <a:endParaRPr lang="en-US"/>
        </a:p>
      </c:txPr>
    </c:legend>
    <c:plotVisOnly val="1"/>
    <c:dispBlanksAs val="zero"/>
    <c:showDLblsOverMax val="1"/>
  </c:char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title>
      <c:tx>
        <c:rich>
          <a:bodyPr/>
          <a:lstStyle/>
          <a:p>
            <a:pPr>
              <a:defRPr sz="1600" b="1"/>
            </a:pPr>
            <a:r>
              <a:rPr lang="en-US" sz="1600" b="1"/>
              <a:t>Fabrication Rate by Feature for Preoperative Summaries</a:t>
            </a:r>
          </a:p>
        </c:rich>
      </c:tx>
      <c:overlay val="0"/>
    </c:title>
    <c:autoTitleDeleted val="0"/>
    <c:plotArea>
      <c:layout/>
      <c:barChart>
        <c:barDir val="col"/>
        <c:grouping val="clustered"/>
        <c:varyColors val="0"/>
        <c:ser>
          <c:idx val="0"/>
          <c:order val="0"/>
          <c:tx>
            <c:v>Human</c:v>
          </c:tx>
          <c:spPr>
            <a:solidFill>
              <a:srgbClr val="1F5FA8"/>
            </a:solidFill>
            <a:ln>
              <a:noFill/>
            </a:ln>
          </c:spPr>
          <c:invertIfNegative val="1"/>
          <c:errBars>
            <c:errBarType val="both"/>
            <c:errValType val="cust"/>
            <c:noEndCap val="0"/>
            <c:plus>
              <c:numRef>
                <c:f>p</c:f>
                <c:numCache>
                  <c:formatCode>General</c:formatCode>
                  <c:ptCount val="14"/>
                  <c:pt idx="0">
                    <c:v>3</c:v>
                  </c:pt>
                  <c:pt idx="1">
                    <c:v>0</c:v>
                  </c:pt>
                  <c:pt idx="2">
                    <c:v>0</c:v>
                  </c:pt>
                  <c:pt idx="3">
                    <c:v>0</c:v>
                  </c:pt>
                  <c:pt idx="4">
                    <c:v>0</c:v>
                  </c:pt>
                  <c:pt idx="5">
                    <c:v>5.9</c:v>
                  </c:pt>
                  <c:pt idx="6">
                    <c:v>0</c:v>
                  </c:pt>
                  <c:pt idx="7">
                    <c:v>2.7</c:v>
                  </c:pt>
                  <c:pt idx="8">
                    <c:v>0</c:v>
                  </c:pt>
                  <c:pt idx="9">
                    <c:v>0</c:v>
                  </c:pt>
                  <c:pt idx="10">
                    <c:v>0</c:v>
                  </c:pt>
                  <c:pt idx="11">
                    <c:v>2.9</c:v>
                  </c:pt>
                  <c:pt idx="12">
                    <c:v>2.7</c:v>
                  </c:pt>
                  <c:pt idx="13">
                    <c:v>0</c:v>
                  </c:pt>
                </c:numCache>
              </c:numRef>
            </c:plus>
            <c:minus>
              <c:numRef>
                <c:f>m</c:f>
                <c:numCache>
                  <c:formatCode>General</c:formatCode>
                  <c:ptCount val="14"/>
                  <c:pt idx="0">
                    <c:v>0.82000000000000006</c:v>
                  </c:pt>
                  <c:pt idx="1">
                    <c:v>0</c:v>
                  </c:pt>
                  <c:pt idx="2">
                    <c:v>0</c:v>
                  </c:pt>
                  <c:pt idx="3">
                    <c:v>0</c:v>
                  </c:pt>
                  <c:pt idx="4">
                    <c:v>0</c:v>
                  </c:pt>
                  <c:pt idx="5">
                    <c:v>1.04</c:v>
                  </c:pt>
                  <c:pt idx="6">
                    <c:v>0</c:v>
                  </c:pt>
                  <c:pt idx="7">
                    <c:v>0.47</c:v>
                  </c:pt>
                  <c:pt idx="8">
                    <c:v>0</c:v>
                  </c:pt>
                  <c:pt idx="9">
                    <c:v>0</c:v>
                  </c:pt>
                  <c:pt idx="10">
                    <c:v>0</c:v>
                  </c:pt>
                  <c:pt idx="11">
                    <c:v>0.47</c:v>
                  </c:pt>
                  <c:pt idx="12">
                    <c:v>0.47</c:v>
                  </c:pt>
                  <c:pt idx="13">
                    <c:v>0</c:v>
                  </c:pt>
                </c:numCache>
              </c:numRef>
            </c:minus>
            <c:spPr>
              <a:ln w="9525">
                <a:solidFill>
                  <a:srgbClr val="404040"/>
                </a:solidFill>
              </a:ln>
            </c:spPr>
          </c:errBars>
          <c:cat>
            <c:strLit>
              <c:ptCount val="14"/>
              <c:pt idx="0">
                <c:v>Lesion size</c:v>
              </c:pt>
              <c:pt idx="1">
                <c:v>Lesion location</c:v>
              </c:pt>
              <c:pt idx="2">
                <c:v>Laterality</c:v>
              </c:pt>
              <c:pt idx="3">
                <c:v>Calcifications</c:v>
              </c:pt>
              <c:pt idx="4">
                <c:v>MRI enhancement</c:v>
              </c:pt>
              <c:pt idx="5">
                <c:v>Extent enhancement</c:v>
              </c:pt>
              <c:pt idx="6">
                <c:v>Lymph node status</c:v>
              </c:pt>
              <c:pt idx="7">
                <c:v>Biopsy method</c:v>
              </c:pt>
              <c:pt idx="8">
                <c:v>Clip placement</c:v>
              </c:pt>
              <c:pt idx="9">
                <c:v>Histology</c:v>
              </c:pt>
              <c:pt idx="10">
                <c:v>Invasive component</c:v>
              </c:pt>
              <c:pt idx="11">
                <c:v>Receptor status</c:v>
              </c:pt>
              <c:pt idx="12">
                <c:v>Preserved chronology</c:v>
              </c:pt>
              <c:pt idx="13">
                <c:v>Workup recs</c:v>
              </c:pt>
            </c:strLit>
          </c:cat>
          <c:val>
            <c:numLit>
              <c:formatCode>0.0</c:formatCode>
              <c:ptCount val="14"/>
              <c:pt idx="0">
                <c:v>1</c:v>
              </c:pt>
              <c:pt idx="1">
                <c:v>0</c:v>
              </c:pt>
              <c:pt idx="2">
                <c:v>0</c:v>
              </c:pt>
              <c:pt idx="3">
                <c:v>0</c:v>
              </c:pt>
              <c:pt idx="4">
                <c:v>0</c:v>
              </c:pt>
              <c:pt idx="5">
                <c:v>1.1000000000000001</c:v>
              </c:pt>
              <c:pt idx="6">
                <c:v>0</c:v>
              </c:pt>
              <c:pt idx="7">
                <c:v>0.5</c:v>
              </c:pt>
              <c:pt idx="8">
                <c:v>0</c:v>
              </c:pt>
              <c:pt idx="9">
                <c:v>0</c:v>
              </c:pt>
              <c:pt idx="10">
                <c:v>0</c:v>
              </c:pt>
              <c:pt idx="11">
                <c:v>0.5</c:v>
              </c:pt>
              <c:pt idx="12">
                <c:v>0.5</c:v>
              </c:pt>
              <c:pt idx="13">
                <c:v>0</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62F3-3A44-80EE-12EC6BC89671}"/>
            </c:ext>
          </c:extLst>
        </c:ser>
        <c:ser>
          <c:idx val="1"/>
          <c:order val="1"/>
          <c:tx>
            <c:v>AI</c:v>
          </c:tx>
          <c:spPr>
            <a:pattFill prst="ltUpDiag">
              <a:fgClr>
                <a:srgbClr val="E87722"/>
              </a:fgClr>
              <a:bgClr>
                <a:srgbClr val="FFFFFF"/>
              </a:bgClr>
            </a:pattFill>
            <a:ln w="9525">
              <a:solidFill>
                <a:srgbClr val="E87722"/>
              </a:solidFill>
            </a:ln>
          </c:spPr>
          <c:invertIfNegative val="1"/>
          <c:errBars>
            <c:errBarType val="both"/>
            <c:errValType val="cust"/>
            <c:noEndCap val="0"/>
            <c:plus>
              <c:numRef>
                <c:f>p</c:f>
                <c:numCache>
                  <c:formatCode>General</c:formatCode>
                  <c:ptCount val="14"/>
                  <c:pt idx="0">
                    <c:v>3.5</c:v>
                  </c:pt>
                  <c:pt idx="1">
                    <c:v>0</c:v>
                  </c:pt>
                  <c:pt idx="2">
                    <c:v>0</c:v>
                  </c:pt>
                  <c:pt idx="3">
                    <c:v>0</c:v>
                  </c:pt>
                  <c:pt idx="4">
                    <c:v>0</c:v>
                  </c:pt>
                  <c:pt idx="5">
                    <c:v>5.9</c:v>
                  </c:pt>
                  <c:pt idx="6">
                    <c:v>0</c:v>
                  </c:pt>
                  <c:pt idx="7">
                    <c:v>2.7</c:v>
                  </c:pt>
                  <c:pt idx="8">
                    <c:v>2.9</c:v>
                  </c:pt>
                  <c:pt idx="9">
                    <c:v>2.7</c:v>
                  </c:pt>
                  <c:pt idx="10">
                    <c:v>4</c:v>
                  </c:pt>
                  <c:pt idx="11">
                    <c:v>3.1999999999999997</c:v>
                  </c:pt>
                  <c:pt idx="12">
                    <c:v>2.7</c:v>
                  </c:pt>
                  <c:pt idx="13">
                    <c:v>3.7</c:v>
                  </c:pt>
                </c:numCache>
              </c:numRef>
            </c:plus>
            <c:minus>
              <c:numRef>
                <c:f>m</c:f>
                <c:numCache>
                  <c:formatCode>General</c:formatCode>
                  <c:ptCount val="14"/>
                  <c:pt idx="0">
                    <c:v>1.3399999999999999</c:v>
                  </c:pt>
                  <c:pt idx="1">
                    <c:v>0</c:v>
                  </c:pt>
                  <c:pt idx="2">
                    <c:v>0</c:v>
                  </c:pt>
                  <c:pt idx="3">
                    <c:v>0</c:v>
                  </c:pt>
                  <c:pt idx="4">
                    <c:v>0</c:v>
                  </c:pt>
                  <c:pt idx="5">
                    <c:v>1.04</c:v>
                  </c:pt>
                  <c:pt idx="6">
                    <c:v>0</c:v>
                  </c:pt>
                  <c:pt idx="7">
                    <c:v>0.47</c:v>
                  </c:pt>
                  <c:pt idx="8">
                    <c:v>0.56999999999999995</c:v>
                  </c:pt>
                  <c:pt idx="9">
                    <c:v>0.47</c:v>
                  </c:pt>
                  <c:pt idx="10">
                    <c:v>1.1599999999999999</c:v>
                  </c:pt>
                  <c:pt idx="11">
                    <c:v>0.91000000000000014</c:v>
                  </c:pt>
                  <c:pt idx="12">
                    <c:v>0.47</c:v>
                  </c:pt>
                  <c:pt idx="13">
                    <c:v>0.98</c:v>
                  </c:pt>
                </c:numCache>
              </c:numRef>
            </c:minus>
            <c:spPr>
              <a:ln w="9525">
                <a:solidFill>
                  <a:srgbClr val="404040"/>
                </a:solidFill>
              </a:ln>
            </c:spPr>
          </c:errBars>
          <c:cat>
            <c:strLit>
              <c:ptCount val="14"/>
              <c:pt idx="0">
                <c:v>Lesion size</c:v>
              </c:pt>
              <c:pt idx="1">
                <c:v>Lesion location</c:v>
              </c:pt>
              <c:pt idx="2">
                <c:v>Laterality</c:v>
              </c:pt>
              <c:pt idx="3">
                <c:v>Calcifications</c:v>
              </c:pt>
              <c:pt idx="4">
                <c:v>MRI enhancement</c:v>
              </c:pt>
              <c:pt idx="5">
                <c:v>Extent enhancement</c:v>
              </c:pt>
              <c:pt idx="6">
                <c:v>Lymph node status</c:v>
              </c:pt>
              <c:pt idx="7">
                <c:v>Biopsy method</c:v>
              </c:pt>
              <c:pt idx="8">
                <c:v>Clip placement</c:v>
              </c:pt>
              <c:pt idx="9">
                <c:v>Histology</c:v>
              </c:pt>
              <c:pt idx="10">
                <c:v>Invasive component</c:v>
              </c:pt>
              <c:pt idx="11">
                <c:v>Receptor status</c:v>
              </c:pt>
              <c:pt idx="12">
                <c:v>Preserved chronology</c:v>
              </c:pt>
              <c:pt idx="13">
                <c:v>Workup recs</c:v>
              </c:pt>
            </c:strLit>
          </c:cat>
          <c:val>
            <c:numLit>
              <c:formatCode>0.0</c:formatCode>
              <c:ptCount val="14"/>
              <c:pt idx="0">
                <c:v>2</c:v>
              </c:pt>
              <c:pt idx="1">
                <c:v>0</c:v>
              </c:pt>
              <c:pt idx="2">
                <c:v>0</c:v>
              </c:pt>
              <c:pt idx="3">
                <c:v>0</c:v>
              </c:pt>
              <c:pt idx="4">
                <c:v>0</c:v>
              </c:pt>
              <c:pt idx="5">
                <c:v>1.1000000000000001</c:v>
              </c:pt>
              <c:pt idx="6">
                <c:v>0</c:v>
              </c:pt>
              <c:pt idx="7">
                <c:v>0.5</c:v>
              </c:pt>
              <c:pt idx="8">
                <c:v>0.6</c:v>
              </c:pt>
              <c:pt idx="9">
                <c:v>0.5</c:v>
              </c:pt>
              <c:pt idx="10">
                <c:v>1.4</c:v>
              </c:pt>
              <c:pt idx="11">
                <c:v>1.1000000000000001</c:v>
              </c:pt>
              <c:pt idx="12">
                <c:v>0.5</c:v>
              </c:pt>
              <c:pt idx="13">
                <c:v>1.2</c:v>
              </c:pt>
            </c:numLit>
          </c:val>
          <c:extLst>
            <c:ext xmlns:c16="http://schemas.microsoft.com/office/drawing/2014/chart" uri="{C3380CC4-5D6E-409C-BE32-E72D297353CC}">
              <c16:uniqueId val="{00000001-62F3-3A44-80EE-12EC6BC89671}"/>
            </c:ext>
          </c:extLst>
        </c:ser>
        <c:dLbls>
          <c:showLegendKey val="0"/>
          <c:showVal val="0"/>
          <c:showCatName val="0"/>
          <c:showSerName val="0"/>
          <c:showPercent val="0"/>
          <c:showBubbleSize val="0"/>
        </c:dLbls>
        <c:gapWidth val="80"/>
        <c:overlap val="-20"/>
        <c:axId val="1"/>
        <c:axId val="2"/>
      </c:barChart>
      <c:catAx>
        <c:axId val="1"/>
        <c:scaling>
          <c:orientation val="minMax"/>
        </c:scaling>
        <c:delete val="0"/>
        <c:axPos val="b"/>
        <c:numFmt formatCode="General" sourceLinked="0"/>
        <c:majorTickMark val="none"/>
        <c:minorTickMark val="none"/>
        <c:tickLblPos val="nextTo"/>
        <c:txPr>
          <a:bodyPr rot="-2700000" vert="horz"/>
          <a:lstStyle/>
          <a:p>
            <a:pPr>
              <a:defRPr sz="1400"/>
            </a:pPr>
            <a:endParaRPr lang="en-US"/>
          </a:p>
        </c:txPr>
        <c:crossAx val="2"/>
        <c:crosses val="autoZero"/>
        <c:auto val="1"/>
        <c:lblAlgn val="ctr"/>
        <c:lblOffset val="100"/>
        <c:noMultiLvlLbl val="1"/>
      </c:catAx>
      <c:valAx>
        <c:axId val="2"/>
        <c:scaling>
          <c:orientation val="minMax"/>
          <c:min val="0"/>
        </c:scaling>
        <c:delete val="0"/>
        <c:axPos val="l"/>
        <c:majorGridlines>
          <c:spPr>
            <a:ln w="9525">
              <a:solidFill>
                <a:srgbClr val="D9D9D9"/>
              </a:solidFill>
            </a:ln>
          </c:spPr>
        </c:majorGridlines>
        <c:title>
          <c:tx>
            <c:rich>
              <a:bodyPr rot="-5400000" vert="horz"/>
              <a:lstStyle/>
              <a:p>
                <a:pPr>
                  <a:defRPr sz="1400" b="1"/>
                </a:pPr>
                <a:r>
                  <a:rPr lang="en-US" sz="1400" b="1"/>
                  <a:t>Fabrication (%)</a:t>
                </a:r>
              </a:p>
            </c:rich>
          </c:tx>
          <c:overlay val="0"/>
        </c:title>
        <c:numFmt formatCode="0.0" sourceLinked="1"/>
        <c:majorTickMark val="out"/>
        <c:minorTickMark val="none"/>
        <c:tickLblPos val="nextTo"/>
        <c:txPr>
          <a:bodyPr/>
          <a:lstStyle/>
          <a:p>
            <a:pPr>
              <a:defRPr sz="1400"/>
            </a:pPr>
            <a:endParaRPr lang="en-US"/>
          </a:p>
        </c:txPr>
        <c:crossAx val="1"/>
        <c:crosses val="autoZero"/>
        <c:crossBetween val="between"/>
      </c:valAx>
    </c:plotArea>
    <c:legend>
      <c:legendPos val="t"/>
      <c:overlay val="0"/>
      <c:txPr>
        <a:bodyPr/>
        <a:lstStyle/>
        <a:p>
          <a:pPr>
            <a:defRPr sz="1400"/>
          </a:pPr>
          <a:endParaRPr lang="en-US"/>
        </a:p>
      </c:txPr>
    </c:legend>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lgn="ctr">
              <a:defRPr sz="1400" b="1">
                <a:latin typeface="Arial"/>
              </a:defRPr>
            </a:pPr>
            <a:r>
              <a:rPr lang="en-US" sz="1400" b="1">
                <a:latin typeface="Arial"/>
              </a:rPr>
              <a:t>Fabrication Rate by Patient for Preoperative Summaries (N = 200)</a:t>
            </a:r>
          </a:p>
        </c:rich>
      </c:tx>
      <c:overlay val="0"/>
    </c:title>
    <c:autoTitleDeleted val="0"/>
    <c:plotArea>
      <c:layout/>
      <c:barChart>
        <c:barDir val="col"/>
        <c:grouping val="clustered"/>
        <c:varyColors val="0"/>
        <c:ser>
          <c:idx val="0"/>
          <c:order val="0"/>
          <c:tx>
            <c:v>Human</c:v>
          </c:tx>
          <c:spPr>
            <a:solidFill>
              <a:srgbClr val="4472C4"/>
            </a:solidFill>
            <a:ln>
              <a:noFill/>
            </a:ln>
          </c:spPr>
          <c:invertIfNegative val="1"/>
          <c:dLbls>
            <c:spPr>
              <a:noFill/>
              <a:ln>
                <a:noFill/>
              </a:ln>
            </c:spPr>
            <c:txPr>
              <a:bodyPr/>
              <a:lstStyle/>
              <a:p>
                <a:pPr>
                  <a:defRPr sz="1400" b="1">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Any Fabrication</c:v>
              </c:pt>
              <c:pt idx="1">
                <c:v>Critical Fabrication</c:v>
              </c:pt>
            </c:strLit>
          </c:cat>
          <c:val>
            <c:numLit>
              <c:formatCode>General</c:formatCode>
              <c:ptCount val="2"/>
              <c:pt idx="0">
                <c:v>3</c:v>
              </c:pt>
              <c:pt idx="1">
                <c:v>0.5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ED15-3B49-B949-077EC6475A52}"/>
            </c:ext>
          </c:extLst>
        </c:ser>
        <c:ser>
          <c:idx val="1"/>
          <c:order val="1"/>
          <c:tx>
            <c:v>AI</c:v>
          </c:tx>
          <c:spPr>
            <a:pattFill prst="ltUpDiag">
              <a:fgClr>
                <a:srgbClr val="ED7D31"/>
              </a:fgClr>
              <a:bgClr>
                <a:srgbClr val="FFFFFF"/>
              </a:bgClr>
            </a:pattFill>
            <a:ln w="9525">
              <a:solidFill>
                <a:srgbClr val="ED7D31"/>
              </a:solidFill>
            </a:ln>
          </c:spPr>
          <c:invertIfNegative val="1"/>
          <c:dLbls>
            <c:spPr>
              <a:noFill/>
              <a:ln>
                <a:noFill/>
              </a:ln>
            </c:spPr>
            <c:txPr>
              <a:bodyPr/>
              <a:lstStyle/>
              <a:p>
                <a:pPr>
                  <a:defRPr sz="1400" b="1">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Any Fabrication</c:v>
              </c:pt>
              <c:pt idx="1">
                <c:v>Critical Fabrication</c:v>
              </c:pt>
            </c:strLit>
          </c:cat>
          <c:val>
            <c:numLit>
              <c:formatCode>General</c:formatCode>
              <c:ptCount val="2"/>
              <c:pt idx="0">
                <c:v>7.5</c:v>
              </c:pt>
              <c:pt idx="1">
                <c:v>2.5</c:v>
              </c:pt>
            </c:numLit>
          </c:val>
          <c:extLst>
            <c:ext xmlns:c16="http://schemas.microsoft.com/office/drawing/2014/chart" uri="{C3380CC4-5D6E-409C-BE32-E72D297353CC}">
              <c16:uniqueId val="{00000001-ED15-3B49-B949-077EC6475A52}"/>
            </c:ext>
          </c:extLst>
        </c:ser>
        <c:dLbls>
          <c:showLegendKey val="0"/>
          <c:showVal val="0"/>
          <c:showCatName val="0"/>
          <c:showSerName val="0"/>
          <c:showPercent val="0"/>
          <c:showBubbleSize val="0"/>
        </c:dLbls>
        <c:gapWidth val="80"/>
        <c:axId val="111"/>
        <c:axId val="222"/>
      </c:barChart>
      <c:catAx>
        <c:axId val="111"/>
        <c:scaling>
          <c:orientation val="minMax"/>
        </c:scaling>
        <c:delete val="0"/>
        <c:axPos val="b"/>
        <c:numFmt formatCode="General" sourceLinked="0"/>
        <c:majorTickMark val="cross"/>
        <c:minorTickMark val="cross"/>
        <c:tickLblPos val="nextTo"/>
        <c:txPr>
          <a:bodyPr/>
          <a:lstStyle/>
          <a:p>
            <a:pPr>
              <a:defRPr sz="1400">
                <a:latin typeface="Arial"/>
              </a:defRPr>
            </a:pPr>
            <a:endParaRPr lang="en-US"/>
          </a:p>
        </c:txPr>
        <c:crossAx val="222"/>
        <c:crosses val="autoZero"/>
        <c:auto val="1"/>
        <c:lblAlgn val="ctr"/>
        <c:lblOffset val="100"/>
        <c:noMultiLvlLbl val="0"/>
      </c:catAx>
      <c:valAx>
        <c:axId val="222"/>
        <c:scaling>
          <c:orientation val="minMax"/>
          <c:max val="8"/>
          <c:min val="0"/>
        </c:scaling>
        <c:delete val="0"/>
        <c:axPos val="l"/>
        <c:majorGridlines>
          <c:spPr>
            <a:ln w="9525">
              <a:solidFill>
                <a:srgbClr val="D9D9D9"/>
              </a:solidFill>
            </a:ln>
          </c:spPr>
        </c:majorGridlines>
        <c:title>
          <c:tx>
            <c:rich>
              <a:bodyPr rot="-5400000" vert="horz"/>
              <a:lstStyle/>
              <a:p>
                <a:pPr>
                  <a:defRPr sz="1400" b="1">
                    <a:latin typeface="Arial"/>
                  </a:defRPr>
                </a:pPr>
                <a:r>
                  <a:rPr lang="en-US" sz="1400" b="1">
                    <a:latin typeface="Arial"/>
                  </a:rPr>
                  <a:t>Fabrication (%)</a:t>
                </a:r>
              </a:p>
            </c:rich>
          </c:tx>
          <c:overlay val="0"/>
        </c:title>
        <c:numFmt formatCode="0.0" sourceLinked="0"/>
        <c:majorTickMark val="out"/>
        <c:minorTickMark val="none"/>
        <c:tickLblPos val="nextTo"/>
        <c:txPr>
          <a:bodyPr/>
          <a:lstStyle/>
          <a:p>
            <a:pPr>
              <a:defRPr sz="1400">
                <a:latin typeface="Arial"/>
              </a:defRPr>
            </a:pPr>
            <a:endParaRPr lang="en-US"/>
          </a:p>
        </c:txPr>
        <c:crossAx val="111"/>
        <c:crosses val="autoZero"/>
        <c:crossBetween val="between"/>
        <c:majorUnit val="1"/>
      </c:valAx>
    </c:plotArea>
    <c:legend>
      <c:legendPos val="t"/>
      <c:overlay val="0"/>
      <c:txPr>
        <a:bodyPr/>
        <a:lstStyle/>
        <a:p>
          <a:pPr>
            <a:defRPr sz="1400">
              <a:latin typeface="Arial"/>
            </a:defRPr>
          </a:pPr>
          <a:endParaRPr lang="en-US"/>
        </a:p>
      </c:txPr>
    </c:legend>
    <c:plotVisOnly val="1"/>
    <c:dispBlanksAs val="gap"/>
    <c:showDLblsOverMax val="1"/>
  </c:char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Fabrication pages</c:v>
          </c:tx>
          <c:spPr>
            <a:solidFill>
              <a:srgbClr val="1F5FA8"/>
            </a:solidFill>
            <a:ln>
              <a:noFill/>
            </a:ln>
          </c:spPr>
          <c:invertIfNegative val="1"/>
          <c:dLbls>
            <c:numFmt formatCode="0" sourceLinked="0"/>
            <c:spPr>
              <a:noFill/>
            </c:spPr>
            <c:txPr>
              <a:bodyPr/>
              <a:lstStyle/>
              <a:p>
                <a:pPr>
                  <a:defRPr sz="1400">
                    <a:latin typeface="Arial"/>
                  </a:defRPr>
                </a:pPr>
                <a:endParaRPr lang="en-US"/>
              </a:p>
            </c:tx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5"/>
              <c:pt idx="0">
                <c:v>Brightness</c:v>
              </c:pt>
              <c:pt idx="1">
                <c:v>RMS contrast</c:v>
              </c:pt>
              <c:pt idx="2">
                <c:v>Intensity spread</c:v>
              </c:pt>
              <c:pt idx="3">
                <c:v>Tenengrad</c:v>
              </c:pt>
              <c:pt idx="4">
                <c:v>Laplacian var.</c:v>
              </c:pt>
            </c:strLit>
          </c:cat>
          <c:val>
            <c:numLit>
              <c:formatCode>General</c:formatCode>
              <c:ptCount val="5"/>
              <c:pt idx="0">
                <c:v>98.9</c:v>
              </c:pt>
              <c:pt idx="1">
                <c:v>104.5</c:v>
              </c:pt>
              <c:pt idx="2">
                <c:v>110.7</c:v>
              </c:pt>
              <c:pt idx="3">
                <c:v>114.6</c:v>
              </c:pt>
              <c:pt idx="4">
                <c:v>111.6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C17F-494D-BCE3-4EE5C511A44B}"/>
            </c:ext>
          </c:extLst>
        </c:ser>
        <c:ser>
          <c:idx val="1"/>
          <c:order val="1"/>
          <c:tx>
            <c:v>No-fabrication pages</c:v>
          </c:tx>
          <c:spPr>
            <a:pattFill prst="ltUpDiag">
              <a:fgClr>
                <a:srgbClr val="E87722"/>
              </a:fgClr>
              <a:bgClr>
                <a:srgbClr val="FFFFFF"/>
              </a:bgClr>
            </a:pattFill>
            <a:ln w="9525">
              <a:solidFill>
                <a:srgbClr val="E87722"/>
              </a:solidFill>
            </a:ln>
          </c:spPr>
          <c:invertIfNegative val="1"/>
          <c:dLbls>
            <c:numFmt formatCode="0" sourceLinked="0"/>
            <c:spPr>
              <a:noFill/>
            </c:spPr>
            <c:txPr>
              <a:bodyPr/>
              <a:lstStyle/>
              <a:p>
                <a:pPr>
                  <a:defRPr sz="1400">
                    <a:latin typeface="Arial"/>
                  </a:defRPr>
                </a:pPr>
                <a:endParaRPr lang="en-US"/>
              </a:p>
            </c:tx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5"/>
              <c:pt idx="0">
                <c:v>Brightness</c:v>
              </c:pt>
              <c:pt idx="1">
                <c:v>RMS contrast</c:v>
              </c:pt>
              <c:pt idx="2">
                <c:v>Intensity spread</c:v>
              </c:pt>
              <c:pt idx="3">
                <c:v>Tenengrad</c:v>
              </c:pt>
              <c:pt idx="4">
                <c:v>Laplacian var.</c:v>
              </c:pt>
            </c:strLit>
          </c:cat>
          <c:val>
            <c:numLit>
              <c:formatCode>General</c:formatCode>
              <c:ptCount val="5"/>
              <c:pt idx="0">
                <c:v>100</c:v>
              </c:pt>
              <c:pt idx="1">
                <c:v>100</c:v>
              </c:pt>
              <c:pt idx="2">
                <c:v>100</c:v>
              </c:pt>
              <c:pt idx="3">
                <c:v>100</c:v>
              </c:pt>
              <c:pt idx="4">
                <c:v>100</c:v>
              </c:pt>
            </c:numLit>
          </c:val>
          <c:extLst>
            <c:ext xmlns:c16="http://schemas.microsoft.com/office/drawing/2014/chart" uri="{C3380CC4-5D6E-409C-BE32-E72D297353CC}">
              <c16:uniqueId val="{00000001-C17F-494D-BCE3-4EE5C511A44B}"/>
            </c:ext>
          </c:extLst>
        </c:ser>
        <c:dLbls>
          <c:showLegendKey val="0"/>
          <c:showVal val="0"/>
          <c:showCatName val="0"/>
          <c:showSerName val="0"/>
          <c:showPercent val="0"/>
          <c:showBubbleSize val="0"/>
        </c:dLbls>
        <c:gapWidth val="120"/>
        <c:overlap val="-20"/>
        <c:axId val="1"/>
        <c:axId val="2"/>
      </c:barChart>
      <c:catAx>
        <c:axId val="1"/>
        <c:scaling>
          <c:orientation val="minMax"/>
        </c:scaling>
        <c:delete val="0"/>
        <c:axPos val="b"/>
        <c:numFmt formatCode="General" sourceLinked="0"/>
        <c:majorTickMark val="none"/>
        <c:minorTickMark val="none"/>
        <c:tickLblPos val="nextTo"/>
        <c:txPr>
          <a:bodyPr/>
          <a:lstStyle/>
          <a:p>
            <a:pPr>
              <a:defRPr sz="1400">
                <a:latin typeface="Arial"/>
              </a:defRPr>
            </a:pPr>
            <a:endParaRPr lang="en-US"/>
          </a:p>
        </c:txPr>
        <c:crossAx val="2"/>
        <c:crosses val="autoZero"/>
        <c:auto val="1"/>
        <c:lblAlgn val="ctr"/>
        <c:lblOffset val="100"/>
        <c:noMultiLvlLbl val="1"/>
      </c:catAx>
      <c:valAx>
        <c:axId val="2"/>
        <c:scaling>
          <c:orientation val="minMax"/>
          <c:min val="0"/>
        </c:scaling>
        <c:delete val="0"/>
        <c:axPos val="l"/>
        <c:majorGridlines>
          <c:spPr>
            <a:ln w="9525">
              <a:solidFill>
                <a:srgbClr val="D9D9D9"/>
              </a:solidFill>
            </a:ln>
          </c:spPr>
        </c:majorGridlines>
        <c:title>
          <c:tx>
            <c:rich>
              <a:bodyPr rot="-5400000" vert="horz"/>
              <a:lstStyle/>
              <a:p>
                <a:pPr>
                  <a:defRPr sz="1400" b="1">
                    <a:latin typeface="Arial"/>
                  </a:defRPr>
                </a:pPr>
                <a:r>
                  <a:rPr lang="en-US" sz="1400" b="1">
                    <a:latin typeface="Arial"/>
                  </a:rPr>
                  <a:t>Relative value (%)</a:t>
                </a:r>
              </a:p>
            </c:rich>
          </c:tx>
          <c:overlay val="0"/>
        </c:title>
        <c:numFmt formatCode="0" sourceLinked="0"/>
        <c:majorTickMark val="out"/>
        <c:minorTickMark val="none"/>
        <c:tickLblPos val="nextTo"/>
        <c:txPr>
          <a:bodyPr/>
          <a:lstStyle/>
          <a:p>
            <a:pPr>
              <a:defRPr sz="1400">
                <a:latin typeface="Arial"/>
              </a:defRPr>
            </a:pPr>
            <a:endParaRPr lang="en-US"/>
          </a:p>
        </c:txPr>
        <c:crossAx val="1"/>
        <c:crosses val="autoZero"/>
        <c:crossBetween val="between"/>
      </c:valAx>
    </c:plotArea>
    <c:legend>
      <c:legendPos val="t"/>
      <c:overlay val="0"/>
      <c:txPr>
        <a:bodyPr/>
        <a:lstStyle/>
        <a:p>
          <a:pPr>
            <a:defRPr sz="1400">
              <a:latin typeface="Arial"/>
            </a:defRPr>
          </a:pPr>
          <a:endParaRPr lang="en-US"/>
        </a:p>
      </c:txPr>
    </c:legend>
    <c:plotVisOnly val="1"/>
    <c:dispBlanksAs val="gap"/>
    <c:showDLblsOverMax val="1"/>
  </c:chart>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4719" cy="465614"/>
          </a:xfrm>
          <a:prstGeom prst="rect">
            <a:avLst/>
          </a:prstGeom>
        </p:spPr>
        <p:txBody>
          <a:bodyPr vert="horz" lIns="93360" tIns="46680" rIns="93360" bIns="46680" rtlCol="0"/>
          <a:lstStyle>
            <a:lvl1pPr algn="l">
              <a:defRPr sz="1200"/>
            </a:lvl1pPr>
          </a:lstStyle>
          <a:p>
            <a:endParaRPr lang="en-US"/>
          </a:p>
        </p:txBody>
      </p:sp>
      <p:sp>
        <p:nvSpPr>
          <p:cNvPr id="3" name="Date Placeholder 2"/>
          <p:cNvSpPr>
            <a:spLocks noGrp="1"/>
          </p:cNvSpPr>
          <p:nvPr>
            <p:ph type="dt" sz="quarter" idx="1"/>
          </p:nvPr>
        </p:nvSpPr>
        <p:spPr>
          <a:xfrm>
            <a:off x="3979930" y="0"/>
            <a:ext cx="3044719" cy="465614"/>
          </a:xfrm>
          <a:prstGeom prst="rect">
            <a:avLst/>
          </a:prstGeom>
        </p:spPr>
        <p:txBody>
          <a:bodyPr vert="horz" lIns="93360" tIns="46680" rIns="93360" bIns="46680" rtlCol="0"/>
          <a:lstStyle>
            <a:lvl1pPr algn="r">
              <a:defRPr sz="1200"/>
            </a:lvl1pPr>
          </a:lstStyle>
          <a:p>
            <a:fld id="{9D880E72-C0D1-7B4E-95F7-AA2918E085BC}" type="datetimeFigureOut">
              <a:rPr lang="en-US" smtClean="0"/>
              <a:pPr/>
              <a:t>5/30/26</a:t>
            </a:fld>
            <a:endParaRPr lang="en-US"/>
          </a:p>
        </p:txBody>
      </p:sp>
      <p:sp>
        <p:nvSpPr>
          <p:cNvPr id="4" name="Footer Placeholder 3"/>
          <p:cNvSpPr>
            <a:spLocks noGrp="1"/>
          </p:cNvSpPr>
          <p:nvPr>
            <p:ph type="ftr" sz="quarter" idx="2"/>
          </p:nvPr>
        </p:nvSpPr>
        <p:spPr>
          <a:xfrm>
            <a:off x="0" y="8845045"/>
            <a:ext cx="3044719" cy="465614"/>
          </a:xfrm>
          <a:prstGeom prst="rect">
            <a:avLst/>
          </a:prstGeom>
        </p:spPr>
        <p:txBody>
          <a:bodyPr vert="horz" lIns="93360" tIns="46680" rIns="93360" bIns="46680" rtlCol="0" anchor="b"/>
          <a:lstStyle>
            <a:lvl1pPr algn="l">
              <a:defRPr sz="1200"/>
            </a:lvl1pPr>
          </a:lstStyle>
          <a:p>
            <a:endParaRPr lang="en-US"/>
          </a:p>
        </p:txBody>
      </p:sp>
      <p:sp>
        <p:nvSpPr>
          <p:cNvPr id="5" name="Slide Number Placeholder 4"/>
          <p:cNvSpPr>
            <a:spLocks noGrp="1"/>
          </p:cNvSpPr>
          <p:nvPr>
            <p:ph type="sldNum" sz="quarter" idx="3"/>
          </p:nvPr>
        </p:nvSpPr>
        <p:spPr>
          <a:xfrm>
            <a:off x="3979930" y="8845045"/>
            <a:ext cx="3044719" cy="465614"/>
          </a:xfrm>
          <a:prstGeom prst="rect">
            <a:avLst/>
          </a:prstGeom>
        </p:spPr>
        <p:txBody>
          <a:bodyPr vert="horz" lIns="93360" tIns="46680" rIns="93360" bIns="46680" rtlCol="0" anchor="b"/>
          <a:lstStyle>
            <a:lvl1pPr algn="r">
              <a:defRPr sz="1200"/>
            </a:lvl1pPr>
          </a:lstStyle>
          <a:p>
            <a:fld id="{25FBFBE2-5FC1-6D49-9CB1-BEBD9B36BDD1}" type="slidenum">
              <a:rPr lang="en-US" smtClean="0"/>
              <a:pPr/>
              <a:t>‹#›</a:t>
            </a:fld>
            <a:endParaRPr lang="en-US"/>
          </a:p>
        </p:txBody>
      </p:sp>
    </p:spTree>
    <p:extLst>
      <p:ext uri="{BB962C8B-B14F-4D97-AF65-F5344CB8AC3E}">
        <p14:creationId xmlns:p14="http://schemas.microsoft.com/office/powerpoint/2010/main" val="31587213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4719" cy="465614"/>
          </a:xfrm>
          <a:prstGeom prst="rect">
            <a:avLst/>
          </a:prstGeom>
        </p:spPr>
        <p:txBody>
          <a:bodyPr vert="horz" lIns="93360" tIns="46680" rIns="93360" bIns="46680" rtlCol="0"/>
          <a:lstStyle>
            <a:lvl1pPr algn="l">
              <a:defRPr sz="1200"/>
            </a:lvl1pPr>
          </a:lstStyle>
          <a:p>
            <a:endParaRPr lang="en-US"/>
          </a:p>
        </p:txBody>
      </p:sp>
      <p:sp>
        <p:nvSpPr>
          <p:cNvPr id="3" name="Date Placeholder 2"/>
          <p:cNvSpPr>
            <a:spLocks noGrp="1"/>
          </p:cNvSpPr>
          <p:nvPr>
            <p:ph type="dt" idx="1"/>
          </p:nvPr>
        </p:nvSpPr>
        <p:spPr>
          <a:xfrm>
            <a:off x="3979930" y="0"/>
            <a:ext cx="3044719" cy="465614"/>
          </a:xfrm>
          <a:prstGeom prst="rect">
            <a:avLst/>
          </a:prstGeom>
        </p:spPr>
        <p:txBody>
          <a:bodyPr vert="horz" lIns="93360" tIns="46680" rIns="93360" bIns="46680" rtlCol="0"/>
          <a:lstStyle>
            <a:lvl1pPr algn="r">
              <a:defRPr sz="1200"/>
            </a:lvl1pPr>
          </a:lstStyle>
          <a:p>
            <a:fld id="{835B1ABD-57F1-1B46-A417-3C7D1F2A85D0}" type="datetimeFigureOut">
              <a:rPr lang="en-US" smtClean="0"/>
              <a:pPr/>
              <a:t>5/30/26</a:t>
            </a:fld>
            <a:endParaRPr lang="en-US"/>
          </a:p>
        </p:txBody>
      </p:sp>
      <p:sp>
        <p:nvSpPr>
          <p:cNvPr id="4" name="Slide Image Placeholder 3"/>
          <p:cNvSpPr>
            <a:spLocks noGrp="1" noRot="1" noChangeAspect="1"/>
          </p:cNvSpPr>
          <p:nvPr>
            <p:ph type="sldImg" idx="2"/>
          </p:nvPr>
        </p:nvSpPr>
        <p:spPr>
          <a:xfrm>
            <a:off x="409575" y="698500"/>
            <a:ext cx="6207125" cy="3492500"/>
          </a:xfrm>
          <a:prstGeom prst="rect">
            <a:avLst/>
          </a:prstGeom>
          <a:noFill/>
          <a:ln w="12700">
            <a:solidFill>
              <a:prstClr val="black"/>
            </a:solidFill>
          </a:ln>
        </p:spPr>
        <p:txBody>
          <a:bodyPr vert="horz" lIns="93360" tIns="46680" rIns="93360" bIns="46680" rtlCol="0" anchor="ctr"/>
          <a:lstStyle/>
          <a:p>
            <a:endParaRPr lang="en-US"/>
          </a:p>
        </p:txBody>
      </p:sp>
      <p:sp>
        <p:nvSpPr>
          <p:cNvPr id="5" name="Notes Placeholder 4"/>
          <p:cNvSpPr>
            <a:spLocks noGrp="1"/>
          </p:cNvSpPr>
          <p:nvPr>
            <p:ph type="body" sz="quarter" idx="3"/>
          </p:nvPr>
        </p:nvSpPr>
        <p:spPr>
          <a:xfrm>
            <a:off x="702628" y="4423331"/>
            <a:ext cx="5621020" cy="4190524"/>
          </a:xfrm>
          <a:prstGeom prst="rect">
            <a:avLst/>
          </a:prstGeom>
        </p:spPr>
        <p:txBody>
          <a:bodyPr vert="horz" lIns="93360" tIns="46680" rIns="93360" bIns="4668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5045"/>
            <a:ext cx="3044719" cy="465614"/>
          </a:xfrm>
          <a:prstGeom prst="rect">
            <a:avLst/>
          </a:prstGeom>
        </p:spPr>
        <p:txBody>
          <a:bodyPr vert="horz" lIns="93360" tIns="46680" rIns="93360" bIns="46680" rtlCol="0" anchor="b"/>
          <a:lstStyle>
            <a:lvl1pPr algn="l">
              <a:defRPr sz="1200"/>
            </a:lvl1pPr>
          </a:lstStyle>
          <a:p>
            <a:endParaRPr lang="en-US"/>
          </a:p>
        </p:txBody>
      </p:sp>
      <p:sp>
        <p:nvSpPr>
          <p:cNvPr id="7" name="Slide Number Placeholder 6"/>
          <p:cNvSpPr>
            <a:spLocks noGrp="1"/>
          </p:cNvSpPr>
          <p:nvPr>
            <p:ph type="sldNum" sz="quarter" idx="5"/>
          </p:nvPr>
        </p:nvSpPr>
        <p:spPr>
          <a:xfrm>
            <a:off x="3979930" y="8845045"/>
            <a:ext cx="3044719" cy="465614"/>
          </a:xfrm>
          <a:prstGeom prst="rect">
            <a:avLst/>
          </a:prstGeom>
        </p:spPr>
        <p:txBody>
          <a:bodyPr vert="horz" lIns="93360" tIns="46680" rIns="93360" bIns="46680" rtlCol="0" anchor="b"/>
          <a:lstStyle>
            <a:lvl1pPr algn="r">
              <a:defRPr sz="1200"/>
            </a:lvl1pPr>
          </a:lstStyle>
          <a:p>
            <a:fld id="{33FF746A-9A42-BC49-B5AB-F8339C12B1B4}" type="slidenum">
              <a:rPr lang="en-US" smtClean="0"/>
              <a:pPr/>
              <a:t>‹#›</a:t>
            </a:fld>
            <a:endParaRPr lang="en-US"/>
          </a:p>
        </p:txBody>
      </p:sp>
    </p:spTree>
    <p:extLst>
      <p:ext uri="{BB962C8B-B14F-4D97-AF65-F5344CB8AC3E}">
        <p14:creationId xmlns:p14="http://schemas.microsoft.com/office/powerpoint/2010/main" val="382390979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Robert James, and this presentation covers our ongoing work at MSK evaluating the accuracy and safety of large language models for generating structured preoperative summaries in breast cancer surgical consultation</a:t>
            </a:r>
          </a:p>
        </p:txBody>
      </p:sp>
      <p:sp>
        <p:nvSpPr>
          <p:cNvPr id="4" name="Slide Number Placeholder 3"/>
          <p:cNvSpPr>
            <a:spLocks noGrp="1"/>
          </p:cNvSpPr>
          <p:nvPr>
            <p:ph type="sldNum" sz="quarter" idx="5"/>
          </p:nvPr>
        </p:nvSpPr>
        <p:spPr/>
        <p:txBody>
          <a:bodyPr/>
          <a:lstStyle/>
          <a:p>
            <a:fld id="{33FF746A-9A42-BC49-B5AB-F8339C12B1B4}" type="slidenum">
              <a:rPr lang="en-US" smtClean="0"/>
              <a:pPr/>
              <a:t>1</a:t>
            </a:fld>
            <a:endParaRPr lang="en-US"/>
          </a:p>
        </p:txBody>
      </p:sp>
    </p:spTree>
    <p:extLst>
      <p:ext uri="{BB962C8B-B14F-4D97-AF65-F5344CB8AC3E}">
        <p14:creationId xmlns:p14="http://schemas.microsoft.com/office/powerpoint/2010/main" val="897139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clinical problem we sought to address is that clinical information relevant to forming a summary of preoperative workup for breast cancer surgical consultation is often fragmented across many radiology and pathology reports. These can also be from various institutions and vary in format. This all makes synthesizing data into a coherent summary time-intensive and prone to omission or incorrect documentation. </a:t>
            </a:r>
          </a:p>
          <a:p>
            <a:endParaRPr lang="en-US" dirty="0"/>
          </a:p>
          <a:p>
            <a:r>
              <a:rPr lang="en-US" dirty="0"/>
              <a:t>Historically these summaries were made by members of our clinical staff. However, large language models may help automate this process</a:t>
            </a:r>
          </a:p>
        </p:txBody>
      </p:sp>
      <p:sp>
        <p:nvSpPr>
          <p:cNvPr id="4" name="Slide Number Placeholder 3"/>
          <p:cNvSpPr>
            <a:spLocks noGrp="1"/>
          </p:cNvSpPr>
          <p:nvPr>
            <p:ph type="sldNum" sz="quarter" idx="5"/>
          </p:nvPr>
        </p:nvSpPr>
        <p:spPr/>
        <p:txBody>
          <a:bodyPr/>
          <a:lstStyle/>
          <a:p>
            <a:fld id="{33FF746A-9A42-BC49-B5AB-F8339C12B1B4}" type="slidenum">
              <a:rPr lang="en-US" smtClean="0"/>
              <a:pPr/>
              <a:t>2</a:t>
            </a:fld>
            <a:endParaRPr lang="en-US"/>
          </a:p>
        </p:txBody>
      </p:sp>
    </p:spTree>
    <p:extLst>
      <p:ext uri="{BB962C8B-B14F-4D97-AF65-F5344CB8AC3E}">
        <p14:creationId xmlns:p14="http://schemas.microsoft.com/office/powerpoint/2010/main" val="143548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models can read and generate natural language. Some examples include OpenAI’s GPT and </a:t>
            </a:r>
            <a:r>
              <a:rPr lang="en-US" dirty="0" err="1"/>
              <a:t>Anthropic’s</a:t>
            </a:r>
            <a:r>
              <a:rPr lang="en-US" dirty="0"/>
              <a:t> Claude. Given their abilities to extract information and summarize unstructured clinical text, researchers have begun evaluating their role in clinical summarization tasks.</a:t>
            </a:r>
          </a:p>
        </p:txBody>
      </p:sp>
      <p:sp>
        <p:nvSpPr>
          <p:cNvPr id="4" name="Slide Number Placeholder 3"/>
          <p:cNvSpPr>
            <a:spLocks noGrp="1"/>
          </p:cNvSpPr>
          <p:nvPr>
            <p:ph type="sldNum" sz="quarter" idx="5"/>
          </p:nvPr>
        </p:nvSpPr>
        <p:spPr/>
        <p:txBody>
          <a:bodyPr/>
          <a:lstStyle/>
          <a:p>
            <a:fld id="{33FF746A-9A42-BC49-B5AB-F8339C12B1B4}" type="slidenum">
              <a:rPr lang="en-US" smtClean="0"/>
              <a:pPr/>
              <a:t>3</a:t>
            </a:fld>
            <a:endParaRPr lang="en-US"/>
          </a:p>
        </p:txBody>
      </p:sp>
    </p:spTree>
    <p:extLst>
      <p:ext uri="{BB962C8B-B14F-4D97-AF65-F5344CB8AC3E}">
        <p14:creationId xmlns:p14="http://schemas.microsoft.com/office/powerpoint/2010/main" val="2769743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 studies suggest that LLMs can match or exceed clinician performance on clinical summarization tasks.</a:t>
            </a:r>
          </a:p>
          <a:p>
            <a:r>
              <a:rPr lang="en-US" dirty="0"/>
              <a:t>However, most evaluations have been conducted outside of oncology, and few have examined structured preoperative summaries specifically in breast cancer.</a:t>
            </a:r>
          </a:p>
          <a:p>
            <a:r>
              <a:rPr lang="en-US" dirty="0"/>
              <a:t>In addition, measures of completeness and safety - particularly omission and fabrication rates - are rarely reported, leaving important questions about safety prior to clinical deployment unanswered.</a:t>
            </a:r>
          </a:p>
          <a:p>
            <a:endParaRPr lang="en-US" dirty="0"/>
          </a:p>
        </p:txBody>
      </p:sp>
      <p:sp>
        <p:nvSpPr>
          <p:cNvPr id="4" name="Slide Number Placeholder 3"/>
          <p:cNvSpPr>
            <a:spLocks noGrp="1"/>
          </p:cNvSpPr>
          <p:nvPr>
            <p:ph type="sldNum" sz="quarter" idx="5"/>
          </p:nvPr>
        </p:nvSpPr>
        <p:spPr/>
        <p:txBody>
          <a:bodyPr/>
          <a:lstStyle/>
          <a:p>
            <a:fld id="{33FF746A-9A42-BC49-B5AB-F8339C12B1B4}" type="slidenum">
              <a:rPr lang="en-US" smtClean="0"/>
              <a:pPr/>
              <a:t>4</a:t>
            </a:fld>
            <a:endParaRPr lang="en-US"/>
          </a:p>
        </p:txBody>
      </p:sp>
    </p:spTree>
    <p:extLst>
      <p:ext uri="{BB962C8B-B14F-4D97-AF65-F5344CB8AC3E}">
        <p14:creationId xmlns:p14="http://schemas.microsoft.com/office/powerpoint/2010/main" val="1061809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3FF746A-9A42-BC49-B5AB-F8339C12B1B4}" type="slidenum">
              <a:rPr lang="en-US" smtClean="0"/>
              <a:pPr/>
              <a:t>5</a:t>
            </a:fld>
            <a:endParaRPr lang="en-US"/>
          </a:p>
        </p:txBody>
      </p:sp>
    </p:spTree>
    <p:extLst>
      <p:ext uri="{BB962C8B-B14F-4D97-AF65-F5344CB8AC3E}">
        <p14:creationId xmlns:p14="http://schemas.microsoft.com/office/powerpoint/2010/main" val="3819948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can see the overall flow of information into the model followed by summary generation and performance evaluations. </a:t>
            </a:r>
          </a:p>
          <a:p>
            <a:endParaRPr lang="en-US" dirty="0"/>
          </a:p>
          <a:p>
            <a:r>
              <a:rPr lang="en-US" dirty="0"/>
              <a:t>Source documents were first extracted from the electronic medical record and provided to the LLM, which  generated a structured preoperative summary using an underlying breast cancer workup template embedded into the model.</a:t>
            </a:r>
          </a:p>
          <a:p>
            <a:endParaRPr lang="en-US" dirty="0"/>
          </a:p>
          <a:p>
            <a:r>
              <a:rPr lang="en-US" dirty="0"/>
              <a:t>Physician reviewers then compared LLM-generated summaries and staff-authored summaries against the source documents, evaluating the accuracy and completeness of both, as well as their rates of fabrication</a:t>
            </a:r>
          </a:p>
        </p:txBody>
      </p:sp>
      <p:sp>
        <p:nvSpPr>
          <p:cNvPr id="4" name="Slide Number Placeholder 3"/>
          <p:cNvSpPr>
            <a:spLocks noGrp="1"/>
          </p:cNvSpPr>
          <p:nvPr>
            <p:ph type="sldNum" sz="quarter" idx="5"/>
          </p:nvPr>
        </p:nvSpPr>
        <p:spPr/>
        <p:txBody>
          <a:bodyPr/>
          <a:lstStyle/>
          <a:p>
            <a:fld id="{33FF746A-9A42-BC49-B5AB-F8339C12B1B4}" type="slidenum">
              <a:rPr lang="en-US" smtClean="0"/>
              <a:pPr/>
              <a:t>6</a:t>
            </a:fld>
            <a:endParaRPr lang="en-US"/>
          </a:p>
        </p:txBody>
      </p:sp>
    </p:spTree>
    <p:extLst>
      <p:ext uri="{BB962C8B-B14F-4D97-AF65-F5344CB8AC3E}">
        <p14:creationId xmlns:p14="http://schemas.microsoft.com/office/powerpoint/2010/main" val="864653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study design, this was a retrospective review of 200 breast surgery patients across all attending surgeons.</a:t>
            </a:r>
          </a:p>
          <a:p>
            <a:endParaRPr lang="en-US" dirty="0"/>
          </a:p>
          <a:p>
            <a:r>
              <a:rPr lang="en-US" dirty="0"/>
              <a:t>Source documents included internal and external radiology and pathology reports, as well as internal reviews.</a:t>
            </a:r>
          </a:p>
          <a:p>
            <a:endParaRPr lang="en-US" dirty="0"/>
          </a:p>
          <a:p>
            <a:r>
              <a:rPr lang="en-US" dirty="0"/>
              <a:t>These to the LLM, coined the breast surgery advisor, to generate LLM summaries. The LLM used a RAG framework, meaning it incorporated a breast cancer workup template as part of its underlying knowledge. It had a low-temperature setting to limit creativity which decreases its risk of fabrication.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3FF746A-9A42-BC49-B5AB-F8339C12B1B4}" type="slidenum">
              <a:rPr lang="en-US" smtClean="0"/>
              <a:pPr/>
              <a:t>7</a:t>
            </a:fld>
            <a:endParaRPr lang="en-US"/>
          </a:p>
        </p:txBody>
      </p:sp>
    </p:spTree>
    <p:extLst>
      <p:ext uri="{BB962C8B-B14F-4D97-AF65-F5344CB8AC3E}">
        <p14:creationId xmlns:p14="http://schemas.microsoft.com/office/powerpoint/2010/main" val="3429632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you can see the features included in the underlying summary template. These features represent the key elements typically reviewed during a breast cancer surgical consultation to determine treatment</a:t>
            </a:r>
          </a:p>
          <a:p>
            <a:endParaRPr lang="en-US" dirty="0"/>
          </a:p>
        </p:txBody>
      </p:sp>
      <p:sp>
        <p:nvSpPr>
          <p:cNvPr id="4" name="Slide Number Placeholder 3"/>
          <p:cNvSpPr>
            <a:spLocks noGrp="1"/>
          </p:cNvSpPr>
          <p:nvPr>
            <p:ph type="sldNum" sz="quarter" idx="5"/>
          </p:nvPr>
        </p:nvSpPr>
        <p:spPr/>
        <p:txBody>
          <a:bodyPr/>
          <a:lstStyle/>
          <a:p>
            <a:fld id="{33FF746A-9A42-BC49-B5AB-F8339C12B1B4}" type="slidenum">
              <a:rPr lang="en-US" smtClean="0"/>
              <a:pPr/>
              <a:t>8</a:t>
            </a:fld>
            <a:endParaRPr lang="en-US"/>
          </a:p>
        </p:txBody>
      </p:sp>
    </p:spTree>
    <p:extLst>
      <p:ext uri="{BB962C8B-B14F-4D97-AF65-F5344CB8AC3E}">
        <p14:creationId xmlns:p14="http://schemas.microsoft.com/office/powerpoint/2010/main" val="84992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validated the performance of the model. The first step in this process was evaluating the source documents of each patient to determine whether each feature was present or absent. This determined the ground truth.</a:t>
            </a:r>
          </a:p>
          <a:p>
            <a:endParaRPr lang="en-US" dirty="0"/>
          </a:p>
          <a:p>
            <a:r>
              <a:rPr lang="en-US" dirty="0"/>
              <a:t>Then both the staff and the </a:t>
            </a:r>
            <a:r>
              <a:rPr lang="en-US" dirty="0" err="1"/>
              <a:t>llm</a:t>
            </a:r>
            <a:r>
              <a:rPr lang="en-US" dirty="0"/>
              <a:t> generated summaries were graded by comparing their value for each feature to the ground truth, in other words the value in the radiology and pathology reports themselves. the summaries had documentation of each feature classified as accurate if it were correct, a fabrication if documented but done so incorrectly, or classified as an omission if they were not documented at all despite presence in the source. </a:t>
            </a:r>
          </a:p>
          <a:p>
            <a:endParaRPr lang="en-US" dirty="0"/>
          </a:p>
        </p:txBody>
      </p:sp>
      <p:sp>
        <p:nvSpPr>
          <p:cNvPr id="4" name="Slide Number Placeholder 3"/>
          <p:cNvSpPr>
            <a:spLocks noGrp="1"/>
          </p:cNvSpPr>
          <p:nvPr>
            <p:ph type="sldNum" sz="quarter" idx="5"/>
          </p:nvPr>
        </p:nvSpPr>
        <p:spPr/>
        <p:txBody>
          <a:bodyPr/>
          <a:lstStyle/>
          <a:p>
            <a:fld id="{33FF746A-9A42-BC49-B5AB-F8339C12B1B4}" type="slidenum">
              <a:rPr lang="en-US" smtClean="0"/>
              <a:pPr/>
              <a:t>9</a:t>
            </a:fld>
            <a:endParaRPr lang="en-US"/>
          </a:p>
        </p:txBody>
      </p:sp>
    </p:spTree>
    <p:extLst>
      <p:ext uri="{BB962C8B-B14F-4D97-AF65-F5344CB8AC3E}">
        <p14:creationId xmlns:p14="http://schemas.microsoft.com/office/powerpoint/2010/main" val="27028571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these were our results for accuracy, omission rates, and </a:t>
            </a:r>
            <a:r>
              <a:rPr lang="en-US" dirty="0" err="1"/>
              <a:t>fabricaton</a:t>
            </a:r>
            <a:r>
              <a:rPr lang="en-US" dirty="0"/>
              <a:t> rates.</a:t>
            </a:r>
          </a:p>
          <a:p>
            <a:endParaRPr lang="en-US" dirty="0"/>
          </a:p>
          <a:p>
            <a:r>
              <a:rPr lang="en-US" dirty="0"/>
              <a:t>We'll examine each of these in more detail in the next few slides. </a:t>
            </a:r>
          </a:p>
          <a:p>
            <a:endParaRPr lang="en-US" dirty="0"/>
          </a:p>
          <a:p>
            <a:r>
              <a:rPr lang="en-US" dirty="0"/>
              <a:t>But overall, the LLM achieved higher accuracy for most features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*click*</a:t>
            </a:r>
          </a:p>
          <a:p>
            <a:endParaRPr lang="en-US" dirty="0"/>
          </a:p>
          <a:p>
            <a:r>
              <a:rPr lang="en-US" dirty="0"/>
              <a:t>AI accuracy greater than that of human indicated by circles</a:t>
            </a:r>
          </a:p>
          <a:p>
            <a:r>
              <a:rPr lang="en-US" dirty="0"/>
              <a:t>statistically significant differences in accuracy with p &lt; 0.5 show in far right column</a:t>
            </a:r>
          </a:p>
          <a:p>
            <a:endParaRPr lang="en-US" dirty="0"/>
          </a:p>
          <a:p>
            <a:r>
              <a:rPr lang="en-US" dirty="0"/>
              <a:t>*click*</a:t>
            </a:r>
          </a:p>
          <a:p>
            <a:endParaRPr lang="en-US" dirty="0"/>
          </a:p>
          <a:p>
            <a:r>
              <a:rPr lang="en-US" dirty="0"/>
              <a:t>LLM also had equivalent or lower omission rates for most features.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*click*</a:t>
            </a:r>
          </a:p>
          <a:p>
            <a:endParaRPr lang="en-US" dirty="0"/>
          </a:p>
          <a:p>
            <a:r>
              <a:rPr lang="en-US" dirty="0"/>
              <a:t>AI omission rate equivalent or less than that of human underlined</a:t>
            </a:r>
          </a:p>
          <a:p>
            <a:endParaRPr lang="en-US" dirty="0"/>
          </a:p>
          <a:p>
            <a:r>
              <a:rPr lang="en-US" dirty="0"/>
              <a:t>*click*</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*click*</a:t>
            </a:r>
          </a:p>
          <a:p>
            <a:r>
              <a:rPr lang="en-US" dirty="0"/>
              <a:t>AI fabrication rate less than or equivalent to that of human underlined</a:t>
            </a:r>
          </a:p>
          <a:p>
            <a:endParaRPr lang="en-US" dirty="0"/>
          </a:p>
          <a:p>
            <a:endParaRPr lang="en-US" dirty="0"/>
          </a:p>
        </p:txBody>
      </p:sp>
      <p:sp>
        <p:nvSpPr>
          <p:cNvPr id="4" name="Slide Number Placeholder 3"/>
          <p:cNvSpPr>
            <a:spLocks noGrp="1"/>
          </p:cNvSpPr>
          <p:nvPr>
            <p:ph type="sldNum" sz="quarter" idx="5"/>
          </p:nvPr>
        </p:nvSpPr>
        <p:spPr/>
        <p:txBody>
          <a:bodyPr/>
          <a:lstStyle/>
          <a:p>
            <a:fld id="{33FF746A-9A42-BC49-B5AB-F8339C12B1B4}" type="slidenum">
              <a:rPr lang="en-US" smtClean="0"/>
              <a:pPr/>
              <a:t>10</a:t>
            </a:fld>
            <a:endParaRPr lang="en-US"/>
          </a:p>
        </p:txBody>
      </p:sp>
    </p:spTree>
    <p:extLst>
      <p:ext uri="{BB962C8B-B14F-4D97-AF65-F5344CB8AC3E}">
        <p14:creationId xmlns:p14="http://schemas.microsoft.com/office/powerpoint/2010/main" val="636823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accuracy, the LLM matched or outperformed staff across most features and demonstrated significantly higher accuracy in six of the fourteen features. </a:t>
            </a:r>
          </a:p>
          <a:p>
            <a:endParaRPr lang="en-US" dirty="0"/>
          </a:p>
          <a:p>
            <a:r>
              <a:rPr lang="en-US" dirty="0"/>
              <a:t>Significant differences are shown here with the red stars. This included extent enhancement, lymph node status, biopsy method, clip placement, invasive component size, receptor status, and workup recommendations.</a:t>
            </a:r>
          </a:p>
          <a:p>
            <a:endParaRPr lang="en-US" dirty="0"/>
          </a:p>
          <a:p>
            <a:r>
              <a:rPr lang="en-US" dirty="0"/>
              <a:t>The largest differences in accuracy between the two groups were seen in lymph node status, invasive component size, and workup recommendations.</a:t>
            </a:r>
          </a:p>
          <a:p>
            <a:endParaRPr lang="en-US" dirty="0"/>
          </a:p>
        </p:txBody>
      </p:sp>
      <p:sp>
        <p:nvSpPr>
          <p:cNvPr id="4" name="Slide Number Placeholder 3"/>
          <p:cNvSpPr>
            <a:spLocks noGrp="1"/>
          </p:cNvSpPr>
          <p:nvPr>
            <p:ph type="sldNum" sz="quarter" idx="5"/>
          </p:nvPr>
        </p:nvSpPr>
        <p:spPr/>
        <p:txBody>
          <a:bodyPr/>
          <a:lstStyle/>
          <a:p>
            <a:fld id="{33FF746A-9A42-BC49-B5AB-F8339C12B1B4}" type="slidenum">
              <a:rPr lang="en-US" smtClean="0"/>
              <a:pPr/>
              <a:t>11</a:t>
            </a:fld>
            <a:endParaRPr lang="en-US"/>
          </a:p>
        </p:txBody>
      </p:sp>
    </p:spTree>
    <p:extLst>
      <p:ext uri="{BB962C8B-B14F-4D97-AF65-F5344CB8AC3E}">
        <p14:creationId xmlns:p14="http://schemas.microsoft.com/office/powerpoint/2010/main" val="892925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Omission rates were generally lower for the LLM across nearly every feature.</a:t>
            </a:r>
          </a:p>
          <a:p>
            <a:endParaRPr lang="en-US" dirty="0"/>
          </a:p>
          <a:p>
            <a:r>
              <a:rPr lang="en-US" dirty="0"/>
              <a:t>The largest differences in omission rates between the two groups were seen for invasive component size, lymph node status, and workup recommendations.</a:t>
            </a:r>
          </a:p>
          <a:p>
            <a:r>
              <a:rPr lang="en-US" dirty="0"/>
              <a:t>Receptor status was the only feature where omission was higher for the LLM as compared to staff-authored summaries.</a:t>
            </a:r>
          </a:p>
        </p:txBody>
      </p:sp>
      <p:sp>
        <p:nvSpPr>
          <p:cNvPr id="4" name="Slide Number Placeholder 3"/>
          <p:cNvSpPr>
            <a:spLocks noGrp="1"/>
          </p:cNvSpPr>
          <p:nvPr>
            <p:ph type="sldNum" sz="quarter" idx="5"/>
          </p:nvPr>
        </p:nvSpPr>
        <p:spPr/>
        <p:txBody>
          <a:bodyPr/>
          <a:lstStyle/>
          <a:p>
            <a:fld id="{33FF746A-9A42-BC49-B5AB-F8339C12B1B4}" type="slidenum">
              <a:rPr lang="en-US" smtClean="0"/>
              <a:pPr/>
              <a:t>12</a:t>
            </a:fld>
            <a:endParaRPr lang="en-US"/>
          </a:p>
        </p:txBody>
      </p:sp>
    </p:spTree>
    <p:extLst>
      <p:ext uri="{BB962C8B-B14F-4D97-AF65-F5344CB8AC3E}">
        <p14:creationId xmlns:p14="http://schemas.microsoft.com/office/powerpoint/2010/main" val="1481963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Fabrication rates at the feature level were low for both groups, below 2%.</a:t>
            </a:r>
          </a:p>
          <a:p>
            <a:endParaRPr lang="en-US" dirty="0"/>
          </a:p>
          <a:p>
            <a:r>
              <a:rPr lang="en-US" dirty="0"/>
              <a:t>when evaluated at the patient level, the LLM demonstrated a higher overall fabrication rate, occurring in 7.5% of summaries compared with 3.0% of summaries  made by staff. </a:t>
            </a:r>
          </a:p>
          <a:p>
            <a:endParaRPr lang="en-US" dirty="0"/>
          </a:p>
          <a:p>
            <a:r>
              <a:rPr lang="en-US" dirty="0"/>
              <a:t>Critical fabrications, meaning those that could affect clinical management (</a:t>
            </a:r>
            <a:r>
              <a:rPr lang="en-US" sz="1200" b="0" i="0" kern="1200" dirty="0">
                <a:solidFill>
                  <a:schemeClr val="tx1"/>
                </a:solidFill>
                <a:effectLst/>
                <a:latin typeface="+mn-lt"/>
                <a:ea typeface="+mn-ea"/>
                <a:cs typeface="+mn-cs"/>
              </a:rPr>
              <a:t>lesion size differences of ≥ 5 mm and incorrect reporting of receptor status) </a:t>
            </a:r>
            <a:r>
              <a:rPr lang="en-US" dirty="0"/>
              <a:t>were uncommon in both groups, occurring in 2.5% of cases for the LLM and 0.5% of cases for staff.</a:t>
            </a:r>
          </a:p>
          <a:p>
            <a:endParaRPr lang="en-US" dirty="0"/>
          </a:p>
          <a:p>
            <a:r>
              <a:rPr lang="en-US" dirty="0"/>
              <a:t>Notably for cases containing at least one fabrication we noted that their source documents often were of poor image quality. This can affect the models ability to accurately extract text and thus we are evaluating it’s effect on performance as part of our ongoing work</a:t>
            </a:r>
          </a:p>
        </p:txBody>
      </p:sp>
      <p:sp>
        <p:nvSpPr>
          <p:cNvPr id="4" name="Slide Number Placeholder 3"/>
          <p:cNvSpPr>
            <a:spLocks noGrp="1"/>
          </p:cNvSpPr>
          <p:nvPr>
            <p:ph type="sldNum" sz="quarter" idx="5"/>
          </p:nvPr>
        </p:nvSpPr>
        <p:spPr/>
        <p:txBody>
          <a:bodyPr/>
          <a:lstStyle/>
          <a:p>
            <a:fld id="{33FF746A-9A42-BC49-B5AB-F8339C12B1B4}" type="slidenum">
              <a:rPr lang="en-US" smtClean="0"/>
              <a:pPr/>
              <a:t>13</a:t>
            </a:fld>
            <a:endParaRPr lang="en-US"/>
          </a:p>
        </p:txBody>
      </p:sp>
    </p:spTree>
    <p:extLst>
      <p:ext uri="{BB962C8B-B14F-4D97-AF65-F5344CB8AC3E}">
        <p14:creationId xmlns:p14="http://schemas.microsoft.com/office/powerpoint/2010/main" val="22941370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FF746A-9A42-BC49-B5AB-F8339C12B1B4}" type="slidenum">
              <a:rPr lang="en-US" smtClean="0"/>
              <a:pPr/>
              <a:t>14</a:t>
            </a:fld>
            <a:endParaRPr lang="en-US"/>
          </a:p>
        </p:txBody>
      </p:sp>
    </p:spTree>
    <p:extLst>
      <p:ext uri="{BB962C8B-B14F-4D97-AF65-F5344CB8AC3E}">
        <p14:creationId xmlns:p14="http://schemas.microsoft.com/office/powerpoint/2010/main" val="2400756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summary, the LLM matched or exceeded staff accuracy in 12 of 14 features and produced fewer omissions across nearly all evaluated variables. Fabrication rates per feature remained low overall at less than 2%, although patient-level fabrication was somewhat higher for the LLM and was largely associated with scanned source documents with poor image quality.</a:t>
            </a:r>
            <a:endParaRPr lang="en-US" b="1" dirty="0"/>
          </a:p>
        </p:txBody>
      </p:sp>
      <p:sp>
        <p:nvSpPr>
          <p:cNvPr id="4" name="Slide Number Placeholder 3"/>
          <p:cNvSpPr>
            <a:spLocks noGrp="1"/>
          </p:cNvSpPr>
          <p:nvPr>
            <p:ph type="sldNum" sz="quarter" idx="5"/>
          </p:nvPr>
        </p:nvSpPr>
        <p:spPr/>
        <p:txBody>
          <a:bodyPr/>
          <a:lstStyle/>
          <a:p>
            <a:fld id="{33FF746A-9A42-BC49-B5AB-F8339C12B1B4}" type="slidenum">
              <a:rPr lang="en-US" smtClean="0"/>
              <a:pPr/>
              <a:t>15</a:t>
            </a:fld>
            <a:endParaRPr lang="en-US"/>
          </a:p>
        </p:txBody>
      </p:sp>
    </p:spTree>
    <p:extLst>
      <p:ext uri="{BB962C8B-B14F-4D97-AF65-F5344CB8AC3E}">
        <p14:creationId xmlns:p14="http://schemas.microsoft.com/office/powerpoint/2010/main" val="6741964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several important limitations worth noting. </a:t>
            </a:r>
          </a:p>
          <a:p>
            <a:endParaRPr lang="en-US" dirty="0"/>
          </a:p>
          <a:p>
            <a:r>
              <a:rPr lang="en-US" dirty="0"/>
              <a:t>This was done a single-institution which could affect generalizability. </a:t>
            </a:r>
          </a:p>
          <a:p>
            <a:r>
              <a:rPr lang="en-US" dirty="0"/>
              <a:t>In addition, performance here reflects that of a specific model and prompt design and may differ across other LLMs or deployment environments which could also affect generalizability. </a:t>
            </a:r>
          </a:p>
          <a:p>
            <a:r>
              <a:rPr lang="en-US" dirty="0"/>
              <a:t>This was a retrospective study and thus real time clinical performance still needs to be evaluated. </a:t>
            </a:r>
          </a:p>
          <a:p>
            <a:endParaRPr lang="en-US" dirty="0"/>
          </a:p>
          <a:p>
            <a:r>
              <a:rPr lang="en-US" dirty="0"/>
              <a:t>Finally, staff authored summaries were not standardized with a template like they were for the LLM and they could have varied by surgeon according to personal preference, which may have contributed to </a:t>
            </a:r>
            <a:r>
              <a:rPr lang="en-US"/>
              <a:t>intentional omissions. </a:t>
            </a:r>
            <a:endParaRPr lang="en-US" dirty="0"/>
          </a:p>
        </p:txBody>
      </p:sp>
      <p:sp>
        <p:nvSpPr>
          <p:cNvPr id="4" name="Slide Number Placeholder 3"/>
          <p:cNvSpPr>
            <a:spLocks noGrp="1"/>
          </p:cNvSpPr>
          <p:nvPr>
            <p:ph type="sldNum" sz="quarter" idx="5"/>
          </p:nvPr>
        </p:nvSpPr>
        <p:spPr/>
        <p:txBody>
          <a:bodyPr/>
          <a:lstStyle/>
          <a:p>
            <a:fld id="{33FF746A-9A42-BC49-B5AB-F8339C12B1B4}" type="slidenum">
              <a:rPr lang="en-US" smtClean="0"/>
              <a:pPr/>
              <a:t>16</a:t>
            </a:fld>
            <a:endParaRPr lang="en-US"/>
          </a:p>
        </p:txBody>
      </p:sp>
    </p:spTree>
    <p:extLst>
      <p:ext uri="{BB962C8B-B14F-4D97-AF65-F5344CB8AC3E}">
        <p14:creationId xmlns:p14="http://schemas.microsoft.com/office/powerpoint/2010/main" val="2313061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our findings support prior evidence that LLMs can perform clinical summarization tasks at or above that of human clinicians. Importantly, we extend that literature by showing improved completeness without compromising safety, due to omission and fabrication results respectively. These results suggest that LLMs may be a useful tool for supporting standardized preoperative breast cancer documentation.</a:t>
            </a:r>
          </a:p>
        </p:txBody>
      </p:sp>
      <p:sp>
        <p:nvSpPr>
          <p:cNvPr id="4" name="Slide Number Placeholder 3"/>
          <p:cNvSpPr>
            <a:spLocks noGrp="1"/>
          </p:cNvSpPr>
          <p:nvPr>
            <p:ph type="sldNum" sz="quarter" idx="5"/>
          </p:nvPr>
        </p:nvSpPr>
        <p:spPr/>
        <p:txBody>
          <a:bodyPr/>
          <a:lstStyle/>
          <a:p>
            <a:fld id="{33FF746A-9A42-BC49-B5AB-F8339C12B1B4}" type="slidenum">
              <a:rPr lang="en-US" smtClean="0"/>
              <a:pPr/>
              <a:t>17</a:t>
            </a:fld>
            <a:endParaRPr lang="en-US"/>
          </a:p>
        </p:txBody>
      </p:sp>
    </p:spTree>
    <p:extLst>
      <p:ext uri="{BB962C8B-B14F-4D97-AF65-F5344CB8AC3E}">
        <p14:creationId xmlns:p14="http://schemas.microsoft.com/office/powerpoint/2010/main" val="32331975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steps focus on improving reliability and preparing for clinical deployment. This includes prompt optimization with guardrails stating allowed model behavior, as well as requiring citation of passages from source supporting each feature extracted which grounds the model, and multiple extractions with an associated confidence scoring system for high-risk features. </a:t>
            </a:r>
          </a:p>
          <a:p>
            <a:r>
              <a:rPr lang="en-US" dirty="0"/>
              <a:t>Additionally, document quality will automatically be assessed to reduce to text extraction errors and the risk of fabrication associated with image quality.</a:t>
            </a:r>
          </a:p>
          <a:p>
            <a:r>
              <a:rPr lang="en-US" dirty="0"/>
              <a:t>Finally, prospective studies in clinic will be used to evaluate real-world performance and feasibility for adoption.</a:t>
            </a:r>
          </a:p>
        </p:txBody>
      </p:sp>
      <p:sp>
        <p:nvSpPr>
          <p:cNvPr id="4" name="Slide Number Placeholder 3"/>
          <p:cNvSpPr>
            <a:spLocks noGrp="1"/>
          </p:cNvSpPr>
          <p:nvPr>
            <p:ph type="sldNum" sz="quarter" idx="5"/>
          </p:nvPr>
        </p:nvSpPr>
        <p:spPr/>
        <p:txBody>
          <a:bodyPr/>
          <a:lstStyle/>
          <a:p>
            <a:fld id="{33FF746A-9A42-BC49-B5AB-F8339C12B1B4}" type="slidenum">
              <a:rPr lang="en-US" smtClean="0"/>
              <a:pPr/>
              <a:t>18</a:t>
            </a:fld>
            <a:endParaRPr lang="en-US"/>
          </a:p>
        </p:txBody>
      </p:sp>
    </p:spTree>
    <p:extLst>
      <p:ext uri="{BB962C8B-B14F-4D97-AF65-F5344CB8AC3E}">
        <p14:creationId xmlns:p14="http://schemas.microsoft.com/office/powerpoint/2010/main" val="14240962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Cover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08F8DD-10C1-9CE3-7F45-489DFFAD302E}"/>
              </a:ext>
            </a:extLst>
          </p:cNvPr>
          <p:cNvSpPr/>
          <p:nvPr userDrawn="1"/>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8D92239-97C5-DC53-FCF8-631C38E32D24}"/>
              </a:ext>
            </a:extLst>
          </p:cNvPr>
          <p:cNvSpPr/>
          <p:nvPr userDrawn="1"/>
        </p:nvSpPr>
        <p:spPr>
          <a:xfrm>
            <a:off x="0" y="1320393"/>
            <a:ext cx="9144000" cy="3362743"/>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itle 1"/>
          <p:cNvSpPr>
            <a:spLocks noGrp="1"/>
          </p:cNvSpPr>
          <p:nvPr>
            <p:ph type="ctrTitle" hasCustomPrompt="1"/>
          </p:nvPr>
        </p:nvSpPr>
        <p:spPr>
          <a:xfrm>
            <a:off x="396072" y="1603652"/>
            <a:ext cx="8351856" cy="1329595"/>
          </a:xfrm>
        </p:spPr>
        <p:txBody>
          <a:bodyPr lIns="0" bIns="0" anchor="b" anchorCtr="0">
            <a:spAutoFit/>
          </a:bodyPr>
          <a:lstStyle>
            <a:lvl1pPr algn="l">
              <a:lnSpc>
                <a:spcPct val="90000"/>
              </a:lnSpc>
              <a:defRPr sz="4800" b="1" baseline="0">
                <a:solidFill>
                  <a:schemeClr val="bg1"/>
                </a:solidFill>
                <a:latin typeface="Arial"/>
                <a:cs typeface="Arial"/>
              </a:defRPr>
            </a:lvl1pPr>
          </a:lstStyle>
          <a:p>
            <a:r>
              <a:rPr lang="en-US"/>
              <a:t>Enterprise 2-line</a:t>
            </a:r>
            <a:br>
              <a:rPr lang="en-US"/>
            </a:br>
            <a:r>
              <a:rPr lang="en-US"/>
              <a:t>Cover Slide</a:t>
            </a:r>
          </a:p>
        </p:txBody>
      </p:sp>
      <p:sp>
        <p:nvSpPr>
          <p:cNvPr id="12" name="Subtitle 2"/>
          <p:cNvSpPr>
            <a:spLocks noGrp="1"/>
          </p:cNvSpPr>
          <p:nvPr>
            <p:ph type="subTitle" idx="1" hasCustomPrompt="1"/>
          </p:nvPr>
        </p:nvSpPr>
        <p:spPr>
          <a:xfrm>
            <a:off x="396072" y="3020419"/>
            <a:ext cx="8351856" cy="290849"/>
          </a:xfrm>
          <a:prstGeom prst="rect">
            <a:avLst/>
          </a:prstGeom>
        </p:spPr>
        <p:txBody>
          <a:bodyPr lIns="0" tIns="0" rIns="0" bIns="0">
            <a:spAutoFit/>
          </a:bodyPr>
          <a:lstStyle>
            <a:lvl1pPr marL="0" indent="0" algn="l">
              <a:buNone/>
              <a:defRPr sz="2100" b="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a secondary title</a:t>
            </a:r>
          </a:p>
        </p:txBody>
      </p:sp>
      <p:sp>
        <p:nvSpPr>
          <p:cNvPr id="14" name="Content Placeholder 8"/>
          <p:cNvSpPr>
            <a:spLocks noGrp="1"/>
          </p:cNvSpPr>
          <p:nvPr>
            <p:ph sz="quarter" idx="12" hasCustomPrompt="1"/>
          </p:nvPr>
        </p:nvSpPr>
        <p:spPr>
          <a:xfrm>
            <a:off x="396072" y="3816384"/>
            <a:ext cx="5853112" cy="528478"/>
          </a:xfrm>
          <a:prstGeom prst="rect">
            <a:avLst/>
          </a:prstGeom>
        </p:spPr>
        <p:txBody>
          <a:bodyPr lIns="0" tIns="0" rIns="0" bIns="0">
            <a:spAutoFit/>
          </a:bodyPr>
          <a:lstStyle>
            <a:lvl1pPr marL="0" indent="0">
              <a:lnSpc>
                <a:spcPct val="120000"/>
              </a:lnSpc>
              <a:spcBef>
                <a:spcPts val="0"/>
              </a:spcBef>
              <a:buNone/>
              <a:tabLst/>
              <a:defRPr sz="15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Presenter’s Name</a:t>
            </a:r>
          </a:p>
          <a:p>
            <a:pPr lvl="0"/>
            <a:r>
              <a:rPr lang="en-US"/>
              <a:t>Presenter’s Title</a:t>
            </a:r>
          </a:p>
        </p:txBody>
      </p:sp>
      <p:sp>
        <p:nvSpPr>
          <p:cNvPr id="15" name="Content Placeholder 10"/>
          <p:cNvSpPr>
            <a:spLocks noGrp="1"/>
          </p:cNvSpPr>
          <p:nvPr>
            <p:ph sz="quarter" idx="13" hasCustomPrompt="1"/>
          </p:nvPr>
        </p:nvSpPr>
        <p:spPr>
          <a:xfrm>
            <a:off x="5842000" y="3816383"/>
            <a:ext cx="2905928" cy="528478"/>
          </a:xfrm>
          <a:prstGeom prst="rect">
            <a:avLst/>
          </a:prstGeom>
        </p:spPr>
        <p:txBody>
          <a:bodyPr lIns="0" tIns="0" rIns="0" bIns="0">
            <a:spAutoFit/>
          </a:bodyPr>
          <a:lstStyle>
            <a:lvl1pPr marL="0" indent="0" algn="r">
              <a:lnSpc>
                <a:spcPct val="120000"/>
              </a:lnSpc>
              <a:spcBef>
                <a:spcPts val="0"/>
              </a:spcBef>
              <a:buNone/>
              <a:defRPr sz="1500" b="0" baseline="0">
                <a:solidFill>
                  <a:schemeClr val="bg1"/>
                </a:solidFill>
              </a:defRPr>
            </a:lvl1pPr>
          </a:lstStyle>
          <a:p>
            <a:pPr lvl="0"/>
            <a:r>
              <a:rPr lang="en-US"/>
              <a:t>01.07.26</a:t>
            </a:r>
            <a:br>
              <a:rPr lang="en-US"/>
            </a:br>
            <a:r>
              <a:rPr lang="en-US"/>
              <a:t>Web address here</a:t>
            </a:r>
          </a:p>
        </p:txBody>
      </p:sp>
      <p:pic>
        <p:nvPicPr>
          <p:cNvPr id="4" name="Graphic 3">
            <a:extLst>
              <a:ext uri="{FF2B5EF4-FFF2-40B4-BE49-F238E27FC236}">
                <a16:creationId xmlns:a16="http://schemas.microsoft.com/office/drawing/2014/main" id="{E48684B0-CA31-A3A1-9A7B-E61331323C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187837"/>
            <a:ext cx="9144000" cy="495300"/>
          </a:xfrm>
          <a:prstGeom prst="rect">
            <a:avLst/>
          </a:prstGeom>
        </p:spPr>
      </p:pic>
      <p:pic>
        <p:nvPicPr>
          <p:cNvPr id="6" name="Graphic 5">
            <a:extLst>
              <a:ext uri="{FF2B5EF4-FFF2-40B4-BE49-F238E27FC236}">
                <a16:creationId xmlns:a16="http://schemas.microsoft.com/office/drawing/2014/main" id="{E86E9C3A-C2EA-8C12-137D-AD641CC3838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9653" y="400173"/>
            <a:ext cx="4550912" cy="445198"/>
          </a:xfrm>
          <a:prstGeom prst="rect">
            <a:avLst/>
          </a:prstGeom>
        </p:spPr>
      </p:pic>
    </p:spTree>
    <p:extLst>
      <p:ext uri="{BB962C8B-B14F-4D97-AF65-F5344CB8AC3E}">
        <p14:creationId xmlns:p14="http://schemas.microsoft.com/office/powerpoint/2010/main" val="304406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Section Divider">
    <p:spTree>
      <p:nvGrpSpPr>
        <p:cNvPr id="1" name=""/>
        <p:cNvGrpSpPr/>
        <p:nvPr/>
      </p:nvGrpSpPr>
      <p:grpSpPr>
        <a:xfrm>
          <a:off x="0" y="0"/>
          <a:ext cx="0" cy="0"/>
          <a:chOff x="0" y="0"/>
          <a:chExt cx="0" cy="0"/>
        </a:xfrm>
      </p:grpSpPr>
      <p:pic>
        <p:nvPicPr>
          <p:cNvPr id="8" name="Picture 7" descr="A building surrounded by trees&#10;&#10;Description automatically generated">
            <a:extLst>
              <a:ext uri="{FF2B5EF4-FFF2-40B4-BE49-F238E27FC236}">
                <a16:creationId xmlns:a16="http://schemas.microsoft.com/office/drawing/2014/main" id="{715371B4-F594-6CD8-7C79-3CCA926347D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7541" b="17333"/>
          <a:stretch/>
        </p:blipFill>
        <p:spPr>
          <a:xfrm>
            <a:off x="484" y="0"/>
            <a:ext cx="9143516" cy="5143500"/>
          </a:xfrm>
          <a:prstGeom prst="rect">
            <a:avLst/>
          </a:prstGeom>
        </p:spPr>
      </p:pic>
      <p:sp>
        <p:nvSpPr>
          <p:cNvPr id="10" name="Title 1"/>
          <p:cNvSpPr>
            <a:spLocks noGrp="1"/>
          </p:cNvSpPr>
          <p:nvPr>
            <p:ph type="ctrTitle" hasCustomPrompt="1"/>
          </p:nvPr>
        </p:nvSpPr>
        <p:spPr>
          <a:xfrm>
            <a:off x="470499" y="1409680"/>
            <a:ext cx="8351856" cy="664797"/>
          </a:xfrm>
        </p:spPr>
        <p:txBody>
          <a:bodyPr lIns="0" bIns="0" anchor="b" anchorCtr="0">
            <a:spAutoFit/>
          </a:bodyPr>
          <a:lstStyle>
            <a:lvl1pPr algn="l">
              <a:lnSpc>
                <a:spcPct val="90000"/>
              </a:lnSpc>
              <a:defRPr sz="4800" b="1" baseline="0">
                <a:solidFill>
                  <a:schemeClr val="accent1"/>
                </a:solidFill>
                <a:latin typeface="Arial"/>
                <a:cs typeface="Arial"/>
              </a:defRPr>
            </a:lvl1pPr>
          </a:lstStyle>
          <a:p>
            <a:r>
              <a:rPr lang="en-US"/>
              <a:t>Section Divider Title</a:t>
            </a:r>
          </a:p>
        </p:txBody>
      </p:sp>
      <p:sp>
        <p:nvSpPr>
          <p:cNvPr id="11" name="Subtitle 2"/>
          <p:cNvSpPr>
            <a:spLocks noGrp="1"/>
          </p:cNvSpPr>
          <p:nvPr>
            <p:ph type="subTitle" idx="1" hasCustomPrompt="1"/>
          </p:nvPr>
        </p:nvSpPr>
        <p:spPr>
          <a:xfrm>
            <a:off x="470499" y="2179750"/>
            <a:ext cx="8351856" cy="290849"/>
          </a:xfrm>
          <a:prstGeom prst="rect">
            <a:avLst/>
          </a:prstGeom>
        </p:spPr>
        <p:txBody>
          <a:bodyPr lIns="0" tIns="0" rIns="0" bIns="0">
            <a:spAutoFit/>
          </a:bodyPr>
          <a:lstStyle>
            <a:lvl1pPr marL="0" indent="0" algn="l">
              <a:buNone/>
              <a:defRPr sz="2100" b="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Secondary Title</a:t>
            </a:r>
          </a:p>
        </p:txBody>
      </p:sp>
      <p:pic>
        <p:nvPicPr>
          <p:cNvPr id="2" name="Graphic 1">
            <a:extLst>
              <a:ext uri="{FF2B5EF4-FFF2-40B4-BE49-F238E27FC236}">
                <a16:creationId xmlns:a16="http://schemas.microsoft.com/office/drawing/2014/main" id="{AEC11A48-AF0B-1A3D-A25B-364E9710BF9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4648200"/>
            <a:ext cx="9144000" cy="495300"/>
          </a:xfrm>
          <a:prstGeom prst="rect">
            <a:avLst/>
          </a:prstGeom>
        </p:spPr>
      </p:pic>
    </p:spTree>
    <p:extLst>
      <p:ext uri="{BB962C8B-B14F-4D97-AF65-F5344CB8AC3E}">
        <p14:creationId xmlns:p14="http://schemas.microsoft.com/office/powerpoint/2010/main" val="334312821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Divi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B1814BC-ED90-4C15-D282-1424524CBBEC}"/>
              </a:ext>
            </a:extLst>
          </p:cNvPr>
          <p:cNvPicPr>
            <a:picLocks noChangeAspect="1"/>
          </p:cNvPicPr>
          <p:nvPr userDrawn="1"/>
        </p:nvPicPr>
        <p:blipFill rotWithShape="1">
          <a:blip r:embed="rId2"/>
          <a:srcRect l="-2" r="3983" b="10200"/>
          <a:stretch/>
        </p:blipFill>
        <p:spPr>
          <a:xfrm>
            <a:off x="0" y="-2"/>
            <a:ext cx="9144000" cy="5143501"/>
          </a:xfrm>
          <a:prstGeom prst="rect">
            <a:avLst/>
          </a:prstGeom>
        </p:spPr>
      </p:pic>
      <p:sp>
        <p:nvSpPr>
          <p:cNvPr id="7" name="Rectangle 6">
            <a:extLst>
              <a:ext uri="{FF2B5EF4-FFF2-40B4-BE49-F238E27FC236}">
                <a16:creationId xmlns:a16="http://schemas.microsoft.com/office/drawing/2014/main" id="{879E7BC5-AEA3-F892-AA61-B52287EC6B00}"/>
              </a:ext>
            </a:extLst>
          </p:cNvPr>
          <p:cNvSpPr/>
          <p:nvPr userDrawn="1"/>
        </p:nvSpPr>
        <p:spPr>
          <a:xfrm>
            <a:off x="0" y="0"/>
            <a:ext cx="9144000" cy="4980878"/>
          </a:xfrm>
          <a:prstGeom prst="rect">
            <a:avLst/>
          </a:prstGeom>
          <a:gradFill>
            <a:gsLst>
              <a:gs pos="40000">
                <a:schemeClr val="accent1">
                  <a:lumMod val="5000"/>
                  <a:lumOff val="95000"/>
                  <a:alpha val="67104"/>
                </a:schemeClr>
              </a:gs>
              <a:gs pos="57000">
                <a:schemeClr val="bg1">
                  <a:alpha val="0"/>
                </a:scheme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itle 1"/>
          <p:cNvSpPr>
            <a:spLocks noGrp="1"/>
          </p:cNvSpPr>
          <p:nvPr>
            <p:ph type="ctrTitle" hasCustomPrompt="1"/>
          </p:nvPr>
        </p:nvSpPr>
        <p:spPr>
          <a:xfrm>
            <a:off x="470499" y="1409680"/>
            <a:ext cx="8351856" cy="664797"/>
          </a:xfrm>
        </p:spPr>
        <p:txBody>
          <a:bodyPr lIns="0" bIns="0" anchor="b" anchorCtr="0">
            <a:spAutoFit/>
          </a:bodyPr>
          <a:lstStyle>
            <a:lvl1pPr algn="l">
              <a:lnSpc>
                <a:spcPct val="90000"/>
              </a:lnSpc>
              <a:defRPr sz="4800" b="1" baseline="0">
                <a:solidFill>
                  <a:schemeClr val="accent1"/>
                </a:solidFill>
                <a:latin typeface="Arial"/>
                <a:cs typeface="Arial"/>
              </a:defRPr>
            </a:lvl1pPr>
          </a:lstStyle>
          <a:p>
            <a:r>
              <a:rPr lang="en-US"/>
              <a:t>Section Divider Title</a:t>
            </a:r>
          </a:p>
        </p:txBody>
      </p:sp>
      <p:sp>
        <p:nvSpPr>
          <p:cNvPr id="11" name="Subtitle 2"/>
          <p:cNvSpPr>
            <a:spLocks noGrp="1"/>
          </p:cNvSpPr>
          <p:nvPr>
            <p:ph type="subTitle" idx="1" hasCustomPrompt="1"/>
          </p:nvPr>
        </p:nvSpPr>
        <p:spPr>
          <a:xfrm>
            <a:off x="470499" y="2179750"/>
            <a:ext cx="8351856" cy="290849"/>
          </a:xfrm>
          <a:prstGeom prst="rect">
            <a:avLst/>
          </a:prstGeom>
        </p:spPr>
        <p:txBody>
          <a:bodyPr lIns="0" tIns="0" rIns="0" bIns="0">
            <a:spAutoFit/>
          </a:bodyPr>
          <a:lstStyle>
            <a:lvl1pPr marL="0" indent="0" algn="l">
              <a:buNone/>
              <a:defRPr sz="2100" b="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Secondary Title</a:t>
            </a:r>
          </a:p>
        </p:txBody>
      </p:sp>
      <p:pic>
        <p:nvPicPr>
          <p:cNvPr id="2" name="Graphic 1">
            <a:extLst>
              <a:ext uri="{FF2B5EF4-FFF2-40B4-BE49-F238E27FC236}">
                <a16:creationId xmlns:a16="http://schemas.microsoft.com/office/drawing/2014/main" id="{AEC11A48-AF0B-1A3D-A25B-364E9710BF9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4648200"/>
            <a:ext cx="9144000" cy="495300"/>
          </a:xfrm>
          <a:prstGeom prst="rect">
            <a:avLst/>
          </a:prstGeom>
        </p:spPr>
      </p:pic>
    </p:spTree>
    <p:extLst>
      <p:ext uri="{BB962C8B-B14F-4D97-AF65-F5344CB8AC3E}">
        <p14:creationId xmlns:p14="http://schemas.microsoft.com/office/powerpoint/2010/main" val="230233409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Section Divider">
    <p:spTree>
      <p:nvGrpSpPr>
        <p:cNvPr id="1" name=""/>
        <p:cNvGrpSpPr/>
        <p:nvPr/>
      </p:nvGrpSpPr>
      <p:grpSpPr>
        <a:xfrm>
          <a:off x="0" y="0"/>
          <a:ext cx="0" cy="0"/>
          <a:chOff x="0" y="0"/>
          <a:chExt cx="0" cy="0"/>
        </a:xfrm>
      </p:grpSpPr>
      <p:pic>
        <p:nvPicPr>
          <p:cNvPr id="5" name="Picture 4" descr="A building surrounded by trees&#10;&#10;Description automatically generated">
            <a:extLst>
              <a:ext uri="{FF2B5EF4-FFF2-40B4-BE49-F238E27FC236}">
                <a16:creationId xmlns:a16="http://schemas.microsoft.com/office/drawing/2014/main" id="{BF9DCDAA-17B1-BE96-72FC-3DB994FF053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 t="31650" r="37081" b="5273"/>
          <a:stretch/>
        </p:blipFill>
        <p:spPr>
          <a:xfrm>
            <a:off x="0" y="0"/>
            <a:ext cx="9144000" cy="5143501"/>
          </a:xfrm>
          <a:prstGeom prst="rect">
            <a:avLst/>
          </a:prstGeom>
        </p:spPr>
      </p:pic>
      <p:sp>
        <p:nvSpPr>
          <p:cNvPr id="13" name="Rectangle 12">
            <a:extLst>
              <a:ext uri="{FF2B5EF4-FFF2-40B4-BE49-F238E27FC236}">
                <a16:creationId xmlns:a16="http://schemas.microsoft.com/office/drawing/2014/main" id="{75B37D1A-22AA-BAC2-AF09-FFAE114D5FBE}"/>
              </a:ext>
            </a:extLst>
          </p:cNvPr>
          <p:cNvSpPr/>
          <p:nvPr userDrawn="1"/>
        </p:nvSpPr>
        <p:spPr>
          <a:xfrm rot="16200000">
            <a:off x="944764" y="359779"/>
            <a:ext cx="2923770" cy="4813301"/>
          </a:xfrm>
          <a:prstGeom prst="rect">
            <a:avLst/>
          </a:prstGeom>
          <a:gradFill>
            <a:gsLst>
              <a:gs pos="0">
                <a:schemeClr val="accent1">
                  <a:lumMod val="5000"/>
                  <a:lumOff val="95000"/>
                  <a:alpha val="79912"/>
                </a:schemeClr>
              </a:gs>
              <a:gs pos="100000">
                <a:schemeClr val="bg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itle 1"/>
          <p:cNvSpPr>
            <a:spLocks noGrp="1"/>
          </p:cNvSpPr>
          <p:nvPr>
            <p:ph type="ctrTitle" hasCustomPrompt="1"/>
          </p:nvPr>
        </p:nvSpPr>
        <p:spPr>
          <a:xfrm>
            <a:off x="469884" y="1930721"/>
            <a:ext cx="3641761" cy="1329595"/>
          </a:xfrm>
        </p:spPr>
        <p:txBody>
          <a:bodyPr wrap="square" lIns="0" bIns="0" anchor="b" anchorCtr="0">
            <a:spAutoFit/>
          </a:bodyPr>
          <a:lstStyle>
            <a:lvl1pPr algn="l">
              <a:lnSpc>
                <a:spcPct val="90000"/>
              </a:lnSpc>
              <a:defRPr sz="4800" b="1" baseline="0">
                <a:solidFill>
                  <a:schemeClr val="accent1"/>
                </a:solidFill>
                <a:latin typeface="Arial"/>
                <a:cs typeface="Arial"/>
              </a:defRPr>
            </a:lvl1pPr>
          </a:lstStyle>
          <a:p>
            <a:r>
              <a:rPr lang="en-US"/>
              <a:t>Section Divider Title</a:t>
            </a:r>
          </a:p>
        </p:txBody>
      </p:sp>
      <p:sp>
        <p:nvSpPr>
          <p:cNvPr id="11" name="Subtitle 2"/>
          <p:cNvSpPr>
            <a:spLocks noGrp="1"/>
          </p:cNvSpPr>
          <p:nvPr>
            <p:ph type="subTitle" idx="1" hasCustomPrompt="1"/>
          </p:nvPr>
        </p:nvSpPr>
        <p:spPr>
          <a:xfrm>
            <a:off x="469884" y="3337370"/>
            <a:ext cx="3641761" cy="249299"/>
          </a:xfrm>
          <a:prstGeom prst="rect">
            <a:avLst/>
          </a:prstGeom>
        </p:spPr>
        <p:txBody>
          <a:bodyPr wrap="square" lIns="0" tIns="0" rIns="0" bIns="0">
            <a:spAutoFit/>
          </a:bodyPr>
          <a:lstStyle>
            <a:lvl1pPr marL="0" indent="0" algn="l">
              <a:buNone/>
              <a:defRPr sz="1800" b="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Secondary Title</a:t>
            </a:r>
          </a:p>
        </p:txBody>
      </p:sp>
      <p:pic>
        <p:nvPicPr>
          <p:cNvPr id="2" name="Graphic 1">
            <a:extLst>
              <a:ext uri="{FF2B5EF4-FFF2-40B4-BE49-F238E27FC236}">
                <a16:creationId xmlns:a16="http://schemas.microsoft.com/office/drawing/2014/main" id="{AEC11A48-AF0B-1A3D-A25B-364E9710BF9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4648200"/>
            <a:ext cx="9144000" cy="495300"/>
          </a:xfrm>
          <a:prstGeom prst="rect">
            <a:avLst/>
          </a:prstGeom>
        </p:spPr>
      </p:pic>
    </p:spTree>
    <p:extLst>
      <p:ext uri="{BB962C8B-B14F-4D97-AF65-F5344CB8AC3E}">
        <p14:creationId xmlns:p14="http://schemas.microsoft.com/office/powerpoint/2010/main" val="252823910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Section Divi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5197D59-9538-88A4-0D37-515FC3EDFAF0}"/>
              </a:ext>
            </a:extLst>
          </p:cNvPr>
          <p:cNvPicPr>
            <a:picLocks noChangeAspect="1"/>
          </p:cNvPicPr>
          <p:nvPr userDrawn="1"/>
        </p:nvPicPr>
        <p:blipFill rotWithShape="1">
          <a:blip r:embed="rId2"/>
          <a:srcRect l="-2" t="21629" r="19036" b="2651"/>
          <a:stretch/>
        </p:blipFill>
        <p:spPr>
          <a:xfrm>
            <a:off x="0" y="0"/>
            <a:ext cx="9144000" cy="5143499"/>
          </a:xfrm>
          <a:prstGeom prst="rect">
            <a:avLst/>
          </a:prstGeom>
        </p:spPr>
      </p:pic>
      <p:pic>
        <p:nvPicPr>
          <p:cNvPr id="2" name="Graphic 1">
            <a:extLst>
              <a:ext uri="{FF2B5EF4-FFF2-40B4-BE49-F238E27FC236}">
                <a16:creationId xmlns:a16="http://schemas.microsoft.com/office/drawing/2014/main" id="{AEC11A48-AF0B-1A3D-A25B-364E9710BF9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4648200"/>
            <a:ext cx="9144000" cy="495300"/>
          </a:xfrm>
          <a:prstGeom prst="rect">
            <a:avLst/>
          </a:prstGeom>
        </p:spPr>
      </p:pic>
      <p:sp>
        <p:nvSpPr>
          <p:cNvPr id="5" name="Rectangle 4">
            <a:extLst>
              <a:ext uri="{FF2B5EF4-FFF2-40B4-BE49-F238E27FC236}">
                <a16:creationId xmlns:a16="http://schemas.microsoft.com/office/drawing/2014/main" id="{CAB91155-BE25-4BCA-3531-F570AA3209EE}"/>
              </a:ext>
            </a:extLst>
          </p:cNvPr>
          <p:cNvSpPr/>
          <p:nvPr userDrawn="1"/>
        </p:nvSpPr>
        <p:spPr>
          <a:xfrm rot="16200000">
            <a:off x="944764" y="356222"/>
            <a:ext cx="2923770" cy="4813301"/>
          </a:xfrm>
          <a:prstGeom prst="rect">
            <a:avLst/>
          </a:prstGeom>
          <a:gradFill>
            <a:gsLst>
              <a:gs pos="0">
                <a:schemeClr val="accent1">
                  <a:lumMod val="5000"/>
                  <a:lumOff val="95000"/>
                  <a:alpha val="79912"/>
                </a:schemeClr>
              </a:gs>
              <a:gs pos="100000">
                <a:schemeClr val="bg1"/>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086CA6E-77D1-F0FC-CC8D-41B9EA98BDE7}"/>
              </a:ext>
            </a:extLst>
          </p:cNvPr>
          <p:cNvSpPr>
            <a:spLocks noGrp="1"/>
          </p:cNvSpPr>
          <p:nvPr>
            <p:ph type="ctrTitle" hasCustomPrompt="1"/>
          </p:nvPr>
        </p:nvSpPr>
        <p:spPr>
          <a:xfrm>
            <a:off x="476021" y="1927164"/>
            <a:ext cx="3641761" cy="1329595"/>
          </a:xfrm>
        </p:spPr>
        <p:txBody>
          <a:bodyPr wrap="square" lIns="0" bIns="0" anchor="b" anchorCtr="0">
            <a:spAutoFit/>
          </a:bodyPr>
          <a:lstStyle>
            <a:lvl1pPr algn="l">
              <a:lnSpc>
                <a:spcPct val="90000"/>
              </a:lnSpc>
              <a:defRPr sz="4800" b="1" baseline="0">
                <a:solidFill>
                  <a:schemeClr val="accent1"/>
                </a:solidFill>
                <a:latin typeface="Arial"/>
                <a:cs typeface="Arial"/>
              </a:defRPr>
            </a:lvl1pPr>
          </a:lstStyle>
          <a:p>
            <a:r>
              <a:rPr lang="en-US"/>
              <a:t>Section Divider Title</a:t>
            </a:r>
          </a:p>
        </p:txBody>
      </p:sp>
      <p:sp>
        <p:nvSpPr>
          <p:cNvPr id="14" name="Subtitle 2">
            <a:extLst>
              <a:ext uri="{FF2B5EF4-FFF2-40B4-BE49-F238E27FC236}">
                <a16:creationId xmlns:a16="http://schemas.microsoft.com/office/drawing/2014/main" id="{A915AB51-7DDB-61B6-EC1B-8F7C4B490D1B}"/>
              </a:ext>
            </a:extLst>
          </p:cNvPr>
          <p:cNvSpPr>
            <a:spLocks noGrp="1"/>
          </p:cNvSpPr>
          <p:nvPr>
            <p:ph type="subTitle" idx="1" hasCustomPrompt="1"/>
          </p:nvPr>
        </p:nvSpPr>
        <p:spPr>
          <a:xfrm>
            <a:off x="476021" y="3333813"/>
            <a:ext cx="3641761" cy="249299"/>
          </a:xfrm>
          <a:prstGeom prst="rect">
            <a:avLst/>
          </a:prstGeom>
        </p:spPr>
        <p:txBody>
          <a:bodyPr wrap="square" lIns="0" tIns="0" rIns="0" bIns="0">
            <a:spAutoFit/>
          </a:bodyPr>
          <a:lstStyle>
            <a:lvl1pPr marL="0" indent="0" algn="l">
              <a:buNone/>
              <a:defRPr sz="1800" b="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Secondary Title</a:t>
            </a:r>
          </a:p>
        </p:txBody>
      </p:sp>
    </p:spTree>
    <p:extLst>
      <p:ext uri="{BB962C8B-B14F-4D97-AF65-F5344CB8AC3E}">
        <p14:creationId xmlns:p14="http://schemas.microsoft.com/office/powerpoint/2010/main" val="400861446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003CB1E-B3BE-6C51-7CD4-2E07A6E8FAC8}"/>
              </a:ext>
            </a:extLst>
          </p:cNvPr>
          <p:cNvSpPr/>
          <p:nvPr userDrawn="1"/>
        </p:nvSpPr>
        <p:spPr>
          <a:xfrm>
            <a:off x="0" y="4295775"/>
            <a:ext cx="9144000" cy="847725"/>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AEC11A48-AF0B-1A3D-A25B-364E9710BF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648200"/>
            <a:ext cx="9144000" cy="495300"/>
          </a:xfrm>
          <a:prstGeom prst="rect">
            <a:avLst/>
          </a:prstGeom>
        </p:spPr>
      </p:pic>
      <p:sp>
        <p:nvSpPr>
          <p:cNvPr id="10" name="Title 1"/>
          <p:cNvSpPr>
            <a:spLocks noGrp="1"/>
          </p:cNvSpPr>
          <p:nvPr>
            <p:ph type="ctrTitle" hasCustomPrompt="1"/>
          </p:nvPr>
        </p:nvSpPr>
        <p:spPr>
          <a:xfrm>
            <a:off x="470499" y="2325252"/>
            <a:ext cx="8351856" cy="664797"/>
          </a:xfrm>
        </p:spPr>
        <p:txBody>
          <a:bodyPr lIns="0" bIns="0" anchor="b" anchorCtr="0">
            <a:spAutoFit/>
          </a:bodyPr>
          <a:lstStyle>
            <a:lvl1pPr algn="l">
              <a:lnSpc>
                <a:spcPct val="90000"/>
              </a:lnSpc>
              <a:defRPr sz="4800" b="1" baseline="0">
                <a:solidFill>
                  <a:schemeClr val="accent1"/>
                </a:solidFill>
                <a:latin typeface="Arial"/>
                <a:cs typeface="Arial"/>
              </a:defRPr>
            </a:lvl1pPr>
          </a:lstStyle>
          <a:p>
            <a:r>
              <a:rPr lang="en-US"/>
              <a:t>Section Divider Title</a:t>
            </a:r>
          </a:p>
        </p:txBody>
      </p:sp>
      <p:sp>
        <p:nvSpPr>
          <p:cNvPr id="11" name="Subtitle 2"/>
          <p:cNvSpPr>
            <a:spLocks noGrp="1"/>
          </p:cNvSpPr>
          <p:nvPr>
            <p:ph type="subTitle" idx="1" hasCustomPrompt="1"/>
          </p:nvPr>
        </p:nvSpPr>
        <p:spPr>
          <a:xfrm>
            <a:off x="470499" y="3095322"/>
            <a:ext cx="8351856" cy="290849"/>
          </a:xfrm>
          <a:prstGeom prst="rect">
            <a:avLst/>
          </a:prstGeom>
        </p:spPr>
        <p:txBody>
          <a:bodyPr lIns="0" tIns="0" rIns="0" bIns="0">
            <a:spAutoFit/>
          </a:bodyPr>
          <a:lstStyle>
            <a:lvl1pPr marL="0" indent="0" algn="l">
              <a:buNone/>
              <a:defRPr sz="2100" b="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a secondary title</a:t>
            </a:r>
          </a:p>
        </p:txBody>
      </p:sp>
      <p:pic>
        <p:nvPicPr>
          <p:cNvPr id="3" name="Graphic 2">
            <a:extLst>
              <a:ext uri="{FF2B5EF4-FFF2-40B4-BE49-F238E27FC236}">
                <a16:creationId xmlns:a16="http://schemas.microsoft.com/office/drawing/2014/main" id="{60415BDD-4F94-EDB5-C8CD-9289012E7CB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9653" y="400173"/>
            <a:ext cx="4550912" cy="445198"/>
          </a:xfrm>
          <a:prstGeom prst="rect">
            <a:avLst/>
          </a:prstGeom>
        </p:spPr>
      </p:pic>
    </p:spTree>
    <p:extLst>
      <p:ext uri="{BB962C8B-B14F-4D97-AF65-F5344CB8AC3E}">
        <p14:creationId xmlns:p14="http://schemas.microsoft.com/office/powerpoint/2010/main" val="42157508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py Only">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31698C-A798-4B2C-D0CA-4C8C1BA396DB}"/>
              </a:ext>
            </a:extLst>
          </p:cNvPr>
          <p:cNvSpPr>
            <a:spLocks noGrp="1"/>
          </p:cNvSpPr>
          <p:nvPr>
            <p:ph type="title" hasCustomPrompt="1"/>
          </p:nvPr>
        </p:nvSpPr>
        <p:spPr>
          <a:xfrm>
            <a:off x="457199" y="123568"/>
            <a:ext cx="8220243" cy="415498"/>
          </a:xfrm>
          <a:prstGeom prst="rect">
            <a:avLst/>
          </a:prstGeom>
        </p:spPr>
        <p:txBody>
          <a:bodyPr vert="horz" lIns="0" tIns="0" rIns="91440" bIns="45720" rtlCol="0" anchor="t">
            <a:noAutofit/>
          </a:bodyPr>
          <a:lstStyle/>
          <a:p>
            <a:r>
              <a:rPr lang="en-US"/>
              <a:t>Insert Title Here Image &amp; Copy</a:t>
            </a:r>
          </a:p>
        </p:txBody>
      </p:sp>
      <p:sp>
        <p:nvSpPr>
          <p:cNvPr id="3" name="Text Placeholder 4">
            <a:extLst>
              <a:ext uri="{FF2B5EF4-FFF2-40B4-BE49-F238E27FC236}">
                <a16:creationId xmlns:a16="http://schemas.microsoft.com/office/drawing/2014/main" id="{FB8DA90B-19FD-3B68-2914-6B5EBF4DF2DF}"/>
              </a:ext>
            </a:extLst>
          </p:cNvPr>
          <p:cNvSpPr>
            <a:spLocks noGrp="1"/>
          </p:cNvSpPr>
          <p:nvPr>
            <p:ph idx="1"/>
          </p:nvPr>
        </p:nvSpPr>
        <p:spPr>
          <a:xfrm>
            <a:off x="457199" y="594059"/>
            <a:ext cx="8233719" cy="3653992"/>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12841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py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EFBACD-CF62-DDF8-2A2E-B218FDACF784}"/>
              </a:ext>
            </a:extLst>
          </p:cNvPr>
          <p:cNvSpPr/>
          <p:nvPr userDrawn="1"/>
        </p:nvSpPr>
        <p:spPr>
          <a:xfrm>
            <a:off x="270024" y="4326523"/>
            <a:ext cx="8475077" cy="58914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itle Placeholder 1">
            <a:extLst>
              <a:ext uri="{FF2B5EF4-FFF2-40B4-BE49-F238E27FC236}">
                <a16:creationId xmlns:a16="http://schemas.microsoft.com/office/drawing/2014/main" id="{7D8D0C12-CCB3-CD6F-526F-39993D773D58}"/>
              </a:ext>
            </a:extLst>
          </p:cNvPr>
          <p:cNvSpPr>
            <a:spLocks noGrp="1"/>
          </p:cNvSpPr>
          <p:nvPr>
            <p:ph type="title" hasCustomPrompt="1"/>
          </p:nvPr>
        </p:nvSpPr>
        <p:spPr>
          <a:xfrm>
            <a:off x="457199" y="123568"/>
            <a:ext cx="8220243" cy="415498"/>
          </a:xfrm>
          <a:prstGeom prst="rect">
            <a:avLst/>
          </a:prstGeom>
        </p:spPr>
        <p:txBody>
          <a:bodyPr vert="horz" lIns="0" tIns="0" rIns="91440" bIns="45720" rtlCol="0" anchor="t">
            <a:noAutofit/>
          </a:bodyPr>
          <a:lstStyle/>
          <a:p>
            <a:r>
              <a:rPr lang="en-US"/>
              <a:t>Insert Title Here Image &amp; Copy</a:t>
            </a:r>
          </a:p>
        </p:txBody>
      </p:sp>
      <p:sp>
        <p:nvSpPr>
          <p:cNvPr id="6" name="Text Placeholder 4">
            <a:extLst>
              <a:ext uri="{FF2B5EF4-FFF2-40B4-BE49-F238E27FC236}">
                <a16:creationId xmlns:a16="http://schemas.microsoft.com/office/drawing/2014/main" id="{A35CE1B5-6B72-80B1-06B7-767DB52862D4}"/>
              </a:ext>
            </a:extLst>
          </p:cNvPr>
          <p:cNvSpPr>
            <a:spLocks noGrp="1"/>
          </p:cNvSpPr>
          <p:nvPr>
            <p:ph idx="1"/>
          </p:nvPr>
        </p:nvSpPr>
        <p:spPr>
          <a:xfrm>
            <a:off x="457199" y="594059"/>
            <a:ext cx="8233719" cy="4285983"/>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52168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mp; Copy">
    <p:spTree>
      <p:nvGrpSpPr>
        <p:cNvPr id="1" name=""/>
        <p:cNvGrpSpPr/>
        <p:nvPr/>
      </p:nvGrpSpPr>
      <p:grpSpPr>
        <a:xfrm>
          <a:off x="0" y="0"/>
          <a:ext cx="0" cy="0"/>
          <a:chOff x="0" y="0"/>
          <a:chExt cx="0" cy="0"/>
        </a:xfrm>
      </p:grpSpPr>
      <p:sp>
        <p:nvSpPr>
          <p:cNvPr id="7" name="Picture Placeholder 7"/>
          <p:cNvSpPr>
            <a:spLocks noGrp="1"/>
          </p:cNvSpPr>
          <p:nvPr>
            <p:ph type="pic" sz="quarter" idx="13"/>
          </p:nvPr>
        </p:nvSpPr>
        <p:spPr>
          <a:xfrm>
            <a:off x="5589662" y="0"/>
            <a:ext cx="3554338" cy="5143500"/>
          </a:xfrm>
          <a:prstGeom prst="rect">
            <a:avLst/>
          </a:prstGeom>
          <a:solidFill>
            <a:schemeClr val="bg1">
              <a:lumMod val="50000"/>
            </a:schemeClr>
          </a:solidFill>
        </p:spPr>
        <p:txBody>
          <a:bodyPr/>
          <a:lstStyle>
            <a:lvl1pPr marL="0" indent="0">
              <a:buNone/>
              <a:defRPr/>
            </a:lvl1pPr>
          </a:lstStyle>
          <a:p>
            <a:r>
              <a:rPr lang="en-US"/>
              <a:t>Click icon to add picture</a:t>
            </a:r>
          </a:p>
        </p:txBody>
      </p:sp>
      <p:pic>
        <p:nvPicPr>
          <p:cNvPr id="2" name="Graphic 1">
            <a:extLst>
              <a:ext uri="{FF2B5EF4-FFF2-40B4-BE49-F238E27FC236}">
                <a16:creationId xmlns:a16="http://schemas.microsoft.com/office/drawing/2014/main" id="{58FC1E26-3DFA-4729-D4CE-1DEFDCDE950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648200"/>
            <a:ext cx="9144000" cy="495300"/>
          </a:xfrm>
          <a:prstGeom prst="rect">
            <a:avLst/>
          </a:prstGeom>
        </p:spPr>
      </p:pic>
      <p:sp>
        <p:nvSpPr>
          <p:cNvPr id="6" name="Title Placeholder 1">
            <a:extLst>
              <a:ext uri="{FF2B5EF4-FFF2-40B4-BE49-F238E27FC236}">
                <a16:creationId xmlns:a16="http://schemas.microsoft.com/office/drawing/2014/main" id="{80DA951E-2346-C651-F31E-6C0F8B0C0DEB}"/>
              </a:ext>
            </a:extLst>
          </p:cNvPr>
          <p:cNvSpPr>
            <a:spLocks noGrp="1"/>
          </p:cNvSpPr>
          <p:nvPr>
            <p:ph type="title" hasCustomPrompt="1"/>
          </p:nvPr>
        </p:nvSpPr>
        <p:spPr>
          <a:xfrm>
            <a:off x="457199" y="123568"/>
            <a:ext cx="4819017" cy="415498"/>
          </a:xfrm>
          <a:prstGeom prst="rect">
            <a:avLst/>
          </a:prstGeom>
        </p:spPr>
        <p:txBody>
          <a:bodyPr vert="horz" lIns="0" tIns="0" rIns="91440" bIns="45720" rtlCol="0" anchor="t">
            <a:noAutofit/>
          </a:bodyPr>
          <a:lstStyle/>
          <a:p>
            <a:r>
              <a:rPr lang="en-US"/>
              <a:t>Insert Title Here Image &amp; Copy</a:t>
            </a:r>
          </a:p>
        </p:txBody>
      </p:sp>
      <p:sp>
        <p:nvSpPr>
          <p:cNvPr id="8" name="Text Placeholder 4">
            <a:extLst>
              <a:ext uri="{FF2B5EF4-FFF2-40B4-BE49-F238E27FC236}">
                <a16:creationId xmlns:a16="http://schemas.microsoft.com/office/drawing/2014/main" id="{A4665A5E-23A2-B700-AB86-18613EA1BAA0}"/>
              </a:ext>
            </a:extLst>
          </p:cNvPr>
          <p:cNvSpPr>
            <a:spLocks noGrp="1"/>
          </p:cNvSpPr>
          <p:nvPr>
            <p:ph idx="1"/>
          </p:nvPr>
        </p:nvSpPr>
        <p:spPr>
          <a:xfrm>
            <a:off x="457199" y="594059"/>
            <a:ext cx="4826917" cy="3653992"/>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3DF5B6-8C3D-11C4-7615-44F0C6870409}"/>
              </a:ext>
            </a:extLst>
          </p:cNvPr>
          <p:cNvSpPr>
            <a:spLocks noGrp="1"/>
          </p:cNvSpPr>
          <p:nvPr>
            <p:ph type="title" hasCustomPrompt="1"/>
          </p:nvPr>
        </p:nvSpPr>
        <p:spPr>
          <a:xfrm>
            <a:off x="457199" y="123568"/>
            <a:ext cx="8220243" cy="415498"/>
          </a:xfrm>
          <a:prstGeom prst="rect">
            <a:avLst/>
          </a:prstGeom>
        </p:spPr>
        <p:txBody>
          <a:bodyPr vert="horz" lIns="0" tIns="0" rIns="91440" bIns="45720" rtlCol="0" anchor="t">
            <a:noAutofit/>
          </a:bodyPr>
          <a:lstStyle/>
          <a:p>
            <a:r>
              <a:rPr lang="en-US"/>
              <a:t>Insert Title Here Image &amp; Copy</a:t>
            </a:r>
          </a:p>
        </p:txBody>
      </p:sp>
      <p:sp>
        <p:nvSpPr>
          <p:cNvPr id="6" name="Text Placeholder 4">
            <a:extLst>
              <a:ext uri="{FF2B5EF4-FFF2-40B4-BE49-F238E27FC236}">
                <a16:creationId xmlns:a16="http://schemas.microsoft.com/office/drawing/2014/main" id="{F751674C-E917-6EC7-BD46-04395286ABDA}"/>
              </a:ext>
            </a:extLst>
          </p:cNvPr>
          <p:cNvSpPr>
            <a:spLocks noGrp="1"/>
          </p:cNvSpPr>
          <p:nvPr>
            <p:ph idx="1"/>
          </p:nvPr>
        </p:nvSpPr>
        <p:spPr>
          <a:xfrm>
            <a:off x="457200" y="594059"/>
            <a:ext cx="4040660" cy="3653992"/>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7" name="Text Placeholder 4">
            <a:extLst>
              <a:ext uri="{FF2B5EF4-FFF2-40B4-BE49-F238E27FC236}">
                <a16:creationId xmlns:a16="http://schemas.microsoft.com/office/drawing/2014/main" id="{FFE2ACCC-DD45-B3AA-3F38-BFC90B1F6C1E}"/>
              </a:ext>
            </a:extLst>
          </p:cNvPr>
          <p:cNvSpPr>
            <a:spLocks noGrp="1"/>
          </p:cNvSpPr>
          <p:nvPr>
            <p:ph idx="10"/>
          </p:nvPr>
        </p:nvSpPr>
        <p:spPr>
          <a:xfrm>
            <a:off x="4636782" y="594059"/>
            <a:ext cx="4040660" cy="3653992"/>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Only">
    <p:spTree>
      <p:nvGrpSpPr>
        <p:cNvPr id="1" name=""/>
        <p:cNvGrpSpPr/>
        <p:nvPr/>
      </p:nvGrpSpPr>
      <p:grpSpPr>
        <a:xfrm>
          <a:off x="0" y="0"/>
          <a:ext cx="0" cy="0"/>
          <a:chOff x="0" y="0"/>
          <a:chExt cx="0" cy="0"/>
        </a:xfrm>
      </p:grpSpPr>
      <p:sp>
        <p:nvSpPr>
          <p:cNvPr id="11" name="Picture Placeholder 7">
            <a:extLst>
              <a:ext uri="{FF2B5EF4-FFF2-40B4-BE49-F238E27FC236}">
                <a16:creationId xmlns:a16="http://schemas.microsoft.com/office/drawing/2014/main" id="{4871BFAE-FE4F-F5FD-6080-11E1045FEACB}"/>
              </a:ext>
            </a:extLst>
          </p:cNvPr>
          <p:cNvSpPr>
            <a:spLocks noGrp="1"/>
          </p:cNvSpPr>
          <p:nvPr>
            <p:ph type="pic" sz="quarter" idx="13"/>
          </p:nvPr>
        </p:nvSpPr>
        <p:spPr>
          <a:xfrm>
            <a:off x="5443870" y="0"/>
            <a:ext cx="3700130" cy="5143500"/>
          </a:xfrm>
          <a:prstGeom prst="rect">
            <a:avLst/>
          </a:prstGeom>
          <a:solidFill>
            <a:schemeClr val="bg1">
              <a:lumMod val="50000"/>
            </a:schemeClr>
          </a:solidFill>
        </p:spPr>
        <p:txBody>
          <a:bodyPr anchor="ctr">
            <a:noAutofit/>
          </a:bodyPr>
          <a:lstStyle>
            <a:lvl1pPr marL="0" indent="0" algn="ctr">
              <a:buNone/>
              <a:defRPr>
                <a:solidFill>
                  <a:schemeClr val="bg1">
                    <a:lumMod val="85000"/>
                  </a:schemeClr>
                </a:solidFill>
              </a:defRPr>
            </a:lvl1pPr>
          </a:lstStyle>
          <a:p>
            <a:r>
              <a:rPr lang="en-US"/>
              <a:t>Click icon to add picture</a:t>
            </a:r>
          </a:p>
        </p:txBody>
      </p:sp>
      <p:sp>
        <p:nvSpPr>
          <p:cNvPr id="2" name="Title Placeholder 1">
            <a:extLst>
              <a:ext uri="{FF2B5EF4-FFF2-40B4-BE49-F238E27FC236}">
                <a16:creationId xmlns:a16="http://schemas.microsoft.com/office/drawing/2014/main" id="{07B544A2-6FDF-57C2-B14B-E4ADDDAA268A}"/>
              </a:ext>
            </a:extLst>
          </p:cNvPr>
          <p:cNvSpPr>
            <a:spLocks noGrp="1"/>
          </p:cNvSpPr>
          <p:nvPr>
            <p:ph type="title" hasCustomPrompt="1"/>
          </p:nvPr>
        </p:nvSpPr>
        <p:spPr>
          <a:xfrm>
            <a:off x="457199" y="123568"/>
            <a:ext cx="4673463" cy="415498"/>
          </a:xfrm>
          <a:prstGeom prst="rect">
            <a:avLst/>
          </a:prstGeom>
        </p:spPr>
        <p:txBody>
          <a:bodyPr vert="horz" lIns="0" tIns="0" rIns="91440" bIns="45720" rtlCol="0" anchor="t">
            <a:noAutofit/>
          </a:bodyPr>
          <a:lstStyle/>
          <a:p>
            <a:r>
              <a:rPr lang="en-US"/>
              <a:t>Insert Title Here Image &amp; Copy</a:t>
            </a:r>
          </a:p>
        </p:txBody>
      </p:sp>
      <p:sp>
        <p:nvSpPr>
          <p:cNvPr id="3" name="Text Placeholder 4">
            <a:extLst>
              <a:ext uri="{FF2B5EF4-FFF2-40B4-BE49-F238E27FC236}">
                <a16:creationId xmlns:a16="http://schemas.microsoft.com/office/drawing/2014/main" id="{83CDE917-A7C9-1F9B-C858-56510DB656AF}"/>
              </a:ext>
            </a:extLst>
          </p:cNvPr>
          <p:cNvSpPr>
            <a:spLocks noGrp="1"/>
          </p:cNvSpPr>
          <p:nvPr>
            <p:ph idx="1"/>
          </p:nvPr>
        </p:nvSpPr>
        <p:spPr>
          <a:xfrm>
            <a:off x="457199" y="594059"/>
            <a:ext cx="4681125" cy="3653992"/>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s &amp; Copy 3 Column">
    <p:spTree>
      <p:nvGrpSpPr>
        <p:cNvPr id="1" name=""/>
        <p:cNvGrpSpPr/>
        <p:nvPr/>
      </p:nvGrpSpPr>
      <p:grpSpPr>
        <a:xfrm>
          <a:off x="0" y="0"/>
          <a:ext cx="0" cy="0"/>
          <a:chOff x="0" y="0"/>
          <a:chExt cx="0" cy="0"/>
        </a:xfrm>
      </p:grpSpPr>
      <p:sp>
        <p:nvSpPr>
          <p:cNvPr id="7" name="Picture Placeholder 9"/>
          <p:cNvSpPr>
            <a:spLocks noGrp="1"/>
          </p:cNvSpPr>
          <p:nvPr>
            <p:ph type="pic" sz="quarter" idx="16"/>
          </p:nvPr>
        </p:nvSpPr>
        <p:spPr>
          <a:xfrm>
            <a:off x="457200" y="662507"/>
            <a:ext cx="2569035" cy="1707543"/>
          </a:xfrm>
          <a:prstGeom prst="rect">
            <a:avLst/>
          </a:prstGeom>
          <a:solidFill>
            <a:schemeClr val="tx1">
              <a:lumMod val="50000"/>
              <a:lumOff val="50000"/>
            </a:schemeClr>
          </a:solidFill>
        </p:spPr>
        <p:txBody>
          <a:bodyPr>
            <a:normAutofit/>
          </a:bodyPr>
          <a:lstStyle>
            <a:lvl1pPr marL="0" indent="0">
              <a:buNone/>
              <a:defRPr sz="1800">
                <a:solidFill>
                  <a:schemeClr val="tx1"/>
                </a:solidFill>
              </a:defRPr>
            </a:lvl1pPr>
          </a:lstStyle>
          <a:p>
            <a:r>
              <a:rPr lang="en-US"/>
              <a:t>Click icon to add picture</a:t>
            </a:r>
          </a:p>
        </p:txBody>
      </p:sp>
      <p:sp>
        <p:nvSpPr>
          <p:cNvPr id="9" name="Picture Placeholder 9"/>
          <p:cNvSpPr>
            <a:spLocks noGrp="1"/>
          </p:cNvSpPr>
          <p:nvPr>
            <p:ph type="pic" sz="quarter" idx="18"/>
          </p:nvPr>
        </p:nvSpPr>
        <p:spPr>
          <a:xfrm>
            <a:off x="3287483" y="662507"/>
            <a:ext cx="2569035" cy="1707543"/>
          </a:xfrm>
          <a:prstGeom prst="rect">
            <a:avLst/>
          </a:prstGeom>
          <a:solidFill>
            <a:schemeClr val="tx1">
              <a:lumMod val="50000"/>
              <a:lumOff val="50000"/>
            </a:schemeClr>
          </a:solidFill>
        </p:spPr>
        <p:txBody>
          <a:bodyPr>
            <a:normAutofit/>
          </a:bodyPr>
          <a:lstStyle>
            <a:lvl1pPr marL="0" indent="0">
              <a:buNone/>
              <a:defRPr sz="1800">
                <a:solidFill>
                  <a:schemeClr val="tx1"/>
                </a:solidFill>
              </a:defRPr>
            </a:lvl1pPr>
          </a:lstStyle>
          <a:p>
            <a:r>
              <a:rPr lang="en-US"/>
              <a:t>Click icon to add picture</a:t>
            </a:r>
          </a:p>
        </p:txBody>
      </p:sp>
      <p:sp>
        <p:nvSpPr>
          <p:cNvPr id="10" name="Picture Placeholder 9"/>
          <p:cNvSpPr>
            <a:spLocks noGrp="1"/>
          </p:cNvSpPr>
          <p:nvPr>
            <p:ph type="pic" sz="quarter" idx="20"/>
          </p:nvPr>
        </p:nvSpPr>
        <p:spPr>
          <a:xfrm>
            <a:off x="6117765" y="662507"/>
            <a:ext cx="2569035" cy="1707543"/>
          </a:xfrm>
          <a:prstGeom prst="rect">
            <a:avLst/>
          </a:prstGeom>
          <a:solidFill>
            <a:schemeClr val="tx1">
              <a:lumMod val="50000"/>
              <a:lumOff val="50000"/>
            </a:schemeClr>
          </a:solidFill>
        </p:spPr>
        <p:txBody>
          <a:bodyPr>
            <a:normAutofit/>
          </a:bodyPr>
          <a:lstStyle>
            <a:lvl1pPr marL="0" indent="0">
              <a:buNone/>
              <a:defRPr sz="1800">
                <a:solidFill>
                  <a:schemeClr val="tx1"/>
                </a:solidFill>
              </a:defRPr>
            </a:lvl1pPr>
          </a:lstStyle>
          <a:p>
            <a:r>
              <a:rPr lang="en-US"/>
              <a:t>Click icon to add picture</a:t>
            </a:r>
          </a:p>
        </p:txBody>
      </p:sp>
      <p:sp>
        <p:nvSpPr>
          <p:cNvPr id="6" name="Title Placeholder 1">
            <a:extLst>
              <a:ext uri="{FF2B5EF4-FFF2-40B4-BE49-F238E27FC236}">
                <a16:creationId xmlns:a16="http://schemas.microsoft.com/office/drawing/2014/main" id="{404F15ED-E47A-A121-FEA2-D5A985DFA0FA}"/>
              </a:ext>
            </a:extLst>
          </p:cNvPr>
          <p:cNvSpPr>
            <a:spLocks noGrp="1"/>
          </p:cNvSpPr>
          <p:nvPr>
            <p:ph type="title" hasCustomPrompt="1"/>
          </p:nvPr>
        </p:nvSpPr>
        <p:spPr>
          <a:xfrm>
            <a:off x="457199" y="123568"/>
            <a:ext cx="8220243" cy="415498"/>
          </a:xfrm>
          <a:prstGeom prst="rect">
            <a:avLst/>
          </a:prstGeom>
        </p:spPr>
        <p:txBody>
          <a:bodyPr vert="horz" lIns="0" tIns="0" rIns="91440" bIns="45720" rtlCol="0" anchor="t">
            <a:noAutofit/>
          </a:bodyPr>
          <a:lstStyle/>
          <a:p>
            <a:r>
              <a:rPr lang="en-US"/>
              <a:t>Insert Title Here Image &amp; Copy</a:t>
            </a:r>
          </a:p>
        </p:txBody>
      </p:sp>
      <p:sp>
        <p:nvSpPr>
          <p:cNvPr id="8" name="Text Placeholder 4">
            <a:extLst>
              <a:ext uri="{FF2B5EF4-FFF2-40B4-BE49-F238E27FC236}">
                <a16:creationId xmlns:a16="http://schemas.microsoft.com/office/drawing/2014/main" id="{5BD5B9CC-B9CE-BC16-0D2C-B79666938531}"/>
              </a:ext>
            </a:extLst>
          </p:cNvPr>
          <p:cNvSpPr>
            <a:spLocks noGrp="1"/>
          </p:cNvSpPr>
          <p:nvPr>
            <p:ph idx="1"/>
          </p:nvPr>
        </p:nvSpPr>
        <p:spPr>
          <a:xfrm>
            <a:off x="457200" y="2429425"/>
            <a:ext cx="2569036" cy="1818626"/>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11" name="Text Placeholder 4">
            <a:extLst>
              <a:ext uri="{FF2B5EF4-FFF2-40B4-BE49-F238E27FC236}">
                <a16:creationId xmlns:a16="http://schemas.microsoft.com/office/drawing/2014/main" id="{9CBB301A-5DB9-1A2D-435E-047CEEB39A1C}"/>
              </a:ext>
            </a:extLst>
          </p:cNvPr>
          <p:cNvSpPr>
            <a:spLocks noGrp="1"/>
          </p:cNvSpPr>
          <p:nvPr>
            <p:ph idx="21"/>
          </p:nvPr>
        </p:nvSpPr>
        <p:spPr>
          <a:xfrm>
            <a:off x="3282779" y="2429425"/>
            <a:ext cx="2569036" cy="1818626"/>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12" name="Text Placeholder 4">
            <a:extLst>
              <a:ext uri="{FF2B5EF4-FFF2-40B4-BE49-F238E27FC236}">
                <a16:creationId xmlns:a16="http://schemas.microsoft.com/office/drawing/2014/main" id="{5AC6AEDD-A44B-7357-7F77-EDDCC2F8DCB4}"/>
              </a:ext>
            </a:extLst>
          </p:cNvPr>
          <p:cNvSpPr>
            <a:spLocks noGrp="1"/>
          </p:cNvSpPr>
          <p:nvPr>
            <p:ph idx="22"/>
          </p:nvPr>
        </p:nvSpPr>
        <p:spPr>
          <a:xfrm>
            <a:off x="6116595" y="2429425"/>
            <a:ext cx="2569036" cy="1818626"/>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Top &amp; Copy Bottom">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6AEAB4E0-EC82-DB10-0691-C7D57C116382}"/>
              </a:ext>
            </a:extLst>
          </p:cNvPr>
          <p:cNvSpPr>
            <a:spLocks noGrp="1"/>
          </p:cNvSpPr>
          <p:nvPr>
            <p:ph type="pic" sz="quarter" idx="17"/>
          </p:nvPr>
        </p:nvSpPr>
        <p:spPr>
          <a:xfrm>
            <a:off x="457200" y="660569"/>
            <a:ext cx="8229598" cy="1707543"/>
          </a:xfrm>
          <a:prstGeom prst="rect">
            <a:avLst/>
          </a:prstGeom>
          <a:solidFill>
            <a:schemeClr val="tx1">
              <a:lumMod val="50000"/>
              <a:lumOff val="50000"/>
            </a:schemeClr>
          </a:solidFill>
        </p:spPr>
        <p:txBody>
          <a:bodyPr>
            <a:normAutofit/>
          </a:bodyPr>
          <a:lstStyle>
            <a:lvl1pPr marL="0" indent="0">
              <a:buNone/>
              <a:defRPr sz="1800">
                <a:solidFill>
                  <a:schemeClr val="tx1"/>
                </a:solidFill>
              </a:defRPr>
            </a:lvl1pPr>
          </a:lstStyle>
          <a:p>
            <a:r>
              <a:rPr lang="en-US"/>
              <a:t>Click icon to add picture</a:t>
            </a:r>
          </a:p>
        </p:txBody>
      </p:sp>
      <p:sp>
        <p:nvSpPr>
          <p:cNvPr id="3" name="Title Placeholder 1">
            <a:extLst>
              <a:ext uri="{FF2B5EF4-FFF2-40B4-BE49-F238E27FC236}">
                <a16:creationId xmlns:a16="http://schemas.microsoft.com/office/drawing/2014/main" id="{7EC80901-5414-5465-B9DD-C2808DF2905D}"/>
              </a:ext>
            </a:extLst>
          </p:cNvPr>
          <p:cNvSpPr>
            <a:spLocks noGrp="1"/>
          </p:cNvSpPr>
          <p:nvPr>
            <p:ph type="title" hasCustomPrompt="1"/>
          </p:nvPr>
        </p:nvSpPr>
        <p:spPr>
          <a:xfrm>
            <a:off x="457199" y="123568"/>
            <a:ext cx="8220243" cy="415498"/>
          </a:xfrm>
          <a:prstGeom prst="rect">
            <a:avLst/>
          </a:prstGeom>
        </p:spPr>
        <p:txBody>
          <a:bodyPr vert="horz" lIns="0" tIns="0" rIns="91440" bIns="45720" rtlCol="0" anchor="t">
            <a:noAutofit/>
          </a:bodyPr>
          <a:lstStyle/>
          <a:p>
            <a:r>
              <a:rPr lang="en-US"/>
              <a:t>Insert Title Here Image &amp; Copy</a:t>
            </a:r>
          </a:p>
        </p:txBody>
      </p:sp>
      <p:sp>
        <p:nvSpPr>
          <p:cNvPr id="6" name="Text Placeholder 4">
            <a:extLst>
              <a:ext uri="{FF2B5EF4-FFF2-40B4-BE49-F238E27FC236}">
                <a16:creationId xmlns:a16="http://schemas.microsoft.com/office/drawing/2014/main" id="{B550E7DA-BF61-922F-6C58-CCEB9E7FCCDE}"/>
              </a:ext>
            </a:extLst>
          </p:cNvPr>
          <p:cNvSpPr>
            <a:spLocks noGrp="1"/>
          </p:cNvSpPr>
          <p:nvPr>
            <p:ph idx="1"/>
          </p:nvPr>
        </p:nvSpPr>
        <p:spPr>
          <a:xfrm>
            <a:off x="457200" y="2429425"/>
            <a:ext cx="8220242" cy="1818626"/>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rts &amp; Copy 1">
    <p:spTree>
      <p:nvGrpSpPr>
        <p:cNvPr id="1" name=""/>
        <p:cNvGrpSpPr/>
        <p:nvPr/>
      </p:nvGrpSpPr>
      <p:grpSpPr>
        <a:xfrm>
          <a:off x="0" y="0"/>
          <a:ext cx="0" cy="0"/>
          <a:chOff x="0" y="0"/>
          <a:chExt cx="0" cy="0"/>
        </a:xfrm>
      </p:grpSpPr>
      <p:sp>
        <p:nvSpPr>
          <p:cNvPr id="16" name="Chart Placeholder 6"/>
          <p:cNvSpPr>
            <a:spLocks noGrp="1"/>
          </p:cNvSpPr>
          <p:nvPr>
            <p:ph type="chart" sz="quarter" idx="23"/>
          </p:nvPr>
        </p:nvSpPr>
        <p:spPr>
          <a:xfrm>
            <a:off x="457200" y="721883"/>
            <a:ext cx="2569034" cy="1617557"/>
          </a:xfrm>
          <a:prstGeom prst="rect">
            <a:avLst/>
          </a:prstGeom>
        </p:spPr>
        <p:txBody>
          <a:bodyPr/>
          <a:lstStyle>
            <a:lvl1pPr marL="0" indent="0">
              <a:buNone/>
              <a:defRPr>
                <a:solidFill>
                  <a:schemeClr val="tx1"/>
                </a:solidFill>
              </a:defRPr>
            </a:lvl1pPr>
          </a:lstStyle>
          <a:p>
            <a:r>
              <a:rPr lang="en-US"/>
              <a:t>Click icon to add chart</a:t>
            </a:r>
          </a:p>
        </p:txBody>
      </p:sp>
      <p:sp>
        <p:nvSpPr>
          <p:cNvPr id="25" name="Chart Placeholder 6">
            <a:extLst>
              <a:ext uri="{FF2B5EF4-FFF2-40B4-BE49-F238E27FC236}">
                <a16:creationId xmlns:a16="http://schemas.microsoft.com/office/drawing/2014/main" id="{05CE34A9-2767-EE52-2288-0282EAB77DA4}"/>
              </a:ext>
            </a:extLst>
          </p:cNvPr>
          <p:cNvSpPr>
            <a:spLocks noGrp="1"/>
          </p:cNvSpPr>
          <p:nvPr>
            <p:ph type="chart" sz="quarter" idx="26"/>
          </p:nvPr>
        </p:nvSpPr>
        <p:spPr>
          <a:xfrm>
            <a:off x="3292188" y="721883"/>
            <a:ext cx="2569034" cy="1617557"/>
          </a:xfrm>
          <a:prstGeom prst="rect">
            <a:avLst/>
          </a:prstGeom>
        </p:spPr>
        <p:txBody>
          <a:bodyPr/>
          <a:lstStyle>
            <a:lvl1pPr marL="0" indent="0">
              <a:buNone/>
              <a:defRPr>
                <a:solidFill>
                  <a:schemeClr val="tx1"/>
                </a:solidFill>
              </a:defRPr>
            </a:lvl1pPr>
          </a:lstStyle>
          <a:p>
            <a:r>
              <a:rPr lang="en-US"/>
              <a:t>Click icon to add chart</a:t>
            </a:r>
          </a:p>
        </p:txBody>
      </p:sp>
      <p:sp>
        <p:nvSpPr>
          <p:cNvPr id="26" name="Chart Placeholder 6">
            <a:extLst>
              <a:ext uri="{FF2B5EF4-FFF2-40B4-BE49-F238E27FC236}">
                <a16:creationId xmlns:a16="http://schemas.microsoft.com/office/drawing/2014/main" id="{38D520DC-ADC2-F226-F41C-DDB4ADE9DE0C}"/>
              </a:ext>
            </a:extLst>
          </p:cNvPr>
          <p:cNvSpPr>
            <a:spLocks noGrp="1"/>
          </p:cNvSpPr>
          <p:nvPr>
            <p:ph type="chart" sz="quarter" idx="27"/>
          </p:nvPr>
        </p:nvSpPr>
        <p:spPr>
          <a:xfrm>
            <a:off x="6110868" y="721883"/>
            <a:ext cx="2569034" cy="1617557"/>
          </a:xfrm>
          <a:prstGeom prst="rect">
            <a:avLst/>
          </a:prstGeom>
        </p:spPr>
        <p:txBody>
          <a:bodyPr/>
          <a:lstStyle>
            <a:lvl1pPr marL="0" indent="0">
              <a:buNone/>
              <a:defRPr>
                <a:solidFill>
                  <a:schemeClr val="tx1"/>
                </a:solidFill>
              </a:defRPr>
            </a:lvl1pPr>
          </a:lstStyle>
          <a:p>
            <a:r>
              <a:rPr lang="en-US"/>
              <a:t>Click icon to add chart</a:t>
            </a:r>
          </a:p>
        </p:txBody>
      </p:sp>
      <p:sp>
        <p:nvSpPr>
          <p:cNvPr id="6" name="Title Placeholder 1">
            <a:extLst>
              <a:ext uri="{FF2B5EF4-FFF2-40B4-BE49-F238E27FC236}">
                <a16:creationId xmlns:a16="http://schemas.microsoft.com/office/drawing/2014/main" id="{F90E998F-0EE0-BAE3-93E8-713B6F4BD36C}"/>
              </a:ext>
            </a:extLst>
          </p:cNvPr>
          <p:cNvSpPr>
            <a:spLocks noGrp="1"/>
          </p:cNvSpPr>
          <p:nvPr>
            <p:ph type="title" hasCustomPrompt="1"/>
          </p:nvPr>
        </p:nvSpPr>
        <p:spPr>
          <a:xfrm>
            <a:off x="457199" y="123568"/>
            <a:ext cx="8220243" cy="415498"/>
          </a:xfrm>
          <a:prstGeom prst="rect">
            <a:avLst/>
          </a:prstGeom>
        </p:spPr>
        <p:txBody>
          <a:bodyPr vert="horz" lIns="0" tIns="0" rIns="91440" bIns="45720" rtlCol="0" anchor="t">
            <a:noAutofit/>
          </a:bodyPr>
          <a:lstStyle/>
          <a:p>
            <a:r>
              <a:rPr lang="en-US"/>
              <a:t>Insert Title Here Image &amp; Copy</a:t>
            </a:r>
          </a:p>
        </p:txBody>
      </p:sp>
      <p:sp>
        <p:nvSpPr>
          <p:cNvPr id="7" name="Text Placeholder 4">
            <a:extLst>
              <a:ext uri="{FF2B5EF4-FFF2-40B4-BE49-F238E27FC236}">
                <a16:creationId xmlns:a16="http://schemas.microsoft.com/office/drawing/2014/main" id="{8D3409C1-6CA9-5A9A-CA79-E15B57BCB43C}"/>
              </a:ext>
            </a:extLst>
          </p:cNvPr>
          <p:cNvSpPr>
            <a:spLocks noGrp="1"/>
          </p:cNvSpPr>
          <p:nvPr>
            <p:ph idx="1"/>
          </p:nvPr>
        </p:nvSpPr>
        <p:spPr>
          <a:xfrm>
            <a:off x="457200" y="2429425"/>
            <a:ext cx="2569036" cy="1818626"/>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063E3B64-6DC2-93C1-725F-862FE960D220}"/>
              </a:ext>
            </a:extLst>
          </p:cNvPr>
          <p:cNvSpPr>
            <a:spLocks noGrp="1"/>
          </p:cNvSpPr>
          <p:nvPr>
            <p:ph idx="21"/>
          </p:nvPr>
        </p:nvSpPr>
        <p:spPr>
          <a:xfrm>
            <a:off x="3282779" y="2429425"/>
            <a:ext cx="2569036" cy="1818626"/>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12" name="Text Placeholder 4">
            <a:extLst>
              <a:ext uri="{FF2B5EF4-FFF2-40B4-BE49-F238E27FC236}">
                <a16:creationId xmlns:a16="http://schemas.microsoft.com/office/drawing/2014/main" id="{C47F5947-A02D-03E9-AC17-E61BE3082AEE}"/>
              </a:ext>
            </a:extLst>
          </p:cNvPr>
          <p:cNvSpPr>
            <a:spLocks noGrp="1"/>
          </p:cNvSpPr>
          <p:nvPr>
            <p:ph idx="22"/>
          </p:nvPr>
        </p:nvSpPr>
        <p:spPr>
          <a:xfrm>
            <a:off x="6116595" y="2429425"/>
            <a:ext cx="2569036" cy="1818626"/>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rts &amp; Copy 2">
    <p:spTree>
      <p:nvGrpSpPr>
        <p:cNvPr id="1" name=""/>
        <p:cNvGrpSpPr/>
        <p:nvPr/>
      </p:nvGrpSpPr>
      <p:grpSpPr>
        <a:xfrm>
          <a:off x="0" y="0"/>
          <a:ext cx="0" cy="0"/>
          <a:chOff x="0" y="0"/>
          <a:chExt cx="0" cy="0"/>
        </a:xfrm>
      </p:grpSpPr>
      <p:sp>
        <p:nvSpPr>
          <p:cNvPr id="3" name="Chart Placeholder 6">
            <a:extLst>
              <a:ext uri="{FF2B5EF4-FFF2-40B4-BE49-F238E27FC236}">
                <a16:creationId xmlns:a16="http://schemas.microsoft.com/office/drawing/2014/main" id="{1A51BEDA-2ECE-F4E3-D7CC-B17120C31B22}"/>
              </a:ext>
            </a:extLst>
          </p:cNvPr>
          <p:cNvSpPr>
            <a:spLocks noGrp="1"/>
          </p:cNvSpPr>
          <p:nvPr>
            <p:ph type="chart" sz="quarter" idx="23"/>
          </p:nvPr>
        </p:nvSpPr>
        <p:spPr>
          <a:xfrm>
            <a:off x="457200" y="721883"/>
            <a:ext cx="1985216" cy="1617557"/>
          </a:xfrm>
          <a:prstGeom prst="rect">
            <a:avLst/>
          </a:prstGeom>
        </p:spPr>
        <p:txBody>
          <a:bodyPr/>
          <a:lstStyle>
            <a:lvl1pPr marL="0" indent="0">
              <a:buNone/>
              <a:defRPr>
                <a:solidFill>
                  <a:schemeClr val="tx1"/>
                </a:solidFill>
              </a:defRPr>
            </a:lvl1pPr>
          </a:lstStyle>
          <a:p>
            <a:r>
              <a:rPr lang="en-US"/>
              <a:t>Click icon to add chart</a:t>
            </a:r>
          </a:p>
        </p:txBody>
      </p:sp>
      <p:sp>
        <p:nvSpPr>
          <p:cNvPr id="6" name="Title Placeholder 1">
            <a:extLst>
              <a:ext uri="{FF2B5EF4-FFF2-40B4-BE49-F238E27FC236}">
                <a16:creationId xmlns:a16="http://schemas.microsoft.com/office/drawing/2014/main" id="{75C67F8C-ADB5-0740-A2E8-26D3D52BD165}"/>
              </a:ext>
            </a:extLst>
          </p:cNvPr>
          <p:cNvSpPr>
            <a:spLocks noGrp="1"/>
          </p:cNvSpPr>
          <p:nvPr>
            <p:ph type="title" hasCustomPrompt="1"/>
          </p:nvPr>
        </p:nvSpPr>
        <p:spPr>
          <a:xfrm>
            <a:off x="457199" y="123568"/>
            <a:ext cx="8220243" cy="415498"/>
          </a:xfrm>
          <a:prstGeom prst="rect">
            <a:avLst/>
          </a:prstGeom>
        </p:spPr>
        <p:txBody>
          <a:bodyPr vert="horz" lIns="0" tIns="0" rIns="91440" bIns="45720" rtlCol="0" anchor="t">
            <a:noAutofit/>
          </a:bodyPr>
          <a:lstStyle/>
          <a:p>
            <a:r>
              <a:rPr lang="en-US"/>
              <a:t>Insert Title Here Image &amp; Copy</a:t>
            </a:r>
          </a:p>
        </p:txBody>
      </p:sp>
      <p:sp>
        <p:nvSpPr>
          <p:cNvPr id="7" name="Text Placeholder 4">
            <a:extLst>
              <a:ext uri="{FF2B5EF4-FFF2-40B4-BE49-F238E27FC236}">
                <a16:creationId xmlns:a16="http://schemas.microsoft.com/office/drawing/2014/main" id="{C12EBDDF-5E8A-08E3-4231-ED10F1326255}"/>
              </a:ext>
            </a:extLst>
          </p:cNvPr>
          <p:cNvSpPr>
            <a:spLocks noGrp="1"/>
          </p:cNvSpPr>
          <p:nvPr>
            <p:ph idx="1"/>
          </p:nvPr>
        </p:nvSpPr>
        <p:spPr>
          <a:xfrm>
            <a:off x="457200" y="2429425"/>
            <a:ext cx="1985218" cy="1818626"/>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11" name="Chart Placeholder 6">
            <a:extLst>
              <a:ext uri="{FF2B5EF4-FFF2-40B4-BE49-F238E27FC236}">
                <a16:creationId xmlns:a16="http://schemas.microsoft.com/office/drawing/2014/main" id="{84692620-1CF2-21C8-F61E-279D6088399C}"/>
              </a:ext>
            </a:extLst>
          </p:cNvPr>
          <p:cNvSpPr>
            <a:spLocks noGrp="1"/>
          </p:cNvSpPr>
          <p:nvPr>
            <p:ph type="chart" sz="quarter" idx="24"/>
          </p:nvPr>
        </p:nvSpPr>
        <p:spPr>
          <a:xfrm>
            <a:off x="2538661" y="721883"/>
            <a:ext cx="1985216" cy="1617557"/>
          </a:xfrm>
          <a:prstGeom prst="rect">
            <a:avLst/>
          </a:prstGeom>
        </p:spPr>
        <p:txBody>
          <a:bodyPr/>
          <a:lstStyle>
            <a:lvl1pPr marL="0" indent="0">
              <a:buNone/>
              <a:defRPr>
                <a:solidFill>
                  <a:schemeClr val="tx1"/>
                </a:solidFill>
              </a:defRPr>
            </a:lvl1pPr>
          </a:lstStyle>
          <a:p>
            <a:r>
              <a:rPr lang="en-US"/>
              <a:t>Click icon to add chart</a:t>
            </a:r>
          </a:p>
        </p:txBody>
      </p:sp>
      <p:sp>
        <p:nvSpPr>
          <p:cNvPr id="15" name="Text Placeholder 4">
            <a:extLst>
              <a:ext uri="{FF2B5EF4-FFF2-40B4-BE49-F238E27FC236}">
                <a16:creationId xmlns:a16="http://schemas.microsoft.com/office/drawing/2014/main" id="{61BE2E6F-83B1-920C-46A2-9FB21A81B36C}"/>
              </a:ext>
            </a:extLst>
          </p:cNvPr>
          <p:cNvSpPr>
            <a:spLocks noGrp="1"/>
          </p:cNvSpPr>
          <p:nvPr>
            <p:ph idx="25"/>
          </p:nvPr>
        </p:nvSpPr>
        <p:spPr>
          <a:xfrm>
            <a:off x="2538661" y="2429425"/>
            <a:ext cx="1985218" cy="1818626"/>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16" name="Chart Placeholder 6">
            <a:extLst>
              <a:ext uri="{FF2B5EF4-FFF2-40B4-BE49-F238E27FC236}">
                <a16:creationId xmlns:a16="http://schemas.microsoft.com/office/drawing/2014/main" id="{D108831C-8C93-7BEA-4466-65381D27082A}"/>
              </a:ext>
            </a:extLst>
          </p:cNvPr>
          <p:cNvSpPr>
            <a:spLocks noGrp="1"/>
          </p:cNvSpPr>
          <p:nvPr>
            <p:ph type="chart" sz="quarter" idx="26"/>
          </p:nvPr>
        </p:nvSpPr>
        <p:spPr>
          <a:xfrm>
            <a:off x="4620122" y="721883"/>
            <a:ext cx="1985216" cy="1617557"/>
          </a:xfrm>
          <a:prstGeom prst="rect">
            <a:avLst/>
          </a:prstGeom>
        </p:spPr>
        <p:txBody>
          <a:bodyPr/>
          <a:lstStyle>
            <a:lvl1pPr marL="0" indent="0">
              <a:buNone/>
              <a:defRPr>
                <a:solidFill>
                  <a:schemeClr val="tx1"/>
                </a:solidFill>
              </a:defRPr>
            </a:lvl1pPr>
          </a:lstStyle>
          <a:p>
            <a:r>
              <a:rPr lang="en-US"/>
              <a:t>Click icon to add chart</a:t>
            </a:r>
          </a:p>
        </p:txBody>
      </p:sp>
      <p:sp>
        <p:nvSpPr>
          <p:cNvPr id="17" name="Text Placeholder 4">
            <a:extLst>
              <a:ext uri="{FF2B5EF4-FFF2-40B4-BE49-F238E27FC236}">
                <a16:creationId xmlns:a16="http://schemas.microsoft.com/office/drawing/2014/main" id="{F721AD43-8ED1-C524-D6AF-1298683C9AAD}"/>
              </a:ext>
            </a:extLst>
          </p:cNvPr>
          <p:cNvSpPr>
            <a:spLocks noGrp="1"/>
          </p:cNvSpPr>
          <p:nvPr>
            <p:ph idx="27"/>
          </p:nvPr>
        </p:nvSpPr>
        <p:spPr>
          <a:xfrm>
            <a:off x="4620122" y="2429425"/>
            <a:ext cx="1985218" cy="1818626"/>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18" name="Chart Placeholder 6">
            <a:extLst>
              <a:ext uri="{FF2B5EF4-FFF2-40B4-BE49-F238E27FC236}">
                <a16:creationId xmlns:a16="http://schemas.microsoft.com/office/drawing/2014/main" id="{AD48C0FF-B872-59E9-9FA3-AF1CD37F9501}"/>
              </a:ext>
            </a:extLst>
          </p:cNvPr>
          <p:cNvSpPr>
            <a:spLocks noGrp="1"/>
          </p:cNvSpPr>
          <p:nvPr>
            <p:ph type="chart" sz="quarter" idx="28"/>
          </p:nvPr>
        </p:nvSpPr>
        <p:spPr>
          <a:xfrm>
            <a:off x="6701582" y="721883"/>
            <a:ext cx="1985216" cy="1617557"/>
          </a:xfrm>
          <a:prstGeom prst="rect">
            <a:avLst/>
          </a:prstGeom>
        </p:spPr>
        <p:txBody>
          <a:bodyPr/>
          <a:lstStyle>
            <a:lvl1pPr marL="0" indent="0">
              <a:buNone/>
              <a:defRPr>
                <a:solidFill>
                  <a:schemeClr val="tx1"/>
                </a:solidFill>
              </a:defRPr>
            </a:lvl1pPr>
          </a:lstStyle>
          <a:p>
            <a:r>
              <a:rPr lang="en-US"/>
              <a:t>Click icon to add chart</a:t>
            </a:r>
          </a:p>
        </p:txBody>
      </p:sp>
      <p:sp>
        <p:nvSpPr>
          <p:cNvPr id="21" name="Text Placeholder 4">
            <a:extLst>
              <a:ext uri="{FF2B5EF4-FFF2-40B4-BE49-F238E27FC236}">
                <a16:creationId xmlns:a16="http://schemas.microsoft.com/office/drawing/2014/main" id="{A8F4405D-3A1F-350E-3753-F7310B8CC94C}"/>
              </a:ext>
            </a:extLst>
          </p:cNvPr>
          <p:cNvSpPr>
            <a:spLocks noGrp="1"/>
          </p:cNvSpPr>
          <p:nvPr>
            <p:ph idx="29"/>
          </p:nvPr>
        </p:nvSpPr>
        <p:spPr>
          <a:xfrm>
            <a:off x="6701582" y="2429425"/>
            <a:ext cx="1985218" cy="1818626"/>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harts &amp; Copy 2">
    <p:spTree>
      <p:nvGrpSpPr>
        <p:cNvPr id="1" name=""/>
        <p:cNvGrpSpPr/>
        <p:nvPr/>
      </p:nvGrpSpPr>
      <p:grpSpPr>
        <a:xfrm>
          <a:off x="0" y="0"/>
          <a:ext cx="0" cy="0"/>
          <a:chOff x="0" y="0"/>
          <a:chExt cx="0" cy="0"/>
        </a:xfrm>
      </p:grpSpPr>
      <p:sp>
        <p:nvSpPr>
          <p:cNvPr id="3" name="Chart Placeholder 6">
            <a:extLst>
              <a:ext uri="{FF2B5EF4-FFF2-40B4-BE49-F238E27FC236}">
                <a16:creationId xmlns:a16="http://schemas.microsoft.com/office/drawing/2014/main" id="{2E5BD443-A2ED-4728-2C8E-3D755CFCE860}"/>
              </a:ext>
            </a:extLst>
          </p:cNvPr>
          <p:cNvSpPr>
            <a:spLocks noGrp="1"/>
          </p:cNvSpPr>
          <p:nvPr>
            <p:ph type="chart" sz="quarter" idx="23"/>
          </p:nvPr>
        </p:nvSpPr>
        <p:spPr>
          <a:xfrm>
            <a:off x="457200" y="721883"/>
            <a:ext cx="1985216" cy="1617557"/>
          </a:xfrm>
          <a:prstGeom prst="rect">
            <a:avLst/>
          </a:prstGeom>
        </p:spPr>
        <p:txBody>
          <a:bodyPr/>
          <a:lstStyle>
            <a:lvl1pPr marL="0" indent="0">
              <a:buNone/>
              <a:defRPr>
                <a:solidFill>
                  <a:schemeClr val="tx1"/>
                </a:solidFill>
              </a:defRPr>
            </a:lvl1pPr>
          </a:lstStyle>
          <a:p>
            <a:r>
              <a:rPr lang="en-US"/>
              <a:t>Click icon to add chart</a:t>
            </a:r>
          </a:p>
        </p:txBody>
      </p:sp>
      <p:sp>
        <p:nvSpPr>
          <p:cNvPr id="4" name="Title Placeholder 1">
            <a:extLst>
              <a:ext uri="{FF2B5EF4-FFF2-40B4-BE49-F238E27FC236}">
                <a16:creationId xmlns:a16="http://schemas.microsoft.com/office/drawing/2014/main" id="{DB32806E-9ECC-38A3-DC09-ECFAA09DECE0}"/>
              </a:ext>
            </a:extLst>
          </p:cNvPr>
          <p:cNvSpPr>
            <a:spLocks noGrp="1"/>
          </p:cNvSpPr>
          <p:nvPr>
            <p:ph type="title" hasCustomPrompt="1"/>
          </p:nvPr>
        </p:nvSpPr>
        <p:spPr>
          <a:xfrm>
            <a:off x="457199" y="123568"/>
            <a:ext cx="8220243" cy="415498"/>
          </a:xfrm>
          <a:prstGeom prst="rect">
            <a:avLst/>
          </a:prstGeom>
        </p:spPr>
        <p:txBody>
          <a:bodyPr vert="horz" lIns="0" tIns="0" rIns="91440" bIns="45720" rtlCol="0" anchor="t">
            <a:noAutofit/>
          </a:bodyPr>
          <a:lstStyle/>
          <a:p>
            <a:r>
              <a:rPr lang="en-US"/>
              <a:t>Insert Title Here Image &amp; Copy</a:t>
            </a:r>
          </a:p>
        </p:txBody>
      </p:sp>
      <p:sp>
        <p:nvSpPr>
          <p:cNvPr id="6" name="Text Placeholder 4">
            <a:extLst>
              <a:ext uri="{FF2B5EF4-FFF2-40B4-BE49-F238E27FC236}">
                <a16:creationId xmlns:a16="http://schemas.microsoft.com/office/drawing/2014/main" id="{C335EF53-0ED0-E456-0EDC-5FE74C8B6DB4}"/>
              </a:ext>
            </a:extLst>
          </p:cNvPr>
          <p:cNvSpPr>
            <a:spLocks noGrp="1"/>
          </p:cNvSpPr>
          <p:nvPr>
            <p:ph idx="1"/>
          </p:nvPr>
        </p:nvSpPr>
        <p:spPr>
          <a:xfrm>
            <a:off x="457200" y="2429425"/>
            <a:ext cx="8220242" cy="1818626"/>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7" name="Chart Placeholder 6">
            <a:extLst>
              <a:ext uri="{FF2B5EF4-FFF2-40B4-BE49-F238E27FC236}">
                <a16:creationId xmlns:a16="http://schemas.microsoft.com/office/drawing/2014/main" id="{CDBB8CA8-138E-D4E5-EC06-E6159F408057}"/>
              </a:ext>
            </a:extLst>
          </p:cNvPr>
          <p:cNvSpPr>
            <a:spLocks noGrp="1"/>
          </p:cNvSpPr>
          <p:nvPr>
            <p:ph type="chart" sz="quarter" idx="24"/>
          </p:nvPr>
        </p:nvSpPr>
        <p:spPr>
          <a:xfrm>
            <a:off x="2538661" y="721883"/>
            <a:ext cx="1985216" cy="1617557"/>
          </a:xfrm>
          <a:prstGeom prst="rect">
            <a:avLst/>
          </a:prstGeom>
        </p:spPr>
        <p:txBody>
          <a:bodyPr/>
          <a:lstStyle>
            <a:lvl1pPr marL="0" indent="0">
              <a:buNone/>
              <a:defRPr>
                <a:solidFill>
                  <a:schemeClr val="tx1"/>
                </a:solidFill>
              </a:defRPr>
            </a:lvl1pPr>
          </a:lstStyle>
          <a:p>
            <a:r>
              <a:rPr lang="en-US"/>
              <a:t>Click icon to add chart</a:t>
            </a:r>
          </a:p>
        </p:txBody>
      </p:sp>
      <p:sp>
        <p:nvSpPr>
          <p:cNvPr id="10" name="Chart Placeholder 6">
            <a:extLst>
              <a:ext uri="{FF2B5EF4-FFF2-40B4-BE49-F238E27FC236}">
                <a16:creationId xmlns:a16="http://schemas.microsoft.com/office/drawing/2014/main" id="{B0ABA782-7951-5B68-3A4B-84800F7C5591}"/>
              </a:ext>
            </a:extLst>
          </p:cNvPr>
          <p:cNvSpPr>
            <a:spLocks noGrp="1"/>
          </p:cNvSpPr>
          <p:nvPr>
            <p:ph type="chart" sz="quarter" idx="26"/>
          </p:nvPr>
        </p:nvSpPr>
        <p:spPr>
          <a:xfrm>
            <a:off x="4620122" y="721883"/>
            <a:ext cx="1985216" cy="1617557"/>
          </a:xfrm>
          <a:prstGeom prst="rect">
            <a:avLst/>
          </a:prstGeom>
        </p:spPr>
        <p:txBody>
          <a:bodyPr/>
          <a:lstStyle>
            <a:lvl1pPr marL="0" indent="0">
              <a:buNone/>
              <a:defRPr>
                <a:solidFill>
                  <a:schemeClr val="tx1"/>
                </a:solidFill>
              </a:defRPr>
            </a:lvl1pPr>
          </a:lstStyle>
          <a:p>
            <a:r>
              <a:rPr lang="en-US"/>
              <a:t>Click icon to add chart</a:t>
            </a:r>
          </a:p>
        </p:txBody>
      </p:sp>
      <p:sp>
        <p:nvSpPr>
          <p:cNvPr id="12" name="Chart Placeholder 6">
            <a:extLst>
              <a:ext uri="{FF2B5EF4-FFF2-40B4-BE49-F238E27FC236}">
                <a16:creationId xmlns:a16="http://schemas.microsoft.com/office/drawing/2014/main" id="{EDE0EE97-A19D-FE1D-3D04-2C6DEF8AF491}"/>
              </a:ext>
            </a:extLst>
          </p:cNvPr>
          <p:cNvSpPr>
            <a:spLocks noGrp="1"/>
          </p:cNvSpPr>
          <p:nvPr>
            <p:ph type="chart" sz="quarter" idx="28"/>
          </p:nvPr>
        </p:nvSpPr>
        <p:spPr>
          <a:xfrm>
            <a:off x="6701582" y="721883"/>
            <a:ext cx="1985216" cy="1617557"/>
          </a:xfrm>
          <a:prstGeom prst="rect">
            <a:avLst/>
          </a:prstGeom>
        </p:spPr>
        <p:txBody>
          <a:bodyPr/>
          <a:lstStyle>
            <a:lvl1pPr marL="0" indent="0">
              <a:buNone/>
              <a:defRPr>
                <a:solidFill>
                  <a:schemeClr val="tx1"/>
                </a:solidFill>
              </a:defRPr>
            </a:lvl1pPr>
          </a:lstStyle>
          <a:p>
            <a:r>
              <a:rPr lang="en-US"/>
              <a:t>Click icon to add chart</a:t>
            </a:r>
          </a:p>
        </p:txBody>
      </p:sp>
    </p:spTree>
    <p:extLst>
      <p:ext uri="{BB962C8B-B14F-4D97-AF65-F5344CB8AC3E}">
        <p14:creationId xmlns:p14="http://schemas.microsoft.com/office/powerpoint/2010/main" val="2308994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amp; Copy">
    <p:spTree>
      <p:nvGrpSpPr>
        <p:cNvPr id="1" name=""/>
        <p:cNvGrpSpPr/>
        <p:nvPr/>
      </p:nvGrpSpPr>
      <p:grpSpPr>
        <a:xfrm>
          <a:off x="0" y="0"/>
          <a:ext cx="0" cy="0"/>
          <a:chOff x="0" y="0"/>
          <a:chExt cx="0" cy="0"/>
        </a:xfrm>
      </p:grpSpPr>
      <p:sp>
        <p:nvSpPr>
          <p:cNvPr id="3" name="Chart Placeholder 6">
            <a:extLst>
              <a:ext uri="{FF2B5EF4-FFF2-40B4-BE49-F238E27FC236}">
                <a16:creationId xmlns:a16="http://schemas.microsoft.com/office/drawing/2014/main" id="{C0C0F081-2FD9-B43B-58C1-825ACA5D7D6E}"/>
              </a:ext>
            </a:extLst>
          </p:cNvPr>
          <p:cNvSpPr>
            <a:spLocks noGrp="1"/>
          </p:cNvSpPr>
          <p:nvPr>
            <p:ph type="chart" sz="quarter" idx="23"/>
          </p:nvPr>
        </p:nvSpPr>
        <p:spPr>
          <a:xfrm>
            <a:off x="457199" y="594059"/>
            <a:ext cx="4031673" cy="3653992"/>
          </a:xfrm>
          <a:prstGeom prst="rect">
            <a:avLst/>
          </a:prstGeom>
        </p:spPr>
        <p:txBody>
          <a:bodyPr/>
          <a:lstStyle>
            <a:lvl1pPr marL="0" indent="0">
              <a:buNone/>
              <a:defRPr>
                <a:solidFill>
                  <a:schemeClr val="tx1"/>
                </a:solidFill>
              </a:defRPr>
            </a:lvl1pPr>
          </a:lstStyle>
          <a:p>
            <a:r>
              <a:rPr lang="en-US"/>
              <a:t>Click icon to add chart</a:t>
            </a:r>
          </a:p>
        </p:txBody>
      </p:sp>
      <p:sp>
        <p:nvSpPr>
          <p:cNvPr id="4" name="Title Placeholder 1">
            <a:extLst>
              <a:ext uri="{FF2B5EF4-FFF2-40B4-BE49-F238E27FC236}">
                <a16:creationId xmlns:a16="http://schemas.microsoft.com/office/drawing/2014/main" id="{B02DDF5A-9959-8DC9-9BC2-32E5E44F6934}"/>
              </a:ext>
            </a:extLst>
          </p:cNvPr>
          <p:cNvSpPr>
            <a:spLocks noGrp="1"/>
          </p:cNvSpPr>
          <p:nvPr>
            <p:ph type="title" hasCustomPrompt="1"/>
          </p:nvPr>
        </p:nvSpPr>
        <p:spPr>
          <a:xfrm>
            <a:off x="457199" y="123568"/>
            <a:ext cx="8220243" cy="415498"/>
          </a:xfrm>
          <a:prstGeom prst="rect">
            <a:avLst/>
          </a:prstGeom>
        </p:spPr>
        <p:txBody>
          <a:bodyPr vert="horz" lIns="0" tIns="0" rIns="91440" bIns="45720" rtlCol="0" anchor="t">
            <a:noAutofit/>
          </a:bodyPr>
          <a:lstStyle/>
          <a:p>
            <a:r>
              <a:rPr lang="en-US"/>
              <a:t>Insert Title Here Image &amp; Copy</a:t>
            </a:r>
          </a:p>
        </p:txBody>
      </p:sp>
      <p:sp>
        <p:nvSpPr>
          <p:cNvPr id="5" name="Text Placeholder 4">
            <a:extLst>
              <a:ext uri="{FF2B5EF4-FFF2-40B4-BE49-F238E27FC236}">
                <a16:creationId xmlns:a16="http://schemas.microsoft.com/office/drawing/2014/main" id="{F9836885-E7CC-2D0D-BE78-C9D206BF050A}"/>
              </a:ext>
            </a:extLst>
          </p:cNvPr>
          <p:cNvSpPr>
            <a:spLocks noGrp="1"/>
          </p:cNvSpPr>
          <p:nvPr>
            <p:ph idx="1"/>
          </p:nvPr>
        </p:nvSpPr>
        <p:spPr>
          <a:xfrm>
            <a:off x="4562641" y="594059"/>
            <a:ext cx="4114801" cy="3653992"/>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py &amp; Chart">
    <p:spTree>
      <p:nvGrpSpPr>
        <p:cNvPr id="1" name=""/>
        <p:cNvGrpSpPr/>
        <p:nvPr/>
      </p:nvGrpSpPr>
      <p:grpSpPr>
        <a:xfrm>
          <a:off x="0" y="0"/>
          <a:ext cx="0" cy="0"/>
          <a:chOff x="0" y="0"/>
          <a:chExt cx="0" cy="0"/>
        </a:xfrm>
      </p:grpSpPr>
      <p:sp>
        <p:nvSpPr>
          <p:cNvPr id="6" name="Chart Placeholder 6">
            <a:extLst>
              <a:ext uri="{FF2B5EF4-FFF2-40B4-BE49-F238E27FC236}">
                <a16:creationId xmlns:a16="http://schemas.microsoft.com/office/drawing/2014/main" id="{824676FA-0309-7D0D-5176-B13CCA6B0E5A}"/>
              </a:ext>
            </a:extLst>
          </p:cNvPr>
          <p:cNvSpPr>
            <a:spLocks noGrp="1"/>
          </p:cNvSpPr>
          <p:nvPr>
            <p:ph type="chart" sz="quarter" idx="23"/>
          </p:nvPr>
        </p:nvSpPr>
        <p:spPr>
          <a:xfrm>
            <a:off x="4655127" y="594059"/>
            <a:ext cx="4022315" cy="3653992"/>
          </a:xfrm>
          <a:prstGeom prst="rect">
            <a:avLst/>
          </a:prstGeom>
        </p:spPr>
        <p:txBody>
          <a:bodyPr/>
          <a:lstStyle>
            <a:lvl1pPr marL="0" indent="0">
              <a:buNone/>
              <a:defRPr>
                <a:solidFill>
                  <a:schemeClr val="tx1"/>
                </a:solidFill>
              </a:defRPr>
            </a:lvl1pPr>
          </a:lstStyle>
          <a:p>
            <a:r>
              <a:rPr lang="en-US"/>
              <a:t>Click icon to add chart</a:t>
            </a:r>
          </a:p>
        </p:txBody>
      </p:sp>
      <p:sp>
        <p:nvSpPr>
          <p:cNvPr id="3" name="Title Placeholder 1">
            <a:extLst>
              <a:ext uri="{FF2B5EF4-FFF2-40B4-BE49-F238E27FC236}">
                <a16:creationId xmlns:a16="http://schemas.microsoft.com/office/drawing/2014/main" id="{4CD44697-F530-C03F-2D23-2445D57A8883}"/>
              </a:ext>
            </a:extLst>
          </p:cNvPr>
          <p:cNvSpPr>
            <a:spLocks noGrp="1"/>
          </p:cNvSpPr>
          <p:nvPr>
            <p:ph type="title" hasCustomPrompt="1"/>
          </p:nvPr>
        </p:nvSpPr>
        <p:spPr>
          <a:xfrm>
            <a:off x="457199" y="123568"/>
            <a:ext cx="8220243" cy="415498"/>
          </a:xfrm>
          <a:prstGeom prst="rect">
            <a:avLst/>
          </a:prstGeom>
        </p:spPr>
        <p:txBody>
          <a:bodyPr vert="horz" lIns="0" tIns="0" rIns="91440" bIns="45720" rtlCol="0" anchor="t">
            <a:noAutofit/>
          </a:bodyPr>
          <a:lstStyle/>
          <a:p>
            <a:r>
              <a:rPr lang="en-US"/>
              <a:t>Insert Title Here Image &amp; Copy</a:t>
            </a:r>
          </a:p>
        </p:txBody>
      </p:sp>
      <p:sp>
        <p:nvSpPr>
          <p:cNvPr id="4" name="Text Placeholder 4">
            <a:extLst>
              <a:ext uri="{FF2B5EF4-FFF2-40B4-BE49-F238E27FC236}">
                <a16:creationId xmlns:a16="http://schemas.microsoft.com/office/drawing/2014/main" id="{4DD29596-5DF3-52F6-A165-6C84E1F23E96}"/>
              </a:ext>
            </a:extLst>
          </p:cNvPr>
          <p:cNvSpPr>
            <a:spLocks noGrp="1"/>
          </p:cNvSpPr>
          <p:nvPr>
            <p:ph idx="1"/>
          </p:nvPr>
        </p:nvSpPr>
        <p:spPr>
          <a:xfrm>
            <a:off x="457199" y="594059"/>
            <a:ext cx="4114801" cy="3653992"/>
          </a:xfrm>
          <a:prstGeom prst="rect">
            <a:avLst/>
          </a:prstGeom>
        </p:spPr>
        <p:txBody>
          <a:bodyPr vert="horz" wrap="square" lIns="0" tIns="45720" rIns="91440" bIns="45720" rtlCol="0">
            <a:noAutofit/>
          </a:body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py &amp; Ch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C7B926-B124-4173-66D6-40FE88F7621A}"/>
              </a:ext>
            </a:extLst>
          </p:cNvPr>
          <p:cNvSpPr/>
          <p:nvPr userDrawn="1"/>
        </p:nvSpPr>
        <p:spPr>
          <a:xfrm>
            <a:off x="0" y="4295775"/>
            <a:ext cx="9144000" cy="847725"/>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D89E338A-6874-C3D9-DD50-D4829A9F5F68}"/>
              </a:ext>
            </a:extLst>
          </p:cNvPr>
          <p:cNvSpPr>
            <a:spLocks noGrp="1"/>
          </p:cNvSpPr>
          <p:nvPr>
            <p:ph type="ctrTitle" hasCustomPrompt="1"/>
          </p:nvPr>
        </p:nvSpPr>
        <p:spPr>
          <a:xfrm>
            <a:off x="470499" y="2038173"/>
            <a:ext cx="8351856" cy="664797"/>
          </a:xfrm>
        </p:spPr>
        <p:txBody>
          <a:bodyPr lIns="0" bIns="0" anchor="b" anchorCtr="0">
            <a:spAutoFit/>
          </a:bodyPr>
          <a:lstStyle>
            <a:lvl1pPr algn="ctr">
              <a:lnSpc>
                <a:spcPct val="90000"/>
              </a:lnSpc>
              <a:defRPr sz="4800" b="1" baseline="0">
                <a:solidFill>
                  <a:schemeClr val="accent1"/>
                </a:solidFill>
                <a:latin typeface="Arial"/>
                <a:cs typeface="Arial"/>
              </a:defRPr>
            </a:lvl1pPr>
          </a:lstStyle>
          <a:p>
            <a:r>
              <a:rPr lang="en-US"/>
              <a:t>Questions?</a:t>
            </a:r>
          </a:p>
        </p:txBody>
      </p:sp>
      <p:pic>
        <p:nvPicPr>
          <p:cNvPr id="12" name="Graphic 11">
            <a:extLst>
              <a:ext uri="{FF2B5EF4-FFF2-40B4-BE49-F238E27FC236}">
                <a16:creationId xmlns:a16="http://schemas.microsoft.com/office/drawing/2014/main" id="{918FD301-E754-7449-B322-995679D41C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648200"/>
            <a:ext cx="9144000" cy="495300"/>
          </a:xfrm>
          <a:prstGeom prst="rect">
            <a:avLst/>
          </a:prstGeom>
        </p:spPr>
      </p:pic>
      <p:pic>
        <p:nvPicPr>
          <p:cNvPr id="3" name="Graphic 2">
            <a:extLst>
              <a:ext uri="{FF2B5EF4-FFF2-40B4-BE49-F238E27FC236}">
                <a16:creationId xmlns:a16="http://schemas.microsoft.com/office/drawing/2014/main" id="{47E73198-EFC1-EBC1-30A1-DB508E7A38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533031" y="4096311"/>
            <a:ext cx="4077938" cy="398928"/>
          </a:xfrm>
          <a:prstGeom prst="rect">
            <a:avLst/>
          </a:prstGeom>
        </p:spPr>
      </p:pic>
    </p:spTree>
    <p:extLst>
      <p:ext uri="{BB962C8B-B14F-4D97-AF65-F5344CB8AC3E}">
        <p14:creationId xmlns:p14="http://schemas.microsoft.com/office/powerpoint/2010/main" val="8927969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py &amp; Ch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C7B926-B124-4173-66D6-40FE88F7621A}"/>
              </a:ext>
            </a:extLst>
          </p:cNvPr>
          <p:cNvSpPr/>
          <p:nvPr userDrawn="1"/>
        </p:nvSpPr>
        <p:spPr>
          <a:xfrm>
            <a:off x="0" y="4295775"/>
            <a:ext cx="9144000" cy="847725"/>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D89E338A-6874-C3D9-DD50-D4829A9F5F68}"/>
              </a:ext>
            </a:extLst>
          </p:cNvPr>
          <p:cNvSpPr>
            <a:spLocks noGrp="1"/>
          </p:cNvSpPr>
          <p:nvPr>
            <p:ph type="ctrTitle" hasCustomPrompt="1"/>
          </p:nvPr>
        </p:nvSpPr>
        <p:spPr>
          <a:xfrm>
            <a:off x="470499" y="2038173"/>
            <a:ext cx="8351856" cy="664797"/>
          </a:xfrm>
        </p:spPr>
        <p:txBody>
          <a:bodyPr lIns="0" bIns="0" anchor="b" anchorCtr="0">
            <a:spAutoFit/>
          </a:bodyPr>
          <a:lstStyle>
            <a:lvl1pPr algn="ctr">
              <a:lnSpc>
                <a:spcPct val="90000"/>
              </a:lnSpc>
              <a:defRPr sz="4800" b="1" baseline="0">
                <a:solidFill>
                  <a:schemeClr val="accent1"/>
                </a:solidFill>
                <a:latin typeface="Arial"/>
                <a:cs typeface="Arial"/>
              </a:defRPr>
            </a:lvl1pPr>
          </a:lstStyle>
          <a:p>
            <a:r>
              <a:rPr lang="en-US"/>
              <a:t>Thank you</a:t>
            </a:r>
          </a:p>
        </p:txBody>
      </p:sp>
      <p:pic>
        <p:nvPicPr>
          <p:cNvPr id="12" name="Graphic 11">
            <a:extLst>
              <a:ext uri="{FF2B5EF4-FFF2-40B4-BE49-F238E27FC236}">
                <a16:creationId xmlns:a16="http://schemas.microsoft.com/office/drawing/2014/main" id="{918FD301-E754-7449-B322-995679D41C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648200"/>
            <a:ext cx="9144000" cy="495300"/>
          </a:xfrm>
          <a:prstGeom prst="rect">
            <a:avLst/>
          </a:prstGeom>
        </p:spPr>
      </p:pic>
      <p:pic>
        <p:nvPicPr>
          <p:cNvPr id="6" name="Graphic 5">
            <a:extLst>
              <a:ext uri="{FF2B5EF4-FFF2-40B4-BE49-F238E27FC236}">
                <a16:creationId xmlns:a16="http://schemas.microsoft.com/office/drawing/2014/main" id="{DFEBFF9F-8370-DBDA-110A-5880E2F730C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533031" y="4096311"/>
            <a:ext cx="4077938" cy="398928"/>
          </a:xfrm>
          <a:prstGeom prst="rect">
            <a:avLst/>
          </a:prstGeom>
        </p:spPr>
      </p:pic>
    </p:spTree>
    <p:extLst>
      <p:ext uri="{BB962C8B-B14F-4D97-AF65-F5344CB8AC3E}">
        <p14:creationId xmlns:p14="http://schemas.microsoft.com/office/powerpoint/2010/main" val="10182213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 Logos">
    <p:spTree>
      <p:nvGrpSpPr>
        <p:cNvPr id="1" name=""/>
        <p:cNvGrpSpPr/>
        <p:nvPr/>
      </p:nvGrpSpPr>
      <p:grpSpPr>
        <a:xfrm>
          <a:off x="0" y="0"/>
          <a:ext cx="0" cy="0"/>
          <a:chOff x="0" y="0"/>
          <a:chExt cx="0" cy="0"/>
        </a:xfrm>
      </p:grpSpPr>
      <p:sp>
        <p:nvSpPr>
          <p:cNvPr id="7" name="Rectangle 6"/>
          <p:cNvSpPr/>
          <p:nvPr userDrawn="1"/>
        </p:nvSpPr>
        <p:spPr>
          <a:xfrm>
            <a:off x="0" y="0"/>
            <a:ext cx="9144000" cy="51435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71DB78F4-9839-506D-85A5-E46EC9A346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648200"/>
            <a:ext cx="9144000" cy="495300"/>
          </a:xfrm>
          <a:prstGeom prst="rect">
            <a:avLst/>
          </a:prstGeom>
        </p:spPr>
      </p:pic>
      <p:pic>
        <p:nvPicPr>
          <p:cNvPr id="3" name="Graphic 2">
            <a:extLst>
              <a:ext uri="{FF2B5EF4-FFF2-40B4-BE49-F238E27FC236}">
                <a16:creationId xmlns:a16="http://schemas.microsoft.com/office/drawing/2014/main" id="{E902B94D-AA91-6B02-2AAE-FBBC52A5420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533031" y="2280183"/>
            <a:ext cx="4077938" cy="398928"/>
          </a:xfrm>
          <a:prstGeom prst="rect">
            <a:avLst/>
          </a:prstGeom>
        </p:spPr>
      </p:pic>
    </p:spTree>
    <p:extLst>
      <p:ext uri="{BB962C8B-B14F-4D97-AF65-F5344CB8AC3E}">
        <p14:creationId xmlns:p14="http://schemas.microsoft.com/office/powerpoint/2010/main" val="3164761384"/>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ED615F03-C367-24C6-9AAC-7A87FF5B668A}"/>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0" y="4648200"/>
            <a:ext cx="9144000" cy="495300"/>
          </a:xfrm>
          <a:prstGeom prst="rect">
            <a:avLst/>
          </a:prstGeom>
        </p:spPr>
      </p:pic>
      <p:sp>
        <p:nvSpPr>
          <p:cNvPr id="2" name="Title Placeholder 1"/>
          <p:cNvSpPr>
            <a:spLocks noGrp="1"/>
          </p:cNvSpPr>
          <p:nvPr>
            <p:ph type="title"/>
          </p:nvPr>
        </p:nvSpPr>
        <p:spPr>
          <a:xfrm>
            <a:off x="457199" y="1"/>
            <a:ext cx="8149665" cy="937610"/>
          </a:xfrm>
          <a:prstGeom prst="rect">
            <a:avLst/>
          </a:prstGeom>
        </p:spPr>
        <p:txBody>
          <a:bodyPr vert="horz" lIns="0" tIns="0" rIns="91440" bIns="45720" rtlCol="0" anchor="b">
            <a:noAutofit/>
          </a:bodyPr>
          <a:lstStyle/>
          <a:p>
            <a:r>
              <a:rPr lang="en-US"/>
              <a:t>Insert Title Here Image &amp; Copy</a:t>
            </a:r>
          </a:p>
        </p:txBody>
      </p:sp>
      <p:sp>
        <p:nvSpPr>
          <p:cNvPr id="8" name="Slide Number Placeholder 5"/>
          <p:cNvSpPr txBox="1">
            <a:spLocks/>
          </p:cNvSpPr>
          <p:nvPr/>
        </p:nvSpPr>
        <p:spPr>
          <a:xfrm>
            <a:off x="4311873" y="4988311"/>
            <a:ext cx="520255" cy="155189"/>
          </a:xfrm>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rgbClr val="8D8E8D"/>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C3BF4A0-F7E7-4F05-98F8-4325DF1FDB43}" type="slidenum">
              <a:rPr lang="en-US" sz="800" b="0" smtClean="0">
                <a:solidFill>
                  <a:schemeClr val="bg1"/>
                </a:solidFill>
              </a:rPr>
              <a:pPr/>
              <a:t>‹#›</a:t>
            </a:fld>
            <a:endParaRPr lang="en-US" sz="800" b="0">
              <a:solidFill>
                <a:schemeClr val="bg1"/>
              </a:solidFill>
            </a:endParaRPr>
          </a:p>
        </p:txBody>
      </p:sp>
      <p:sp>
        <p:nvSpPr>
          <p:cNvPr id="5" name="Text Placeholder 4">
            <a:extLst>
              <a:ext uri="{FF2B5EF4-FFF2-40B4-BE49-F238E27FC236}">
                <a16:creationId xmlns:a16="http://schemas.microsoft.com/office/drawing/2014/main" id="{10665962-D527-D9A7-7D51-9A728E2C1C4A}"/>
              </a:ext>
            </a:extLst>
          </p:cNvPr>
          <p:cNvSpPr>
            <a:spLocks noGrp="1"/>
          </p:cNvSpPr>
          <p:nvPr>
            <p:ph type="body" idx="1"/>
          </p:nvPr>
        </p:nvSpPr>
        <p:spPr>
          <a:xfrm>
            <a:off x="457199" y="1169399"/>
            <a:ext cx="8163025" cy="904863"/>
          </a:xfrm>
          <a:prstGeom prst="rect">
            <a:avLst/>
          </a:prstGeom>
        </p:spPr>
        <p:txBody>
          <a:bodyPr vert="horz" wrap="square" lIns="0" tIns="45720" rIns="91440" bIns="45720" rtlCol="0">
            <a:spAutoFit/>
          </a:bodyPr>
          <a:lstStyle/>
          <a:p>
            <a:pPr lvl="0"/>
            <a:r>
              <a:rPr lang="en-US"/>
              <a:t>Click to edit Master text styles</a:t>
            </a:r>
          </a:p>
          <a:p>
            <a:pPr lvl="1"/>
            <a:r>
              <a:rPr lang="en-US"/>
              <a:t>Second level</a:t>
            </a:r>
          </a:p>
          <a:p>
            <a:pPr lvl="2"/>
            <a:r>
              <a:rPr lang="en-US"/>
              <a:t>Third level</a:t>
            </a:r>
          </a:p>
        </p:txBody>
      </p:sp>
      <p:pic>
        <p:nvPicPr>
          <p:cNvPr id="3" name="Graphic 2">
            <a:extLst>
              <a:ext uri="{FF2B5EF4-FFF2-40B4-BE49-F238E27FC236}">
                <a16:creationId xmlns:a16="http://schemas.microsoft.com/office/drawing/2014/main" id="{F843FB73-839C-307F-E23A-3503F1BC31A5}"/>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409652" y="4542181"/>
            <a:ext cx="2616583" cy="255970"/>
          </a:xfrm>
          <a:prstGeom prst="rect">
            <a:avLst/>
          </a:prstGeom>
        </p:spPr>
      </p:pic>
    </p:spTree>
    <p:extLst>
      <p:ext uri="{BB962C8B-B14F-4D97-AF65-F5344CB8AC3E}">
        <p14:creationId xmlns:p14="http://schemas.microsoft.com/office/powerpoint/2010/main" val="4241339874"/>
      </p:ext>
    </p:extLst>
  </p:cSld>
  <p:clrMap bg1="lt1" tx1="dk1" bg2="lt2" tx2="dk2" accent1="accent1" accent2="accent2" accent3="accent3" accent4="accent4" accent5="accent5" accent6="accent6" hlink="hlink" folHlink="folHlink"/>
  <p:sldLayoutIdLst>
    <p:sldLayoutId id="2147483699" r:id="rId1"/>
    <p:sldLayoutId id="2147483733" r:id="rId2"/>
    <p:sldLayoutId id="2147483718" r:id="rId3"/>
    <p:sldLayoutId id="2147483720" r:id="rId4"/>
    <p:sldLayoutId id="2147483734" r:id="rId5"/>
    <p:sldLayoutId id="2147483666" r:id="rId6"/>
    <p:sldLayoutId id="2147483651" r:id="rId7"/>
    <p:sldLayoutId id="2147483735" r:id="rId8"/>
    <p:sldLayoutId id="2147483668" r:id="rId9"/>
    <p:sldLayoutId id="2147483671" r:id="rId10"/>
    <p:sldLayoutId id="2147483675" r:id="rId11"/>
    <p:sldLayoutId id="2147483670" r:id="rId12"/>
    <p:sldLayoutId id="2147483672" r:id="rId13"/>
    <p:sldLayoutId id="2147483673" r:id="rId14"/>
    <p:sldLayoutId id="2147483674" r:id="rId15"/>
    <p:sldLayoutId id="2147483679" r:id="rId16"/>
    <p:sldLayoutId id="2147483676" r:id="rId17"/>
    <p:sldLayoutId id="2147483677" r:id="rId18"/>
    <p:sldLayoutId id="2147483736" r:id="rId19"/>
    <p:sldLayoutId id="2147483737" r:id="rId20"/>
    <p:sldLayoutId id="2147483667" r:id="rId21"/>
  </p:sldLayoutIdLst>
  <p:hf hdr="0" dt="0"/>
  <p:txStyles>
    <p:titleStyle>
      <a:lvl1pPr algn="l" defTabSz="457200" rtl="0" eaLnBrk="1" latinLnBrk="0" hangingPunct="1">
        <a:spcBef>
          <a:spcPct val="0"/>
        </a:spcBef>
        <a:buNone/>
        <a:defRPr sz="2400" kern="1200">
          <a:solidFill>
            <a:schemeClr val="accent1"/>
          </a:solidFill>
          <a:latin typeface="Arial"/>
          <a:ea typeface="+mj-ea"/>
          <a:cs typeface="Arial"/>
        </a:defRPr>
      </a:lvl1pPr>
    </p:titleStyle>
    <p:bodyStyle>
      <a:lvl1pPr marL="0" marR="0" indent="0" algn="l" defTabSz="914400" rtl="0" eaLnBrk="1" fontAlgn="base" latinLnBrk="0" hangingPunct="1">
        <a:lnSpc>
          <a:spcPct val="90000"/>
        </a:lnSpc>
        <a:spcBef>
          <a:spcPts val="600"/>
        </a:spcBef>
        <a:spcAft>
          <a:spcPct val="0"/>
        </a:spcAft>
        <a:buClrTx/>
        <a:buSzTx/>
        <a:buFontTx/>
        <a:buNone/>
        <a:tabLst/>
        <a:defRPr sz="1600" b="0" kern="1200">
          <a:solidFill>
            <a:schemeClr val="tx1"/>
          </a:solidFill>
          <a:latin typeface="Arial"/>
          <a:ea typeface="+mn-ea"/>
          <a:cs typeface="Arial"/>
        </a:defRPr>
      </a:lvl1pPr>
      <a:lvl2pPr marL="742950" marR="0"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sz="1600" b="0" kern="1200">
          <a:solidFill>
            <a:schemeClr val="tx1"/>
          </a:solidFill>
          <a:latin typeface="Arial"/>
          <a:ea typeface="+mn-ea"/>
          <a:cs typeface="Arial"/>
        </a:defRPr>
      </a:lvl2pPr>
      <a:lvl3pPr marL="1143000" marR="0" indent="-228600" algn="l" defTabSz="914400" rtl="0" eaLnBrk="1" fontAlgn="base" latinLnBrk="0" hangingPunct="1">
        <a:lnSpc>
          <a:spcPct val="100000"/>
        </a:lnSpc>
        <a:spcBef>
          <a:spcPct val="20000"/>
        </a:spcBef>
        <a:spcAft>
          <a:spcPct val="0"/>
        </a:spcAft>
        <a:buClrTx/>
        <a:buSzTx/>
        <a:buFont typeface="Courier New" panose="02070309020205020404" pitchFamily="49" charset="0"/>
        <a:buChar char="o"/>
        <a:tabLst/>
        <a:defRPr sz="1600" b="0" kern="1200">
          <a:solidFill>
            <a:schemeClr val="tx1"/>
          </a:solidFill>
          <a:latin typeface="Arial"/>
          <a:ea typeface="+mn-ea"/>
          <a:cs typeface="Arial"/>
        </a:defRPr>
      </a:lvl3pPr>
      <a:lvl4pPr marL="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4572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chart" Target="../charts/chart4.xml"/></Relationships>
</file>

<file path=ppt/slides/_rels/slide1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19B52-4B9B-EBD5-403A-CFDD774CB834}"/>
              </a:ext>
            </a:extLst>
          </p:cNvPr>
          <p:cNvSpPr>
            <a:spLocks noGrp="1"/>
          </p:cNvSpPr>
          <p:nvPr>
            <p:ph type="ctrTitle"/>
          </p:nvPr>
        </p:nvSpPr>
        <p:spPr>
          <a:xfrm>
            <a:off x="396072" y="1563745"/>
            <a:ext cx="8351856" cy="664797"/>
          </a:xfrm>
        </p:spPr>
        <p:txBody>
          <a:bodyPr/>
          <a:lstStyle/>
          <a:p>
            <a:r>
              <a:rPr lang="en-US" sz="2400" dirty="0"/>
              <a:t>Accuracy and Safety of Large Language Models for Breast Cancer Surgical Consultation Summaries</a:t>
            </a:r>
          </a:p>
        </p:txBody>
      </p:sp>
      <p:sp>
        <p:nvSpPr>
          <p:cNvPr id="3" name="Subtitle 2">
            <a:extLst>
              <a:ext uri="{FF2B5EF4-FFF2-40B4-BE49-F238E27FC236}">
                <a16:creationId xmlns:a16="http://schemas.microsoft.com/office/drawing/2014/main" id="{EEB23483-D1C0-0C76-2818-46E80DD669F7}"/>
              </a:ext>
            </a:extLst>
          </p:cNvPr>
          <p:cNvSpPr>
            <a:spLocks noGrp="1"/>
          </p:cNvSpPr>
          <p:nvPr>
            <p:ph type="subTitle" idx="1"/>
          </p:nvPr>
        </p:nvSpPr>
        <p:spPr>
          <a:xfrm>
            <a:off x="396072" y="2398818"/>
            <a:ext cx="8225414" cy="1785104"/>
          </a:xfrm>
        </p:spPr>
        <p:txBody>
          <a:bodyPr/>
          <a:lstStyle/>
          <a:p>
            <a:r>
              <a:rPr lang="en-US" sz="1000" dirty="0"/>
              <a:t>Robert James, MD</a:t>
            </a:r>
            <a:r>
              <a:rPr lang="en-US" sz="1000" baseline="30000" dirty="0"/>
              <a:t>1,2</a:t>
            </a:r>
            <a:r>
              <a:rPr lang="en-US" sz="1000" dirty="0"/>
              <a:t>, Tracy-Ann Moo, MD</a:t>
            </a:r>
            <a:r>
              <a:rPr lang="en-US" sz="1000" baseline="30000" dirty="0"/>
              <a:t>1 </a:t>
            </a:r>
            <a:r>
              <a:rPr lang="en-US" sz="1000" dirty="0"/>
              <a:t>, Solange Bayard, MD, MS</a:t>
            </a:r>
            <a:r>
              <a:rPr lang="en-US" sz="1000" baseline="30000" dirty="0"/>
              <a:t>1</a:t>
            </a:r>
            <a:r>
              <a:rPr lang="en-US" sz="1000" dirty="0"/>
              <a:t>, Andreas Giannakou, MD</a:t>
            </a:r>
            <a:r>
              <a:rPr lang="en-US" sz="1000" baseline="30000" dirty="0"/>
              <a:t>1</a:t>
            </a:r>
            <a:r>
              <a:rPr lang="en-US" sz="1000" dirty="0"/>
              <a:t>, Lisa R. Allen, MD</a:t>
            </a:r>
            <a:r>
              <a:rPr lang="en-US" sz="1000" baseline="30000" dirty="0"/>
              <a:t>1</a:t>
            </a:r>
            <a:r>
              <a:rPr lang="en-US" sz="1000" dirty="0"/>
              <a:t>, Giacomo Montagna, MD, MPH</a:t>
            </a:r>
            <a:r>
              <a:rPr lang="en-US" sz="1000" baseline="30000" dirty="0"/>
              <a:t>1</a:t>
            </a:r>
            <a:r>
              <a:rPr lang="en-US" sz="1000" dirty="0"/>
              <a:t>, Ivan Pan, MS</a:t>
            </a:r>
            <a:r>
              <a:rPr lang="en-US" sz="1000" baseline="30000" dirty="0"/>
              <a:t>3</a:t>
            </a:r>
            <a:r>
              <a:rPr lang="en-US" sz="1000" dirty="0"/>
              <a:t>, Varadan </a:t>
            </a:r>
            <a:r>
              <a:rPr lang="en-US" sz="1000" dirty="0" err="1"/>
              <a:t>Sevilimedu</a:t>
            </a:r>
            <a:r>
              <a:rPr lang="en-US" sz="1000" dirty="0"/>
              <a:t>, MBBS, DrPH</a:t>
            </a:r>
            <a:r>
              <a:rPr lang="en-US" sz="1000" baseline="30000" dirty="0"/>
              <a:t>2</a:t>
            </a:r>
            <a:r>
              <a:rPr lang="en-US" sz="1000" dirty="0"/>
              <a:t>, Sarah </a:t>
            </a:r>
            <a:r>
              <a:rPr lang="en-US" sz="1000" dirty="0" err="1"/>
              <a:t>Eskreis</a:t>
            </a:r>
            <a:r>
              <a:rPr lang="en-US" sz="1000" dirty="0"/>
              <a:t>-Winkler, MD, PhD</a:t>
            </a:r>
            <a:r>
              <a:rPr lang="en-US" sz="1000" baseline="30000" dirty="0"/>
              <a:t>4</a:t>
            </a:r>
            <a:r>
              <a:rPr lang="en-US" sz="1000" dirty="0"/>
              <a:t>, and Monica Morrow, MD</a:t>
            </a:r>
            <a:r>
              <a:rPr lang="en-US" sz="1000" baseline="30000" dirty="0"/>
              <a:t>1</a:t>
            </a:r>
            <a:r>
              <a:rPr lang="en-US" sz="1000" dirty="0"/>
              <a:t> </a:t>
            </a:r>
          </a:p>
          <a:p>
            <a:r>
              <a:rPr lang="en-US" sz="1000" dirty="0"/>
              <a:t> </a:t>
            </a:r>
          </a:p>
          <a:p>
            <a:r>
              <a:rPr lang="en-US" sz="1000" dirty="0"/>
              <a:t>¹Breast Service, Department of Surgery, Memorial Sloan Kettering Cancer Center, New York, NY </a:t>
            </a:r>
          </a:p>
          <a:p>
            <a:r>
              <a:rPr lang="en-US" sz="1000" dirty="0"/>
              <a:t>²Biostatistics Service, Department of Epidemiology and Biostatistics, Memorial Sloan Kettering Cancer Center, New York, NY </a:t>
            </a:r>
          </a:p>
          <a:p>
            <a:r>
              <a:rPr lang="en-US" sz="1000" dirty="0"/>
              <a:t>³Artificial Intelligence &amp; Machine Learning (AIML), Department of Data and Analytics, Memorial Sloan Kettering Cancer Center, New York, NY </a:t>
            </a:r>
          </a:p>
          <a:p>
            <a:r>
              <a:rPr lang="en-US" sz="1000" dirty="0"/>
              <a:t>⁴Department of Radiology, Memorial Sloan Kettering Cancer Center, New York, NY </a:t>
            </a:r>
          </a:p>
          <a:p>
            <a:r>
              <a:rPr lang="en-US" sz="1000" dirty="0"/>
              <a:t> </a:t>
            </a:r>
          </a:p>
          <a:p>
            <a:endParaRPr lang="en-US" sz="1000" dirty="0"/>
          </a:p>
        </p:txBody>
      </p:sp>
      <p:sp>
        <p:nvSpPr>
          <p:cNvPr id="4" name="Content Placeholder 3">
            <a:extLst>
              <a:ext uri="{FF2B5EF4-FFF2-40B4-BE49-F238E27FC236}">
                <a16:creationId xmlns:a16="http://schemas.microsoft.com/office/drawing/2014/main" id="{6378BB63-B050-47BE-57F1-6C565D6B3A32}"/>
              </a:ext>
            </a:extLst>
          </p:cNvPr>
          <p:cNvSpPr>
            <a:spLocks noGrp="1"/>
          </p:cNvSpPr>
          <p:nvPr>
            <p:ph sz="quarter" idx="12"/>
          </p:nvPr>
        </p:nvSpPr>
        <p:spPr>
          <a:xfrm>
            <a:off x="396072" y="4139419"/>
            <a:ext cx="5853112" cy="201274"/>
          </a:xfrm>
        </p:spPr>
        <p:txBody>
          <a:bodyPr/>
          <a:lstStyle/>
          <a:p>
            <a:r>
              <a:rPr lang="en-US" sz="1200" b="1" dirty="0"/>
              <a:t>Presented by: Robert James</a:t>
            </a:r>
          </a:p>
        </p:txBody>
      </p:sp>
      <p:sp>
        <p:nvSpPr>
          <p:cNvPr id="5" name="Content Placeholder 4">
            <a:extLst>
              <a:ext uri="{FF2B5EF4-FFF2-40B4-BE49-F238E27FC236}">
                <a16:creationId xmlns:a16="http://schemas.microsoft.com/office/drawing/2014/main" id="{B08219B8-105A-448D-4B3F-3AC9205CE85E}"/>
              </a:ext>
            </a:extLst>
          </p:cNvPr>
          <p:cNvSpPr>
            <a:spLocks noGrp="1"/>
          </p:cNvSpPr>
          <p:nvPr>
            <p:ph sz="quarter" idx="13"/>
          </p:nvPr>
        </p:nvSpPr>
        <p:spPr>
          <a:xfrm>
            <a:off x="5715558" y="4083285"/>
            <a:ext cx="2905928" cy="201274"/>
          </a:xfrm>
        </p:spPr>
        <p:txBody>
          <a:bodyPr/>
          <a:lstStyle/>
          <a:p>
            <a:r>
              <a:rPr lang="en-US" sz="1200" dirty="0"/>
              <a:t>June 1, 2026</a:t>
            </a:r>
          </a:p>
        </p:txBody>
      </p:sp>
    </p:spTree>
    <p:extLst>
      <p:ext uri="{BB962C8B-B14F-4D97-AF65-F5344CB8AC3E}">
        <p14:creationId xmlns:p14="http://schemas.microsoft.com/office/powerpoint/2010/main" val="879236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72404-E59C-854C-8B72-EBCC69112846}"/>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F05C7390-11AB-26E3-BADD-C8CD92CF586A}"/>
              </a:ext>
            </a:extLst>
          </p:cNvPr>
          <p:cNvSpPr>
            <a:spLocks noGrp="1"/>
          </p:cNvSpPr>
          <p:nvPr>
            <p:ph idx="1"/>
          </p:nvPr>
        </p:nvSpPr>
        <p:spPr/>
        <p:txBody>
          <a:bodyPr/>
          <a:lstStyle/>
          <a:p>
            <a:pPr lvl="0"/>
            <a:r>
              <a:rPr lang="en-US" b="1" dirty="0"/>
              <a:t>What is the clinical problem</a:t>
            </a:r>
            <a:r>
              <a:rPr lang="en-US" dirty="0"/>
              <a:t>?</a:t>
            </a:r>
          </a:p>
          <a:p>
            <a:pPr marL="285750" lvl="0" indent="-285750">
              <a:buFont typeface="Arial" panose="020B0604020202020204" pitchFamily="34" charset="0"/>
              <a:buChar char="•"/>
            </a:pPr>
            <a:r>
              <a:rPr lang="en-US" dirty="0"/>
              <a:t>Clinical information relevant to breast cancer surgical consultations is fragmented across radiology reports, pathology reports, and clinical documentation.</a:t>
            </a:r>
          </a:p>
          <a:p>
            <a:pPr marL="285750" lvl="0" indent="-285750">
              <a:buFont typeface="Arial" panose="020B0604020202020204" pitchFamily="34" charset="0"/>
              <a:buChar char="•"/>
            </a:pPr>
            <a:r>
              <a:rPr lang="en-US" dirty="0"/>
              <a:t>Synthesizing these data into a coherent preoperative summary is time-intensive, prone to omission, and often varies across clinicians.</a:t>
            </a:r>
          </a:p>
          <a:p>
            <a:pPr marL="285750" lvl="0" indent="-285750">
              <a:buFont typeface="Arial" panose="020B0604020202020204" pitchFamily="34" charset="0"/>
              <a:buChar char="•"/>
            </a:pPr>
            <a:r>
              <a:rPr lang="en-US" dirty="0"/>
              <a:t>Large language models (LLMs) may offer a scalable solution by automating information extraction and generating standardized summaries while reducing the burden of manual chart review.</a:t>
            </a:r>
          </a:p>
        </p:txBody>
      </p:sp>
    </p:spTree>
    <p:extLst>
      <p:ext uri="{BB962C8B-B14F-4D97-AF65-F5344CB8AC3E}">
        <p14:creationId xmlns:p14="http://schemas.microsoft.com/office/powerpoint/2010/main" val="2863975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7E8C1-7005-CE50-8AA6-8587E38DC934}"/>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EA0A9C5A-4E05-BF41-F2BF-026A0DE1B79E}"/>
              </a:ext>
            </a:extLst>
          </p:cNvPr>
          <p:cNvSpPr>
            <a:spLocks noGrp="1"/>
          </p:cNvSpPr>
          <p:nvPr>
            <p:ph idx="1"/>
          </p:nvPr>
        </p:nvSpPr>
        <p:spPr/>
        <p:txBody>
          <a:bodyPr/>
          <a:lstStyle/>
          <a:p>
            <a:r>
              <a:rPr lang="en-US" b="1" dirty="0"/>
              <a:t>What is a large language model (LLM)?</a:t>
            </a:r>
          </a:p>
          <a:p>
            <a:pPr marL="457200" lvl="1">
              <a:buFont typeface="Arial"/>
              <a:buChar char="•"/>
            </a:pPr>
            <a:r>
              <a:rPr lang="en-US" dirty="0"/>
              <a:t>Software that reads and writes natural language by predicting likely word sequences</a:t>
            </a:r>
          </a:p>
          <a:p>
            <a:pPr marL="857250" lvl="2">
              <a:buFont typeface="Arial"/>
              <a:buChar char="•"/>
            </a:pPr>
            <a:r>
              <a:rPr lang="en-US" dirty="0"/>
              <a:t>Examples include GPT (OpenAI), Claude (Anthropic), Gemini (Google), and Llama (Meta)</a:t>
            </a:r>
          </a:p>
          <a:p>
            <a:pPr marL="457200" lvl="1">
              <a:buFont typeface="Arial"/>
              <a:buChar char="•"/>
            </a:pPr>
            <a:r>
              <a:rPr lang="en-US" dirty="0"/>
              <a:t>Can be used to summarize, extract, and answer questions from unstructured clinical text</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4107019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3BD9B-051D-2597-AD10-0344E72BB2B0}"/>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A2EBD237-322F-5316-8706-44F34F282CA3}"/>
              </a:ext>
            </a:extLst>
          </p:cNvPr>
          <p:cNvSpPr>
            <a:spLocks noGrp="1"/>
          </p:cNvSpPr>
          <p:nvPr>
            <p:ph idx="1"/>
          </p:nvPr>
        </p:nvSpPr>
        <p:spPr/>
        <p:txBody>
          <a:bodyPr/>
          <a:lstStyle/>
          <a:p>
            <a:r>
              <a:rPr lang="en-US" b="1" dirty="0"/>
              <a:t>Prior research evaluating LLMs for clinical summarization is limited in oncology</a:t>
            </a:r>
          </a:p>
          <a:p>
            <a:pPr marL="285750" lvl="0" indent="-285750" eaLnBrk="0" hangingPunct="0">
              <a:spcBef>
                <a:spcPct val="0"/>
              </a:spcBef>
              <a:buFont typeface="Arial" panose="020B0604020202020204" pitchFamily="34" charset="0"/>
              <a:buChar char="•"/>
            </a:pPr>
            <a:r>
              <a:rPr lang="en-US" altLang="en-US" dirty="0">
                <a:latin typeface="Arial" panose="020B0604020202020204" pitchFamily="34" charset="0"/>
              </a:rPr>
              <a:t>Equivalent or improved performance to clinicians in clinical summarization tasks</a:t>
            </a:r>
            <a:r>
              <a:rPr lang="en-US" altLang="en-US" baseline="30000" dirty="0">
                <a:latin typeface="Arial" panose="020B0604020202020204" pitchFamily="34" charset="0"/>
              </a:rPr>
              <a:t>1</a:t>
            </a:r>
            <a:endParaRPr lang="en-US" altLang="en-US" dirty="0">
              <a:latin typeface="Arial" panose="020B0604020202020204" pitchFamily="34" charset="0"/>
            </a:endParaRPr>
          </a:p>
          <a:p>
            <a:pPr marL="285750" lvl="0" indent="-285750" eaLnBrk="0" hangingPunct="0">
              <a:spcBef>
                <a:spcPct val="0"/>
              </a:spcBef>
              <a:buFont typeface="Arial" panose="020B0604020202020204" pitchFamily="34" charset="0"/>
              <a:buChar char="•"/>
            </a:pPr>
            <a:r>
              <a:rPr lang="en-US" dirty="0"/>
              <a:t>Few studies validate LLM performance on structured preoperative summaries of breast cancer workup</a:t>
            </a:r>
            <a:r>
              <a:rPr lang="en-US" baseline="30000" dirty="0"/>
              <a:t>2</a:t>
            </a:r>
            <a:endParaRPr lang="en-US" dirty="0"/>
          </a:p>
          <a:p>
            <a:pPr marL="228600" indent="-228600">
              <a:buFont typeface="Arial"/>
              <a:buChar char="•"/>
            </a:pPr>
            <a:r>
              <a:rPr lang="en-US" dirty="0"/>
              <a:t>Measures of completeness and safety (omission and fabrication, respectively) exist rarely in current literature</a:t>
            </a:r>
          </a:p>
          <a:p>
            <a:pPr marL="285750" lvl="0" indent="-285750" eaLnBrk="0" hangingPunct="0">
              <a:spcBef>
                <a:spcPct val="0"/>
              </a:spcBef>
              <a:buFont typeface="Arial" panose="020B0604020202020204" pitchFamily="34" charset="0"/>
              <a:buChar char="•"/>
            </a:pPr>
            <a:endParaRPr lang="en-US" altLang="en-US" dirty="0">
              <a:solidFill>
                <a:schemeClr val="tx2"/>
              </a:solidFill>
              <a:latin typeface="Arial" panose="020B0604020202020204" pitchFamily="34" charset="0"/>
            </a:endParaRPr>
          </a:p>
          <a:p>
            <a:pPr marL="285750" indent="-285750">
              <a:buFont typeface="Arial" panose="020B0604020202020204" pitchFamily="34" charset="0"/>
              <a:buChar char="•"/>
            </a:pPr>
            <a:endParaRPr lang="en-US" dirty="0"/>
          </a:p>
          <a:p>
            <a:endParaRPr lang="en-US" dirty="0"/>
          </a:p>
        </p:txBody>
      </p:sp>
      <p:sp>
        <p:nvSpPr>
          <p:cNvPr id="4" name="TextBox 3">
            <a:extLst>
              <a:ext uri="{FF2B5EF4-FFF2-40B4-BE49-F238E27FC236}">
                <a16:creationId xmlns:a16="http://schemas.microsoft.com/office/drawing/2014/main" id="{7498B05D-20B9-492A-3B19-ECE591FDD523}"/>
              </a:ext>
            </a:extLst>
          </p:cNvPr>
          <p:cNvSpPr txBox="1"/>
          <p:nvPr/>
        </p:nvSpPr>
        <p:spPr>
          <a:xfrm>
            <a:off x="453082" y="3718444"/>
            <a:ext cx="4287361" cy="954107"/>
          </a:xfrm>
          <a:prstGeom prst="rect">
            <a:avLst/>
          </a:prstGeom>
          <a:noFill/>
        </p:spPr>
        <p:txBody>
          <a:bodyPr wrap="square" rtlCol="0">
            <a:spAutoFit/>
          </a:bodyPr>
          <a:lstStyle/>
          <a:p>
            <a:r>
              <a:rPr lang="en-US" sz="800" dirty="0"/>
              <a:t>1. Van Veen, Dave, et al. "Adapted Large Language Models Can Outperform Medical Experts in Clinical Text Summarization." </a:t>
            </a:r>
            <a:r>
              <a:rPr lang="en-US" sz="800" i="1" dirty="0"/>
              <a:t>Nature Medicine</a:t>
            </a:r>
            <a:r>
              <a:rPr lang="en-US" sz="800" dirty="0"/>
              <a:t>, vol. 30, no. 4, 2024, pp. 1134-1142. </a:t>
            </a:r>
            <a:r>
              <a:rPr lang="en-US" sz="800" i="1" dirty="0"/>
              <a:t>SpringerLink</a:t>
            </a:r>
            <a:r>
              <a:rPr lang="en-US" sz="800" dirty="0"/>
              <a:t>, https://</a:t>
            </a:r>
            <a:r>
              <a:rPr lang="en-US" sz="800" dirty="0" err="1"/>
              <a:t>doi.org</a:t>
            </a:r>
            <a:r>
              <a:rPr lang="en-US" sz="800" dirty="0"/>
              <a:t>/10.1038/s41591-024-02855-5</a:t>
            </a:r>
          </a:p>
          <a:p>
            <a:endParaRPr lang="en-US" sz="800" dirty="0"/>
          </a:p>
          <a:p>
            <a:r>
              <a:rPr lang="en-US" sz="800" dirty="0"/>
              <a:t>2. Kang, Young-Joon, et al. "Large Language Model Versus Manual Review for Clinical Data Curation in Breast Cancer: Retrospective Comparative Study." </a:t>
            </a:r>
            <a:r>
              <a:rPr lang="en-US" sz="800" i="1" dirty="0"/>
              <a:t>JMIR Medical Informatics</a:t>
            </a:r>
            <a:r>
              <a:rPr lang="en-US" sz="800" dirty="0"/>
              <a:t>, vol. 13, 2025, p. e73605. </a:t>
            </a:r>
            <a:r>
              <a:rPr lang="en-US" sz="800" i="1" dirty="0"/>
              <a:t>National Institutes of Health</a:t>
            </a:r>
            <a:r>
              <a:rPr lang="en-US" sz="800" dirty="0"/>
              <a:t>, doi:10.2196/73605. </a:t>
            </a:r>
          </a:p>
        </p:txBody>
      </p:sp>
    </p:spTree>
    <p:extLst>
      <p:ext uri="{BB962C8B-B14F-4D97-AF65-F5344CB8AC3E}">
        <p14:creationId xmlns:p14="http://schemas.microsoft.com/office/powerpoint/2010/main" val="3652887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9742E-59F0-9884-36C2-22163962C325}"/>
              </a:ext>
            </a:extLst>
          </p:cNvPr>
          <p:cNvSpPr>
            <a:spLocks noGrp="1"/>
          </p:cNvSpPr>
          <p:nvPr>
            <p:ph type="title"/>
          </p:nvPr>
        </p:nvSpPr>
        <p:spPr/>
        <p:txBody>
          <a:bodyPr/>
          <a:lstStyle/>
          <a:p>
            <a:r>
              <a:rPr lang="en-US"/>
              <a:t>Introduction</a:t>
            </a:r>
            <a:br>
              <a:rPr lang="en-US"/>
            </a:br>
            <a:endParaRPr lang="en-US"/>
          </a:p>
        </p:txBody>
      </p:sp>
      <p:sp>
        <p:nvSpPr>
          <p:cNvPr id="3" name="Content Placeholder 2">
            <a:extLst>
              <a:ext uri="{FF2B5EF4-FFF2-40B4-BE49-F238E27FC236}">
                <a16:creationId xmlns:a16="http://schemas.microsoft.com/office/drawing/2014/main" id="{4CB331B4-A50D-B487-0F6B-5B05990E10D6}"/>
              </a:ext>
            </a:extLst>
          </p:cNvPr>
          <p:cNvSpPr>
            <a:spLocks noGrp="1"/>
          </p:cNvSpPr>
          <p:nvPr>
            <p:ph idx="1"/>
          </p:nvPr>
        </p:nvSpPr>
        <p:spPr/>
        <p:txBody>
          <a:bodyPr/>
          <a:lstStyle/>
          <a:p>
            <a:r>
              <a:rPr lang="en-US" b="1" dirty="0"/>
              <a:t>Primary Question</a:t>
            </a:r>
          </a:p>
          <a:p>
            <a:pPr marL="285750" indent="-285750">
              <a:buFont typeface="Arial" panose="020B0604020202020204" pitchFamily="34" charset="0"/>
              <a:buChar char="•"/>
            </a:pPr>
            <a:r>
              <a:rPr lang="en-US" dirty="0"/>
              <a:t>Can LLMs generate accurate and complete preoperative breast cancer summaries while maintaining low rates of fabrication, compared with human-generated summaries?</a:t>
            </a:r>
          </a:p>
          <a:p>
            <a:pPr marL="285750" indent="-285750">
              <a:buFont typeface="Arial" panose="020B0604020202020204" pitchFamily="34" charset="0"/>
              <a:buChar char="•"/>
            </a:pPr>
            <a:endParaRPr lang="en-US" dirty="0"/>
          </a:p>
          <a:p>
            <a:r>
              <a:rPr lang="en-US" b="1" dirty="0"/>
              <a:t>Hypothesis</a:t>
            </a:r>
            <a:endParaRPr lang="en-US" dirty="0"/>
          </a:p>
          <a:p>
            <a:pPr marL="285750" indent="-285750">
              <a:buFont typeface="Arial" panose="020B0604020202020204" pitchFamily="34" charset="0"/>
              <a:buChar char="•"/>
            </a:pPr>
            <a:r>
              <a:rPr lang="en-US" dirty="0"/>
              <a:t>LLM-generated preoperative breast cancer summaries will demonstrate higher accuracy and completeness as compared to human-generated summaries, while maintaining comparable or lower rates of fabrication.</a:t>
            </a:r>
          </a:p>
        </p:txBody>
      </p:sp>
    </p:spTree>
    <p:extLst>
      <p:ext uri="{BB962C8B-B14F-4D97-AF65-F5344CB8AC3E}">
        <p14:creationId xmlns:p14="http://schemas.microsoft.com/office/powerpoint/2010/main" val="1004516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05F39-CA6B-19B3-C219-05A4F4F88811}"/>
              </a:ext>
            </a:extLst>
          </p:cNvPr>
          <p:cNvSpPr>
            <a:spLocks noGrp="1"/>
          </p:cNvSpPr>
          <p:nvPr>
            <p:ph type="title"/>
          </p:nvPr>
        </p:nvSpPr>
        <p:spPr/>
        <p:txBody>
          <a:bodyPr/>
          <a:lstStyle/>
          <a:p>
            <a:r>
              <a:rPr lang="en-US"/>
              <a:t>Methods</a:t>
            </a:r>
          </a:p>
        </p:txBody>
      </p:sp>
      <p:sp>
        <p:nvSpPr>
          <p:cNvPr id="3" name="Content Placeholder 2">
            <a:extLst>
              <a:ext uri="{FF2B5EF4-FFF2-40B4-BE49-F238E27FC236}">
                <a16:creationId xmlns:a16="http://schemas.microsoft.com/office/drawing/2014/main" id="{4C0D495A-A66A-EFFE-A6A1-1BD00B077E88}"/>
              </a:ext>
            </a:extLst>
          </p:cNvPr>
          <p:cNvSpPr>
            <a:spLocks noGrp="1"/>
          </p:cNvSpPr>
          <p:nvPr>
            <p:ph idx="1"/>
          </p:nvPr>
        </p:nvSpPr>
        <p:spPr/>
        <p:txBody>
          <a:bodyPr/>
          <a:lstStyle/>
          <a:p>
            <a:r>
              <a:rPr lang="en-US" b="1"/>
              <a:t>Project Framework</a:t>
            </a:r>
          </a:p>
          <a:p>
            <a:endParaRPr lang="en-US"/>
          </a:p>
          <a:p>
            <a:endParaRPr lang="en-US"/>
          </a:p>
        </p:txBody>
      </p:sp>
      <p:sp>
        <p:nvSpPr>
          <p:cNvPr id="16" name="Right Arrow 11">
            <a:extLst>
              <a:ext uri="{FF2B5EF4-FFF2-40B4-BE49-F238E27FC236}">
                <a16:creationId xmlns:a16="http://schemas.microsoft.com/office/drawing/2014/main" id="{AFE7C775-6C6C-CAA3-6616-70817D2E9D44}"/>
              </a:ext>
            </a:extLst>
          </p:cNvPr>
          <p:cNvSpPr/>
          <p:nvPr/>
        </p:nvSpPr>
        <p:spPr>
          <a:xfrm>
            <a:off x="3675128" y="2309468"/>
            <a:ext cx="162564" cy="124960"/>
          </a:xfrm>
          <a:prstGeom prst="rightArrow">
            <a:avLst/>
          </a:prstGeom>
          <a:solidFill>
            <a:srgbClr val="8C8C8C"/>
          </a:solidFill>
          <a:ln w="12700" cap="flat" cmpd="sng" algn="ctr">
            <a:noFill/>
            <a:prstDash val="solid"/>
            <a:miter lim="800000"/>
          </a:ln>
          <a:effectLst/>
        </p:spPr>
        <p:txBody>
          <a:bodyPr vertOverflow="clip" horzOverflow="clip"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7" name="Box_2">
            <a:extLst>
              <a:ext uri="{FF2B5EF4-FFF2-40B4-BE49-F238E27FC236}">
                <a16:creationId xmlns:a16="http://schemas.microsoft.com/office/drawing/2014/main" id="{1D3A2321-DA79-42D8-36ED-6AA3A6A384D5}"/>
              </a:ext>
            </a:extLst>
          </p:cNvPr>
          <p:cNvSpPr/>
          <p:nvPr/>
        </p:nvSpPr>
        <p:spPr>
          <a:xfrm>
            <a:off x="3856455" y="1790746"/>
            <a:ext cx="995290" cy="1562007"/>
          </a:xfrm>
          <a:prstGeom prst="roundRect">
            <a:avLst/>
          </a:prstGeom>
          <a:solidFill>
            <a:srgbClr val="DCE6F7"/>
          </a:solidFill>
          <a:ln w="15875" cap="flat" cmpd="sng" algn="ctr">
            <a:solidFill>
              <a:srgbClr val="4472C4"/>
            </a:solidFill>
            <a:prstDash val="solid"/>
            <a:miter lim="800000"/>
          </a:ln>
          <a:effectLst/>
        </p:spPr>
        <p:txBody>
          <a:bodyPr vertOverflow="clip" horzOverflow="clip" wrap="square"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2569"/>
                </a:solidFill>
                <a:effectLst/>
                <a:uLnTx/>
                <a:uFillTx/>
                <a:latin typeface="Arial" panose="020B0604020202020204"/>
                <a:ea typeface="+mn-ea"/>
                <a:cs typeface="+mn-cs"/>
              </a:rPr>
              <a:t>Structured Summary</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Arial" panose="020B06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72524"/>
                </a:solidFill>
                <a:effectLst/>
                <a:uLnTx/>
                <a:uFillTx/>
                <a:latin typeface="Arial" panose="020B0604020202020204"/>
                <a:ea typeface="+mn-ea"/>
                <a:cs typeface="+mn-cs"/>
              </a:rPr>
              <a:t>Template-based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72524"/>
                </a:solidFill>
                <a:effectLst/>
                <a:uLnTx/>
                <a:uFillTx/>
                <a:latin typeface="Arial" panose="020B0604020202020204"/>
                <a:ea typeface="+mn-ea"/>
                <a:cs typeface="+mn-cs"/>
              </a:rPr>
              <a:t>extraction</a:t>
            </a:r>
          </a:p>
        </p:txBody>
      </p:sp>
      <p:sp>
        <p:nvSpPr>
          <p:cNvPr id="19" name="Box_3">
            <a:extLst>
              <a:ext uri="{FF2B5EF4-FFF2-40B4-BE49-F238E27FC236}">
                <a16:creationId xmlns:a16="http://schemas.microsoft.com/office/drawing/2014/main" id="{AF637974-E8E6-E910-615C-6C8BE0AEDD79}"/>
              </a:ext>
            </a:extLst>
          </p:cNvPr>
          <p:cNvSpPr/>
          <p:nvPr/>
        </p:nvSpPr>
        <p:spPr>
          <a:xfrm>
            <a:off x="5054592" y="1790745"/>
            <a:ext cx="995290" cy="1562007"/>
          </a:xfrm>
          <a:prstGeom prst="roundRect">
            <a:avLst/>
          </a:prstGeom>
          <a:solidFill>
            <a:srgbClr val="DDEBDC"/>
          </a:solidFill>
          <a:ln w="15875" cap="flat" cmpd="sng" algn="ctr">
            <a:solidFill>
              <a:srgbClr val="548235"/>
            </a:solidFill>
            <a:prstDash val="solid"/>
            <a:miter lim="800000"/>
          </a:ln>
          <a:effectLst/>
        </p:spPr>
        <p:txBody>
          <a:bodyPr vertOverflow="clip" horzOverflow="clip" wrap="square"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1F5E2E"/>
                </a:solidFill>
                <a:effectLst/>
                <a:uLnTx/>
                <a:uFillTx/>
                <a:latin typeface="Arial" panose="020B0604020202020204"/>
                <a:ea typeface="+mn-ea"/>
                <a:cs typeface="+mn-cs"/>
              </a:rPr>
              <a:t>Human Validation</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Arial" panose="020B06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72524"/>
                </a:solidFill>
                <a:effectLst/>
                <a:uLnTx/>
                <a:uFillTx/>
                <a:latin typeface="Arial" panose="020B0604020202020204"/>
                <a:ea typeface="+mn-ea"/>
                <a:cs typeface="+mn-cs"/>
              </a:rPr>
              <a:t>TP / FP / FN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72524"/>
                </a:solidFill>
                <a:effectLst/>
                <a:uLnTx/>
                <a:uFillTx/>
                <a:latin typeface="Arial" panose="020B0604020202020204"/>
                <a:ea typeface="+mn-ea"/>
                <a:cs typeface="+mn-cs"/>
              </a:rPr>
              <a:t>classification</a:t>
            </a:r>
          </a:p>
        </p:txBody>
      </p:sp>
      <p:sp>
        <p:nvSpPr>
          <p:cNvPr id="21" name="Box_4">
            <a:extLst>
              <a:ext uri="{FF2B5EF4-FFF2-40B4-BE49-F238E27FC236}">
                <a16:creationId xmlns:a16="http://schemas.microsoft.com/office/drawing/2014/main" id="{98700661-CE6B-09A3-F420-CB3366FFC533}"/>
              </a:ext>
            </a:extLst>
          </p:cNvPr>
          <p:cNvSpPr/>
          <p:nvPr/>
        </p:nvSpPr>
        <p:spPr>
          <a:xfrm>
            <a:off x="6244553" y="1790745"/>
            <a:ext cx="995290" cy="1562009"/>
          </a:xfrm>
          <a:prstGeom prst="roundRect">
            <a:avLst/>
          </a:prstGeom>
          <a:solidFill>
            <a:srgbClr val="F8DDDC"/>
          </a:solidFill>
          <a:ln w="15875" cap="flat" cmpd="sng" algn="ctr">
            <a:solidFill>
              <a:srgbClr val="C00000"/>
            </a:solidFill>
            <a:prstDash val="solid"/>
            <a:miter lim="800000"/>
          </a:ln>
          <a:effectLst/>
        </p:spPr>
        <p:txBody>
          <a:bodyPr vertOverflow="clip" horzOverflow="clip" wrap="square"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9E2A2B"/>
                </a:solidFill>
                <a:effectLst/>
                <a:uLnTx/>
                <a:uFillTx/>
                <a:latin typeface="Arial" panose="020B0604020202020204"/>
                <a:ea typeface="+mn-ea"/>
                <a:cs typeface="+mn-cs"/>
              </a:rPr>
              <a:t>Performance and Safety Metrics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Arial" panose="020B06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72524"/>
                </a:solidFill>
                <a:effectLst/>
                <a:uLnTx/>
                <a:uFillTx/>
                <a:latin typeface="Arial" panose="020B0604020202020204"/>
                <a:ea typeface="+mn-ea"/>
                <a:cs typeface="+mn-cs"/>
              </a:rPr>
              <a:t>Accuracy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72524"/>
                </a:solidFill>
                <a:effectLst/>
                <a:uLnTx/>
                <a:uFillTx/>
                <a:latin typeface="Arial" panose="020B0604020202020204"/>
                <a:ea typeface="+mn-ea"/>
                <a:cs typeface="+mn-cs"/>
              </a:rPr>
              <a:t>Omission rate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72524"/>
                </a:solidFill>
                <a:effectLst/>
                <a:uLnTx/>
                <a:uFillTx/>
                <a:latin typeface="Arial" panose="020B0604020202020204"/>
                <a:ea typeface="+mn-ea"/>
                <a:cs typeface="+mn-cs"/>
              </a:rPr>
              <a:t>Fabrication rate</a:t>
            </a:r>
          </a:p>
        </p:txBody>
      </p:sp>
      <p:sp>
        <p:nvSpPr>
          <p:cNvPr id="22" name="Box_0">
            <a:extLst>
              <a:ext uri="{FF2B5EF4-FFF2-40B4-BE49-F238E27FC236}">
                <a16:creationId xmlns:a16="http://schemas.microsoft.com/office/drawing/2014/main" id="{4859AE44-41CD-A6D3-098A-BAD7B2E14A7B}"/>
              </a:ext>
            </a:extLst>
          </p:cNvPr>
          <p:cNvSpPr/>
          <p:nvPr/>
        </p:nvSpPr>
        <p:spPr>
          <a:xfrm>
            <a:off x="1485086" y="1790746"/>
            <a:ext cx="995290" cy="1562007"/>
          </a:xfrm>
          <a:prstGeom prst="roundRect">
            <a:avLst/>
          </a:prstGeom>
          <a:solidFill>
            <a:srgbClr val="DCE6F7"/>
          </a:solidFill>
          <a:ln w="15875" cap="flat" cmpd="sng" algn="ctr">
            <a:solidFill>
              <a:srgbClr val="4472C4"/>
            </a:solidFill>
            <a:prstDash val="solid"/>
            <a:miter lim="800000"/>
          </a:ln>
          <a:effectLst/>
        </p:spPr>
        <p:txBody>
          <a:bodyPr vertOverflow="clip" horzOverflow="clip" wrap="square"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002569"/>
                </a:solidFill>
                <a:effectLst/>
                <a:uLnTx/>
                <a:uFillTx/>
                <a:latin typeface="Arial" panose="020B0604020202020204"/>
                <a:ea typeface="+mn-ea"/>
                <a:cs typeface="+mn-cs"/>
              </a:rPr>
              <a:t>Source Documents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Arial" panose="020B06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72524"/>
                </a:solidFill>
                <a:effectLst/>
                <a:uLnTx/>
                <a:uFillTx/>
                <a:latin typeface="Arial" panose="020B0604020202020204"/>
                <a:ea typeface="+mn-ea"/>
                <a:cs typeface="+mn-cs"/>
              </a:rPr>
              <a:t>Radiology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72524"/>
                </a:solidFill>
                <a:effectLst/>
                <a:uLnTx/>
                <a:uFillTx/>
                <a:latin typeface="Arial" panose="020B0604020202020204"/>
                <a:ea typeface="+mn-ea"/>
                <a:cs typeface="+mn-cs"/>
              </a:rPr>
              <a:t>Pathology reports</a:t>
            </a:r>
          </a:p>
        </p:txBody>
      </p:sp>
      <p:sp>
        <p:nvSpPr>
          <p:cNvPr id="23" name="Right Arrow 9">
            <a:extLst>
              <a:ext uri="{FF2B5EF4-FFF2-40B4-BE49-F238E27FC236}">
                <a16:creationId xmlns:a16="http://schemas.microsoft.com/office/drawing/2014/main" id="{93E32CA4-5968-EB58-5BDE-928C4BB60E75}"/>
              </a:ext>
            </a:extLst>
          </p:cNvPr>
          <p:cNvSpPr/>
          <p:nvPr/>
        </p:nvSpPr>
        <p:spPr>
          <a:xfrm>
            <a:off x="2502024" y="2309468"/>
            <a:ext cx="162564" cy="124960"/>
          </a:xfrm>
          <a:prstGeom prst="rightArrow">
            <a:avLst/>
          </a:prstGeom>
          <a:solidFill>
            <a:srgbClr val="8C8C8C"/>
          </a:solidFill>
          <a:ln w="12700" cap="flat" cmpd="sng" algn="ctr">
            <a:noFill/>
            <a:prstDash val="solid"/>
            <a:miter lim="800000"/>
          </a:ln>
          <a:effectLst/>
        </p:spPr>
        <p:txBody>
          <a:bodyPr vertOverflow="clip" horzOverflow="clip"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4" name="Box_1">
            <a:extLst>
              <a:ext uri="{FF2B5EF4-FFF2-40B4-BE49-F238E27FC236}">
                <a16:creationId xmlns:a16="http://schemas.microsoft.com/office/drawing/2014/main" id="{A6A12C5D-21B8-63FC-5B69-3883BE01939F}"/>
              </a:ext>
            </a:extLst>
          </p:cNvPr>
          <p:cNvSpPr/>
          <p:nvPr/>
        </p:nvSpPr>
        <p:spPr>
          <a:xfrm>
            <a:off x="2661703" y="1790746"/>
            <a:ext cx="995290" cy="1562007"/>
          </a:xfrm>
          <a:prstGeom prst="roundRect">
            <a:avLst/>
          </a:prstGeom>
          <a:solidFill>
            <a:srgbClr val="DDEBDC"/>
          </a:solidFill>
          <a:ln w="15875" cap="flat" cmpd="sng" algn="ctr">
            <a:solidFill>
              <a:srgbClr val="548235"/>
            </a:solidFill>
            <a:prstDash val="solid"/>
            <a:miter lim="800000"/>
          </a:ln>
          <a:effectLst/>
        </p:spPr>
        <p:txBody>
          <a:bodyPr vertOverflow="clip" horzOverflow="clip" wrap="square"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1F5E2E"/>
                </a:solidFill>
                <a:effectLst/>
                <a:uLnTx/>
                <a:uFillTx/>
                <a:latin typeface="Arial" panose="020B0604020202020204"/>
                <a:ea typeface="+mn-ea"/>
                <a:cs typeface="+mn-cs"/>
              </a:rPr>
              <a:t>LLM Processing</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Arial" panose="020B060402020202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72524"/>
                </a:solidFill>
                <a:effectLst/>
                <a:uLnTx/>
                <a:uFillTx/>
                <a:latin typeface="Arial" panose="020B0604020202020204"/>
                <a:ea typeface="+mn-ea"/>
                <a:cs typeface="+mn-cs"/>
              </a:rPr>
              <a:t>Claude Sonnet 4</a:t>
            </a:r>
          </a:p>
        </p:txBody>
      </p:sp>
      <p:sp>
        <p:nvSpPr>
          <p:cNvPr id="28" name="Right Arrow 11">
            <a:extLst>
              <a:ext uri="{FF2B5EF4-FFF2-40B4-BE49-F238E27FC236}">
                <a16:creationId xmlns:a16="http://schemas.microsoft.com/office/drawing/2014/main" id="{E7D2D7DB-AC2D-1A9A-3756-3D45DC8BC827}"/>
              </a:ext>
            </a:extLst>
          </p:cNvPr>
          <p:cNvSpPr/>
          <p:nvPr/>
        </p:nvSpPr>
        <p:spPr>
          <a:xfrm>
            <a:off x="4892028" y="2280627"/>
            <a:ext cx="162564" cy="124960"/>
          </a:xfrm>
          <a:prstGeom prst="rightArrow">
            <a:avLst/>
          </a:prstGeom>
          <a:solidFill>
            <a:srgbClr val="8C8C8C"/>
          </a:solidFill>
          <a:ln w="12700" cap="flat" cmpd="sng" algn="ctr">
            <a:noFill/>
            <a:prstDash val="solid"/>
            <a:miter lim="800000"/>
          </a:ln>
          <a:effectLst/>
        </p:spPr>
        <p:txBody>
          <a:bodyPr vertOverflow="clip" horzOverflow="clip"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 name="Right Arrow 11">
            <a:extLst>
              <a:ext uri="{FF2B5EF4-FFF2-40B4-BE49-F238E27FC236}">
                <a16:creationId xmlns:a16="http://schemas.microsoft.com/office/drawing/2014/main" id="{A17E2E31-C12B-CFD4-C44A-F07686F6EDE3}"/>
              </a:ext>
            </a:extLst>
          </p:cNvPr>
          <p:cNvSpPr/>
          <p:nvPr/>
        </p:nvSpPr>
        <p:spPr>
          <a:xfrm>
            <a:off x="6065935" y="2280627"/>
            <a:ext cx="162564" cy="124960"/>
          </a:xfrm>
          <a:prstGeom prst="rightArrow">
            <a:avLst/>
          </a:prstGeom>
          <a:solidFill>
            <a:srgbClr val="8C8C8C"/>
          </a:solidFill>
          <a:ln w="12700" cap="flat" cmpd="sng" algn="ctr">
            <a:noFill/>
            <a:prstDash val="solid"/>
            <a:miter lim="800000"/>
          </a:ln>
          <a:effectLst/>
        </p:spPr>
        <p:txBody>
          <a:bodyPr vertOverflow="clip" horzOverflow="clip"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97483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3E73D-7BC5-0ACF-EDA6-7FF1619E488C}"/>
              </a:ext>
            </a:extLst>
          </p:cNvPr>
          <p:cNvSpPr>
            <a:spLocks noGrp="1"/>
          </p:cNvSpPr>
          <p:nvPr>
            <p:ph type="title"/>
          </p:nvPr>
        </p:nvSpPr>
        <p:spPr/>
        <p:txBody>
          <a:bodyPr/>
          <a:lstStyle/>
          <a:p>
            <a:r>
              <a:rPr lang="en-US"/>
              <a:t>Methods</a:t>
            </a:r>
          </a:p>
        </p:txBody>
      </p:sp>
      <p:sp>
        <p:nvSpPr>
          <p:cNvPr id="3" name="Content Placeholder 2">
            <a:extLst>
              <a:ext uri="{FF2B5EF4-FFF2-40B4-BE49-F238E27FC236}">
                <a16:creationId xmlns:a16="http://schemas.microsoft.com/office/drawing/2014/main" id="{0FCF525D-144C-9C6E-D564-93252AAEB7D2}"/>
              </a:ext>
            </a:extLst>
          </p:cNvPr>
          <p:cNvSpPr>
            <a:spLocks noGrp="1"/>
          </p:cNvSpPr>
          <p:nvPr>
            <p:ph idx="1"/>
          </p:nvPr>
        </p:nvSpPr>
        <p:spPr>
          <a:xfrm>
            <a:off x="457200" y="596900"/>
            <a:ext cx="8229600" cy="4279900"/>
          </a:xfrm>
        </p:spPr>
        <p:txBody>
          <a:bodyPr/>
          <a:lstStyle/>
          <a:p>
            <a:pPr marL="514350" lvl="1">
              <a:spcBef>
                <a:spcPct val="0"/>
              </a:spcBef>
            </a:pPr>
            <a:r>
              <a:rPr lang="en-US" dirty="0">
                <a:solidFill>
                  <a:schemeClr val="tx1">
                    <a:lumMod val="50000"/>
                  </a:schemeClr>
                </a:solidFill>
                <a:latin typeface="Arial" panose="020B0604020202020204" pitchFamily="34" charset="0"/>
              </a:rPr>
              <a:t>Cohort</a:t>
            </a:r>
          </a:p>
          <a:p>
            <a:pPr marL="914400" lvl="2">
              <a:spcBef>
                <a:spcPct val="0"/>
              </a:spcBef>
            </a:pPr>
            <a:r>
              <a:rPr lang="en-US" dirty="0">
                <a:solidFill>
                  <a:schemeClr val="tx1">
                    <a:lumMod val="50000"/>
                  </a:schemeClr>
                </a:solidFill>
                <a:latin typeface="Arial" panose="020B0604020202020204" pitchFamily="34" charset="0"/>
              </a:rPr>
              <a:t>Retrospective chart review</a:t>
            </a:r>
          </a:p>
          <a:p>
            <a:pPr marL="914400" lvl="2">
              <a:spcBef>
                <a:spcPct val="0"/>
              </a:spcBef>
            </a:pPr>
            <a:r>
              <a:rPr lang="en-US" dirty="0">
                <a:solidFill>
                  <a:schemeClr val="tx1">
                    <a:lumMod val="50000"/>
                  </a:schemeClr>
                </a:solidFill>
                <a:latin typeface="Arial" panose="020B0604020202020204" pitchFamily="34" charset="0"/>
              </a:rPr>
              <a:t>200 breast surgery patients across all attending surgeons</a:t>
            </a:r>
          </a:p>
          <a:p>
            <a:pPr marL="514350" lvl="1">
              <a:spcBef>
                <a:spcPct val="0"/>
              </a:spcBef>
            </a:pPr>
            <a:r>
              <a:rPr lang="en-US" dirty="0">
                <a:solidFill>
                  <a:schemeClr val="tx1">
                    <a:lumMod val="50000"/>
                  </a:schemeClr>
                </a:solidFill>
                <a:latin typeface="Arial" panose="020B0604020202020204" pitchFamily="34" charset="0"/>
              </a:rPr>
              <a:t>Source Documents</a:t>
            </a:r>
          </a:p>
          <a:p>
            <a:pPr marL="914400" lvl="2">
              <a:spcBef>
                <a:spcPct val="0"/>
              </a:spcBef>
            </a:pPr>
            <a:r>
              <a:rPr lang="en-US" dirty="0">
                <a:solidFill>
                  <a:schemeClr val="tx1">
                    <a:lumMod val="50000"/>
                  </a:schemeClr>
                </a:solidFill>
                <a:latin typeface="Arial" panose="020B0604020202020204" pitchFamily="34" charset="0"/>
              </a:rPr>
              <a:t>Radiology reports, pathology reports, and internal reviews</a:t>
            </a:r>
          </a:p>
          <a:p>
            <a:pPr marL="514350" lvl="1">
              <a:spcBef>
                <a:spcPct val="0"/>
              </a:spcBef>
            </a:pPr>
            <a:r>
              <a:rPr lang="en-US" dirty="0">
                <a:solidFill>
                  <a:schemeClr val="tx1">
                    <a:lumMod val="50000"/>
                  </a:schemeClr>
                </a:solidFill>
                <a:latin typeface="Arial" panose="020B0604020202020204" pitchFamily="34" charset="0"/>
              </a:rPr>
              <a:t>Breast Surgery Advisor (RAG-Enabled LLM)</a:t>
            </a:r>
          </a:p>
          <a:p>
            <a:pPr marL="914400" lvl="2">
              <a:spcBef>
                <a:spcPct val="0"/>
              </a:spcBef>
            </a:pPr>
            <a:r>
              <a:rPr lang="en-US" dirty="0">
                <a:solidFill>
                  <a:schemeClr val="tx1">
                    <a:lumMod val="50000"/>
                  </a:schemeClr>
                </a:solidFill>
                <a:latin typeface="Arial" panose="020B0604020202020204" pitchFamily="34" charset="0"/>
              </a:rPr>
              <a:t>Low-temperature foundation model (0.1) to reduce variability and fabrication</a:t>
            </a:r>
          </a:p>
          <a:p>
            <a:pPr marL="914400" lvl="2">
              <a:spcBef>
                <a:spcPct val="0"/>
              </a:spcBef>
            </a:pPr>
            <a:r>
              <a:rPr lang="en-US" dirty="0">
                <a:solidFill>
                  <a:schemeClr val="tx1">
                    <a:lumMod val="50000"/>
                  </a:schemeClr>
                </a:solidFill>
                <a:latin typeface="Arial" panose="020B0604020202020204" pitchFamily="34" charset="0"/>
              </a:rPr>
              <a:t>Retrieval-augmented generation (RAG) incorporated a breast cancer diagnostic workup template developed by a breast surgical oncologist</a:t>
            </a:r>
          </a:p>
          <a:p>
            <a:pPr marL="914400" lvl="2">
              <a:spcBef>
                <a:spcPct val="0"/>
              </a:spcBef>
            </a:pPr>
            <a:r>
              <a:rPr lang="en-US" dirty="0">
                <a:solidFill>
                  <a:schemeClr val="tx1">
                    <a:lumMod val="50000"/>
                  </a:schemeClr>
                </a:solidFill>
                <a:latin typeface="Arial" panose="020B0604020202020204" pitchFamily="34" charset="0"/>
              </a:rPr>
              <a:t>Template-based prompting generated standardized summaries of imaging, pathology, discrepancies, and clinical timeline</a:t>
            </a:r>
          </a:p>
          <a:p>
            <a:endParaRPr lang="en-US" dirty="0"/>
          </a:p>
        </p:txBody>
      </p:sp>
    </p:spTree>
    <p:extLst>
      <p:ext uri="{BB962C8B-B14F-4D97-AF65-F5344CB8AC3E}">
        <p14:creationId xmlns:p14="http://schemas.microsoft.com/office/powerpoint/2010/main" val="25218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12783-BAD6-D5F4-806A-D84995A5CFA4}"/>
              </a:ext>
            </a:extLst>
          </p:cNvPr>
          <p:cNvSpPr>
            <a:spLocks noGrp="1"/>
          </p:cNvSpPr>
          <p:nvPr>
            <p:ph type="title"/>
          </p:nvPr>
        </p:nvSpPr>
        <p:spPr/>
        <p:txBody>
          <a:bodyPr/>
          <a:lstStyle/>
          <a:p>
            <a:r>
              <a:rPr lang="en-US"/>
              <a:t>Methods</a:t>
            </a:r>
          </a:p>
        </p:txBody>
      </p:sp>
      <p:graphicFrame>
        <p:nvGraphicFramePr>
          <p:cNvPr id="5" name="Table 4">
            <a:extLst>
              <a:ext uri="{FF2B5EF4-FFF2-40B4-BE49-F238E27FC236}">
                <a16:creationId xmlns:a16="http://schemas.microsoft.com/office/drawing/2014/main" id="{352532A6-D058-B247-A098-E4CDB1F6DA18}"/>
              </a:ext>
            </a:extLst>
          </p:cNvPr>
          <p:cNvGraphicFramePr>
            <a:graphicFrameLocks noGrp="1"/>
          </p:cNvGraphicFramePr>
          <p:nvPr>
            <p:extLst>
              <p:ext uri="{D42A27DB-BD31-4B8C-83A1-F6EECF244321}">
                <p14:modId xmlns:p14="http://schemas.microsoft.com/office/powerpoint/2010/main" val="1267483552"/>
              </p:ext>
            </p:extLst>
          </p:nvPr>
        </p:nvGraphicFramePr>
        <p:xfrm>
          <a:off x="2032000" y="1270000"/>
          <a:ext cx="5080000" cy="3429000"/>
        </p:xfrm>
        <a:graphic>
          <a:graphicData uri="http://schemas.openxmlformats.org/drawingml/2006/table">
            <a:tbl>
              <a:tblPr/>
              <a:tblGrid>
                <a:gridCol w="2540000">
                  <a:extLst>
                    <a:ext uri="{9D8B030D-6E8A-4147-A177-3AD203B41FA5}">
                      <a16:colId xmlns:a16="http://schemas.microsoft.com/office/drawing/2014/main" val="3087063651"/>
                    </a:ext>
                  </a:extLst>
                </a:gridCol>
                <a:gridCol w="2540000">
                  <a:extLst>
                    <a:ext uri="{9D8B030D-6E8A-4147-A177-3AD203B41FA5}">
                      <a16:colId xmlns:a16="http://schemas.microsoft.com/office/drawing/2014/main" val="1574768637"/>
                    </a:ext>
                  </a:extLst>
                </a:gridCol>
              </a:tblGrid>
              <a:tr h="355600">
                <a:tc>
                  <a:txBody>
                    <a:bodyPr/>
                    <a:lstStyle/>
                    <a:p>
                      <a:pPr algn="ctr"/>
                      <a:r>
                        <a:rPr lang="en-US" sz="1600" b="1">
                          <a:solidFill>
                            <a:srgbClr val="FFFFFF"/>
                          </a:solidFill>
                          <a:latin typeface="Calibri"/>
                          <a:cs typeface="Calibri"/>
                        </a:rPr>
                        <a:t>Radiology</a:t>
                      </a:r>
                    </a:p>
                  </a:txBody>
                  <a:tcPr marT="21167" marB="21167" anchor="ctr">
                    <a:lnL w="0"/>
                    <a:lnR w="0"/>
                    <a:lnT w="0"/>
                    <a:lnB w="0"/>
                    <a:lnTlToBr w="0"/>
                    <a:lnBlToTr w="0"/>
                    <a:solidFill>
                      <a:srgbClr val="2F5D50"/>
                    </a:solidFill>
                  </a:tcPr>
                </a:tc>
                <a:tc>
                  <a:txBody>
                    <a:bodyPr/>
                    <a:lstStyle/>
                    <a:p>
                      <a:pPr algn="ctr"/>
                      <a:r>
                        <a:rPr lang="en-US" sz="1600" b="1">
                          <a:solidFill>
                            <a:srgbClr val="FFFFFF"/>
                          </a:solidFill>
                          <a:latin typeface="Calibri"/>
                          <a:cs typeface="Calibri"/>
                        </a:rPr>
                        <a:t>Pathology</a:t>
                      </a:r>
                    </a:p>
                  </a:txBody>
                  <a:tcPr marT="21167" marB="21167" anchor="ctr">
                    <a:lnL w="0"/>
                    <a:lnR w="0"/>
                    <a:lnT w="0"/>
                    <a:lnB w="0"/>
                    <a:lnTlToBr w="0"/>
                    <a:lnBlToTr w="0"/>
                    <a:solidFill>
                      <a:srgbClr val="C2693A"/>
                    </a:solidFill>
                  </a:tcPr>
                </a:tc>
                <a:extLst>
                  <a:ext uri="{0D108BD9-81ED-4DB2-BD59-A6C34878D82A}">
                    <a16:rowId xmlns:a16="http://schemas.microsoft.com/office/drawing/2014/main" val="2922859805"/>
                  </a:ext>
                </a:extLst>
              </a:tr>
              <a:tr h="279400">
                <a:tc>
                  <a:txBody>
                    <a:bodyPr/>
                    <a:lstStyle/>
                    <a:p>
                      <a:pPr algn="l"/>
                      <a:r>
                        <a:rPr lang="en-US" sz="1400">
                          <a:solidFill>
                            <a:srgbClr val="2D2E2D"/>
                          </a:solidFill>
                          <a:latin typeface="Calibri"/>
                          <a:cs typeface="Calibri"/>
                        </a:rPr>
                        <a:t>Lesion size</a:t>
                      </a:r>
                    </a:p>
                  </a:txBody>
                  <a:tcPr marT="21167" marB="21167" anchor="ctr">
                    <a:lnL w="0"/>
                    <a:lnR w="0"/>
                    <a:lnT w="0"/>
                    <a:lnB w="0"/>
                    <a:lnTlToBr w="0"/>
                    <a:lnBlToTr w="0"/>
                  </a:tcPr>
                </a:tc>
                <a:tc>
                  <a:txBody>
                    <a:bodyPr/>
                    <a:lstStyle/>
                    <a:p>
                      <a:pPr algn="l"/>
                      <a:r>
                        <a:rPr lang="en-US" sz="1400">
                          <a:solidFill>
                            <a:srgbClr val="2D2E2D"/>
                          </a:solidFill>
                          <a:latin typeface="Calibri"/>
                          <a:cs typeface="Calibri"/>
                        </a:rPr>
                        <a:t>Histology</a:t>
                      </a:r>
                    </a:p>
                  </a:txBody>
                  <a:tcPr marT="21167" marB="21167" anchor="ctr">
                    <a:lnL w="0"/>
                    <a:lnR w="0"/>
                    <a:lnT w="0"/>
                    <a:lnB w="0"/>
                    <a:lnTlToBr w="0"/>
                    <a:lnBlToTr w="0"/>
                  </a:tcPr>
                </a:tc>
                <a:extLst>
                  <a:ext uri="{0D108BD9-81ED-4DB2-BD59-A6C34878D82A}">
                    <a16:rowId xmlns:a16="http://schemas.microsoft.com/office/drawing/2014/main" val="705230830"/>
                  </a:ext>
                </a:extLst>
              </a:tr>
              <a:tr h="279400">
                <a:tc>
                  <a:txBody>
                    <a:bodyPr/>
                    <a:lstStyle/>
                    <a:p>
                      <a:pPr algn="l"/>
                      <a:r>
                        <a:rPr lang="en-US" sz="1400">
                          <a:solidFill>
                            <a:srgbClr val="2D2E2D"/>
                          </a:solidFill>
                          <a:latin typeface="Calibri"/>
                          <a:cs typeface="Calibri"/>
                        </a:rPr>
                        <a:t>Lesion location</a:t>
                      </a:r>
                    </a:p>
                  </a:txBody>
                  <a:tcPr marT="21167" marB="21167" anchor="ctr">
                    <a:lnL w="0"/>
                    <a:lnR w="0"/>
                    <a:lnT w="0"/>
                    <a:lnB w="0"/>
                    <a:lnTlToBr w="0"/>
                    <a:lnBlToTr w="0"/>
                  </a:tcPr>
                </a:tc>
                <a:tc>
                  <a:txBody>
                    <a:bodyPr/>
                    <a:lstStyle/>
                    <a:p>
                      <a:pPr algn="l"/>
                      <a:r>
                        <a:rPr lang="en-US" sz="1400">
                          <a:solidFill>
                            <a:srgbClr val="2D2E2D"/>
                          </a:solidFill>
                          <a:latin typeface="Calibri"/>
                          <a:cs typeface="Calibri"/>
                        </a:rPr>
                        <a:t>Invasive component size</a:t>
                      </a:r>
                    </a:p>
                  </a:txBody>
                  <a:tcPr marT="21167" marB="21167" anchor="ctr">
                    <a:lnL w="0"/>
                    <a:lnR w="0"/>
                    <a:lnT w="0"/>
                    <a:lnB w="0"/>
                    <a:lnTlToBr w="0"/>
                    <a:lnBlToTr w="0"/>
                  </a:tcPr>
                </a:tc>
                <a:extLst>
                  <a:ext uri="{0D108BD9-81ED-4DB2-BD59-A6C34878D82A}">
                    <a16:rowId xmlns:a16="http://schemas.microsoft.com/office/drawing/2014/main" val="1753675433"/>
                  </a:ext>
                </a:extLst>
              </a:tr>
              <a:tr h="279400">
                <a:tc>
                  <a:txBody>
                    <a:bodyPr/>
                    <a:lstStyle/>
                    <a:p>
                      <a:pPr algn="l"/>
                      <a:r>
                        <a:rPr lang="en-US" sz="1400">
                          <a:solidFill>
                            <a:srgbClr val="2D2E2D"/>
                          </a:solidFill>
                          <a:latin typeface="Calibri"/>
                          <a:cs typeface="Calibri"/>
                        </a:rPr>
                        <a:t>Laterality</a:t>
                      </a:r>
                    </a:p>
                  </a:txBody>
                  <a:tcPr marT="21167" marB="21167" anchor="ctr">
                    <a:lnL w="0"/>
                    <a:lnR w="0"/>
                    <a:lnT w="0"/>
                    <a:lnB w="0"/>
                    <a:lnTlToBr w="0"/>
                    <a:lnBlToTr w="0"/>
                  </a:tcPr>
                </a:tc>
                <a:tc>
                  <a:txBody>
                    <a:bodyPr/>
                    <a:lstStyle/>
                    <a:p>
                      <a:pPr algn="l"/>
                      <a:r>
                        <a:rPr lang="en-US" sz="1400">
                          <a:solidFill>
                            <a:srgbClr val="2D2E2D"/>
                          </a:solidFill>
                          <a:latin typeface="Calibri"/>
                          <a:cs typeface="Calibri"/>
                        </a:rPr>
                        <a:t>Receptor status</a:t>
                      </a:r>
                    </a:p>
                  </a:txBody>
                  <a:tcPr marT="21167" marB="21167" anchor="ctr">
                    <a:lnL w="0"/>
                    <a:lnR w="0"/>
                    <a:lnT w="0"/>
                    <a:lnB w="0"/>
                    <a:lnTlToBr w="0"/>
                    <a:lnBlToTr w="0"/>
                  </a:tcPr>
                </a:tc>
                <a:extLst>
                  <a:ext uri="{0D108BD9-81ED-4DB2-BD59-A6C34878D82A}">
                    <a16:rowId xmlns:a16="http://schemas.microsoft.com/office/drawing/2014/main" val="4067788562"/>
                  </a:ext>
                </a:extLst>
              </a:tr>
              <a:tr h="279400">
                <a:tc>
                  <a:txBody>
                    <a:bodyPr/>
                    <a:lstStyle/>
                    <a:p>
                      <a:pPr algn="l"/>
                      <a:r>
                        <a:rPr lang="en-US" sz="1400">
                          <a:solidFill>
                            <a:srgbClr val="2D2E2D"/>
                          </a:solidFill>
                          <a:latin typeface="Calibri"/>
                          <a:cs typeface="Calibri"/>
                        </a:rPr>
                        <a:t>Calcifications</a:t>
                      </a:r>
                    </a:p>
                  </a:txBody>
                  <a:tcPr marT="21167" marB="21167" anchor="ctr">
                    <a:lnL w="0"/>
                    <a:lnR w="0"/>
                    <a:lnT w="0"/>
                    <a:lnB w="0"/>
                    <a:lnTlToBr w="0"/>
                    <a:lnBlToTr w="0"/>
                  </a:tcPr>
                </a:tc>
                <a:tc>
                  <a:txBody>
                    <a:bodyPr/>
                    <a:lstStyle/>
                    <a:p>
                      <a:pPr algn="l"/>
                      <a:endParaRPr lang="en-US" sz="1400">
                        <a:solidFill>
                          <a:srgbClr val="2D2E2D"/>
                        </a:solidFill>
                        <a:latin typeface="Calibri"/>
                        <a:cs typeface="Calibri"/>
                      </a:endParaRPr>
                    </a:p>
                  </a:txBody>
                  <a:tcPr marT="21167" marB="21167" anchor="ctr">
                    <a:lnL w="0"/>
                    <a:lnR w="0"/>
                    <a:lnT w="0"/>
                    <a:lnB w="0"/>
                    <a:lnTlToBr w="0"/>
                    <a:lnBlToTr w="0"/>
                  </a:tcPr>
                </a:tc>
                <a:extLst>
                  <a:ext uri="{0D108BD9-81ED-4DB2-BD59-A6C34878D82A}">
                    <a16:rowId xmlns:a16="http://schemas.microsoft.com/office/drawing/2014/main" val="1784336376"/>
                  </a:ext>
                </a:extLst>
              </a:tr>
              <a:tr h="279400">
                <a:tc>
                  <a:txBody>
                    <a:bodyPr/>
                    <a:lstStyle/>
                    <a:p>
                      <a:pPr algn="l"/>
                      <a:r>
                        <a:rPr lang="en-US" sz="1400">
                          <a:solidFill>
                            <a:srgbClr val="2D2E2D"/>
                          </a:solidFill>
                          <a:latin typeface="Calibri"/>
                          <a:cs typeface="Calibri"/>
                        </a:rPr>
                        <a:t>MRI enhancement</a:t>
                      </a:r>
                    </a:p>
                  </a:txBody>
                  <a:tcPr marT="21167" marB="21167" anchor="ctr">
                    <a:lnL w="0"/>
                    <a:lnR w="0"/>
                    <a:lnT w="0"/>
                    <a:lnB w="0"/>
                    <a:lnTlToBr w="0"/>
                    <a:lnBlToTr w="0"/>
                  </a:tcPr>
                </a:tc>
                <a:tc>
                  <a:txBody>
                    <a:bodyPr/>
                    <a:lstStyle/>
                    <a:p>
                      <a:pPr algn="l"/>
                      <a:endParaRPr lang="en-US" sz="1400">
                        <a:solidFill>
                          <a:srgbClr val="2D2E2D"/>
                        </a:solidFill>
                        <a:latin typeface="Calibri"/>
                        <a:cs typeface="Calibri"/>
                      </a:endParaRPr>
                    </a:p>
                  </a:txBody>
                  <a:tcPr marT="21167" marB="21167" anchor="ctr">
                    <a:lnL w="0"/>
                    <a:lnR w="0"/>
                    <a:lnT w="0"/>
                    <a:lnB w="0"/>
                    <a:lnTlToBr w="0"/>
                    <a:lnBlToTr w="0"/>
                  </a:tcPr>
                </a:tc>
                <a:extLst>
                  <a:ext uri="{0D108BD9-81ED-4DB2-BD59-A6C34878D82A}">
                    <a16:rowId xmlns:a16="http://schemas.microsoft.com/office/drawing/2014/main" val="27450981"/>
                  </a:ext>
                </a:extLst>
              </a:tr>
              <a:tr h="279400">
                <a:tc>
                  <a:txBody>
                    <a:bodyPr/>
                    <a:lstStyle/>
                    <a:p>
                      <a:pPr algn="l"/>
                      <a:r>
                        <a:rPr lang="en-US" sz="1400" dirty="0">
                          <a:solidFill>
                            <a:srgbClr val="2D2E2D"/>
                          </a:solidFill>
                          <a:latin typeface="Calibri"/>
                          <a:cs typeface="Calibri"/>
                        </a:rPr>
                        <a:t>Extent of enhancement</a:t>
                      </a:r>
                    </a:p>
                  </a:txBody>
                  <a:tcPr marT="21167" marB="21167" anchor="ctr">
                    <a:lnL w="0"/>
                    <a:lnR w="0"/>
                    <a:lnT w="0"/>
                    <a:lnB w="0"/>
                    <a:lnTlToBr w="0"/>
                    <a:lnBlToTr w="0"/>
                  </a:tcPr>
                </a:tc>
                <a:tc>
                  <a:txBody>
                    <a:bodyPr/>
                    <a:lstStyle/>
                    <a:p>
                      <a:pPr algn="l"/>
                      <a:endParaRPr lang="en-US" sz="1400">
                        <a:solidFill>
                          <a:srgbClr val="2D2E2D"/>
                        </a:solidFill>
                        <a:latin typeface="Calibri"/>
                        <a:cs typeface="Calibri"/>
                      </a:endParaRPr>
                    </a:p>
                  </a:txBody>
                  <a:tcPr marT="21167" marB="21167" anchor="ctr">
                    <a:lnL w="0"/>
                    <a:lnR w="0"/>
                    <a:lnT w="0"/>
                    <a:lnB w="0"/>
                    <a:lnTlToBr w="0"/>
                    <a:lnBlToTr w="0"/>
                  </a:tcPr>
                </a:tc>
                <a:extLst>
                  <a:ext uri="{0D108BD9-81ED-4DB2-BD59-A6C34878D82A}">
                    <a16:rowId xmlns:a16="http://schemas.microsoft.com/office/drawing/2014/main" val="2354997286"/>
                  </a:ext>
                </a:extLst>
              </a:tr>
              <a:tr h="279400">
                <a:tc>
                  <a:txBody>
                    <a:bodyPr/>
                    <a:lstStyle/>
                    <a:p>
                      <a:pPr algn="l"/>
                      <a:r>
                        <a:rPr lang="en-US" sz="1400">
                          <a:solidFill>
                            <a:srgbClr val="2D2E2D"/>
                          </a:solidFill>
                          <a:latin typeface="Calibri"/>
                          <a:cs typeface="Calibri"/>
                        </a:rPr>
                        <a:t>Lymph node status</a:t>
                      </a:r>
                    </a:p>
                  </a:txBody>
                  <a:tcPr marT="21167" marB="21167" anchor="ctr">
                    <a:lnL w="0"/>
                    <a:lnR w="0"/>
                    <a:lnT w="0"/>
                    <a:lnB w="0"/>
                    <a:lnTlToBr w="0"/>
                    <a:lnBlToTr w="0"/>
                  </a:tcPr>
                </a:tc>
                <a:tc>
                  <a:txBody>
                    <a:bodyPr/>
                    <a:lstStyle/>
                    <a:p>
                      <a:pPr algn="l"/>
                      <a:endParaRPr lang="en-US" sz="1400">
                        <a:solidFill>
                          <a:srgbClr val="2D2E2D"/>
                        </a:solidFill>
                        <a:latin typeface="Calibri"/>
                        <a:cs typeface="Calibri"/>
                      </a:endParaRPr>
                    </a:p>
                  </a:txBody>
                  <a:tcPr marT="21167" marB="21167" anchor="ctr">
                    <a:lnL w="0"/>
                    <a:lnR w="0"/>
                    <a:lnT w="0"/>
                    <a:lnB w="0"/>
                    <a:lnTlToBr w="0"/>
                    <a:lnBlToTr w="0"/>
                  </a:tcPr>
                </a:tc>
                <a:extLst>
                  <a:ext uri="{0D108BD9-81ED-4DB2-BD59-A6C34878D82A}">
                    <a16:rowId xmlns:a16="http://schemas.microsoft.com/office/drawing/2014/main" val="3952389772"/>
                  </a:ext>
                </a:extLst>
              </a:tr>
              <a:tr h="279400">
                <a:tc>
                  <a:txBody>
                    <a:bodyPr/>
                    <a:lstStyle/>
                    <a:p>
                      <a:pPr algn="l"/>
                      <a:r>
                        <a:rPr lang="en-US" sz="1400">
                          <a:solidFill>
                            <a:srgbClr val="2D2E2D"/>
                          </a:solidFill>
                          <a:latin typeface="Calibri"/>
                          <a:cs typeface="Calibri"/>
                        </a:rPr>
                        <a:t>Biopsy method</a:t>
                      </a:r>
                    </a:p>
                  </a:txBody>
                  <a:tcPr marT="21167" marB="21167" anchor="ctr">
                    <a:lnL w="0"/>
                    <a:lnR w="0"/>
                    <a:lnT w="0"/>
                    <a:lnB w="0"/>
                    <a:lnTlToBr w="0"/>
                    <a:lnBlToTr w="0"/>
                  </a:tcPr>
                </a:tc>
                <a:tc>
                  <a:txBody>
                    <a:bodyPr/>
                    <a:lstStyle/>
                    <a:p>
                      <a:pPr algn="l"/>
                      <a:endParaRPr lang="en-US" sz="1400">
                        <a:solidFill>
                          <a:srgbClr val="2D2E2D"/>
                        </a:solidFill>
                        <a:latin typeface="Calibri"/>
                        <a:cs typeface="Calibri"/>
                      </a:endParaRPr>
                    </a:p>
                  </a:txBody>
                  <a:tcPr marT="21167" marB="21167" anchor="ctr">
                    <a:lnL w="0"/>
                    <a:lnR w="0"/>
                    <a:lnT w="0"/>
                    <a:lnB w="0"/>
                    <a:lnTlToBr w="0"/>
                    <a:lnBlToTr w="0"/>
                  </a:tcPr>
                </a:tc>
                <a:extLst>
                  <a:ext uri="{0D108BD9-81ED-4DB2-BD59-A6C34878D82A}">
                    <a16:rowId xmlns:a16="http://schemas.microsoft.com/office/drawing/2014/main" val="2033632549"/>
                  </a:ext>
                </a:extLst>
              </a:tr>
              <a:tr h="279400">
                <a:tc>
                  <a:txBody>
                    <a:bodyPr/>
                    <a:lstStyle/>
                    <a:p>
                      <a:pPr algn="l"/>
                      <a:r>
                        <a:rPr lang="en-US" sz="1400">
                          <a:solidFill>
                            <a:srgbClr val="2D2E2D"/>
                          </a:solidFill>
                          <a:latin typeface="Calibri"/>
                          <a:cs typeface="Calibri"/>
                        </a:rPr>
                        <a:t>Clip placement</a:t>
                      </a:r>
                    </a:p>
                  </a:txBody>
                  <a:tcPr marT="21167" marB="21167" anchor="ctr">
                    <a:lnL w="0"/>
                    <a:lnR w="0"/>
                    <a:lnT w="0"/>
                    <a:lnB w="0"/>
                    <a:lnTlToBr w="0"/>
                    <a:lnBlToTr w="0"/>
                  </a:tcPr>
                </a:tc>
                <a:tc>
                  <a:txBody>
                    <a:bodyPr/>
                    <a:lstStyle/>
                    <a:p>
                      <a:pPr algn="l"/>
                      <a:endParaRPr lang="en-US" sz="1400">
                        <a:solidFill>
                          <a:srgbClr val="2D2E2D"/>
                        </a:solidFill>
                        <a:latin typeface="Calibri"/>
                        <a:cs typeface="Calibri"/>
                      </a:endParaRPr>
                    </a:p>
                  </a:txBody>
                  <a:tcPr marT="21167" marB="21167" anchor="ctr">
                    <a:lnL w="0"/>
                    <a:lnR w="0"/>
                    <a:lnT w="0"/>
                    <a:lnB w="0"/>
                    <a:lnTlToBr w="0"/>
                    <a:lnBlToTr w="0"/>
                  </a:tcPr>
                </a:tc>
                <a:extLst>
                  <a:ext uri="{0D108BD9-81ED-4DB2-BD59-A6C34878D82A}">
                    <a16:rowId xmlns:a16="http://schemas.microsoft.com/office/drawing/2014/main" val="405918019"/>
                  </a:ext>
                </a:extLst>
              </a:tr>
              <a:tr h="279400">
                <a:tc>
                  <a:txBody>
                    <a:bodyPr/>
                    <a:lstStyle/>
                    <a:p>
                      <a:pPr algn="l"/>
                      <a:r>
                        <a:rPr lang="en-US" sz="1400">
                          <a:solidFill>
                            <a:srgbClr val="2D2E2D"/>
                          </a:solidFill>
                          <a:latin typeface="Calibri"/>
                          <a:cs typeface="Calibri"/>
                        </a:rPr>
                        <a:t>Preserved chronology</a:t>
                      </a:r>
                    </a:p>
                  </a:txBody>
                  <a:tcPr marT="21167" marB="21167" anchor="ctr">
                    <a:lnL w="0"/>
                    <a:lnR w="0"/>
                    <a:lnT w="0"/>
                    <a:lnB w="0"/>
                    <a:lnTlToBr w="0"/>
                    <a:lnBlToTr w="0"/>
                  </a:tcPr>
                </a:tc>
                <a:tc>
                  <a:txBody>
                    <a:bodyPr/>
                    <a:lstStyle/>
                    <a:p>
                      <a:pPr algn="l"/>
                      <a:endParaRPr lang="en-US" sz="1400">
                        <a:solidFill>
                          <a:srgbClr val="2D2E2D"/>
                        </a:solidFill>
                        <a:latin typeface="Calibri"/>
                        <a:cs typeface="Calibri"/>
                      </a:endParaRPr>
                    </a:p>
                  </a:txBody>
                  <a:tcPr marT="21167" marB="21167" anchor="ctr">
                    <a:lnL w="0"/>
                    <a:lnR w="0"/>
                    <a:lnT w="0"/>
                    <a:lnB w="0"/>
                    <a:lnTlToBr w="0"/>
                    <a:lnBlToTr w="0"/>
                  </a:tcPr>
                </a:tc>
                <a:extLst>
                  <a:ext uri="{0D108BD9-81ED-4DB2-BD59-A6C34878D82A}">
                    <a16:rowId xmlns:a16="http://schemas.microsoft.com/office/drawing/2014/main" val="3091370641"/>
                  </a:ext>
                </a:extLst>
              </a:tr>
              <a:tr h="279400">
                <a:tc>
                  <a:txBody>
                    <a:bodyPr/>
                    <a:lstStyle/>
                    <a:p>
                      <a:pPr algn="l"/>
                      <a:r>
                        <a:rPr lang="en-US" sz="1400">
                          <a:solidFill>
                            <a:srgbClr val="2D2E2D"/>
                          </a:solidFill>
                          <a:latin typeface="Calibri"/>
                          <a:cs typeface="Calibri"/>
                        </a:rPr>
                        <a:t>Workup recommendations</a:t>
                      </a:r>
                    </a:p>
                  </a:txBody>
                  <a:tcPr marT="21167" marB="21167" anchor="ctr">
                    <a:lnL w="0"/>
                    <a:lnR w="0"/>
                    <a:lnT w="0"/>
                    <a:lnB w="0"/>
                    <a:lnTlToBr w="0"/>
                    <a:lnBlToTr w="0"/>
                  </a:tcPr>
                </a:tc>
                <a:tc>
                  <a:txBody>
                    <a:bodyPr/>
                    <a:lstStyle/>
                    <a:p>
                      <a:pPr algn="l"/>
                      <a:endParaRPr lang="en-US" sz="1400" dirty="0">
                        <a:solidFill>
                          <a:srgbClr val="2D2E2D"/>
                        </a:solidFill>
                        <a:latin typeface="Calibri"/>
                        <a:cs typeface="Calibri"/>
                      </a:endParaRPr>
                    </a:p>
                  </a:txBody>
                  <a:tcPr marT="21167" marB="21167" anchor="ctr">
                    <a:lnL w="0"/>
                    <a:lnR w="0"/>
                    <a:lnT w="0"/>
                    <a:lnB w="0"/>
                    <a:lnTlToBr w="0"/>
                    <a:lnBlToTr w="0"/>
                  </a:tcPr>
                </a:tc>
                <a:extLst>
                  <a:ext uri="{0D108BD9-81ED-4DB2-BD59-A6C34878D82A}">
                    <a16:rowId xmlns:a16="http://schemas.microsoft.com/office/drawing/2014/main" val="1278209351"/>
                  </a:ext>
                </a:extLst>
              </a:tr>
            </a:tbl>
          </a:graphicData>
        </a:graphic>
      </p:graphicFrame>
      <p:sp>
        <p:nvSpPr>
          <p:cNvPr id="6" name="TextBox 5">
            <a:extLst>
              <a:ext uri="{FF2B5EF4-FFF2-40B4-BE49-F238E27FC236}">
                <a16:creationId xmlns:a16="http://schemas.microsoft.com/office/drawing/2014/main" id="{17BEF9A7-76B0-3D48-9705-C2160E1F231B}"/>
              </a:ext>
            </a:extLst>
          </p:cNvPr>
          <p:cNvSpPr txBox="1"/>
          <p:nvPr/>
        </p:nvSpPr>
        <p:spPr>
          <a:xfrm>
            <a:off x="385864" y="539066"/>
            <a:ext cx="8229600" cy="406400"/>
          </a:xfrm>
          <a:prstGeom prst="rect">
            <a:avLst/>
          </a:prstGeom>
          <a:noFill/>
        </p:spPr>
        <p:txBody>
          <a:bodyPr vertOverflow="overflow" vert="horz" wrap="square" rtlCol="0" anchor="t" anchorCtr="0">
            <a:noAutofit/>
          </a:bodyPr>
          <a:lstStyle/>
          <a:p>
            <a:pPr algn="l"/>
            <a:r>
              <a:rPr lang="en-US" sz="2000" b="1" dirty="0">
                <a:solidFill>
                  <a:srgbClr val="2D2E2D"/>
                </a:solidFill>
                <a:latin typeface="Arial"/>
                <a:cs typeface="Arial"/>
              </a:rPr>
              <a:t>Features Extracted by Domain</a:t>
            </a:r>
          </a:p>
        </p:txBody>
      </p:sp>
    </p:spTree>
    <p:extLst>
      <p:ext uri="{BB962C8B-B14F-4D97-AF65-F5344CB8AC3E}">
        <p14:creationId xmlns:p14="http://schemas.microsoft.com/office/powerpoint/2010/main" val="2552490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9051A-D636-17B1-2811-1E102560AE3B}"/>
              </a:ext>
            </a:extLst>
          </p:cNvPr>
          <p:cNvSpPr>
            <a:spLocks noGrp="1"/>
          </p:cNvSpPr>
          <p:nvPr>
            <p:ph type="title"/>
          </p:nvPr>
        </p:nvSpPr>
        <p:spPr/>
        <p:txBody>
          <a:bodyPr/>
          <a:lstStyle/>
          <a:p>
            <a:r>
              <a:rPr lang="en-US"/>
              <a:t>Methods</a:t>
            </a:r>
          </a:p>
        </p:txBody>
      </p:sp>
      <p:sp>
        <p:nvSpPr>
          <p:cNvPr id="3" name="Content Placeholder 2">
            <a:extLst>
              <a:ext uri="{FF2B5EF4-FFF2-40B4-BE49-F238E27FC236}">
                <a16:creationId xmlns:a16="http://schemas.microsoft.com/office/drawing/2014/main" id="{F2E4C14C-1B2D-1B0E-8781-DD61FF9DB186}"/>
              </a:ext>
            </a:extLst>
          </p:cNvPr>
          <p:cNvSpPr>
            <a:spLocks noGrp="1"/>
          </p:cNvSpPr>
          <p:nvPr>
            <p:ph idx="1"/>
          </p:nvPr>
        </p:nvSpPr>
        <p:spPr/>
        <p:txBody>
          <a:bodyPr/>
          <a:lstStyle/>
          <a:p>
            <a:r>
              <a:rPr lang="en-US" b="1" dirty="0"/>
              <a:t>Validation</a:t>
            </a:r>
          </a:p>
          <a:p>
            <a:r>
              <a:rPr lang="en-US" dirty="0"/>
              <a:t>For each case:</a:t>
            </a:r>
          </a:p>
          <a:p>
            <a:pPr marL="285750" indent="-285750">
              <a:buFont typeface="Arial" panose="020B0604020202020204" pitchFamily="34" charset="0"/>
              <a:buChar char="•"/>
            </a:pPr>
            <a:r>
              <a:rPr lang="en-US" dirty="0"/>
              <a:t>Source documents were reviewed to confirm presence or absence of each clinical feature</a:t>
            </a:r>
          </a:p>
          <a:p>
            <a:endParaRPr lang="en-US" dirty="0"/>
          </a:p>
          <a:p>
            <a:r>
              <a:rPr lang="en-US" dirty="0"/>
              <a:t>Then for features present in source documents, each summary (LLM and staff) was classified as:</a:t>
            </a:r>
          </a:p>
          <a:p>
            <a:pPr marL="285750" indent="-285750">
              <a:buFont typeface="Arial" panose="020B0604020202020204" pitchFamily="34" charset="0"/>
              <a:buChar char="•"/>
            </a:pPr>
            <a:r>
              <a:rPr lang="en-US" dirty="0"/>
              <a:t>Accurate: correctly documented</a:t>
            </a:r>
          </a:p>
          <a:p>
            <a:pPr marL="285750" indent="-285750">
              <a:buFont typeface="Arial" panose="020B0604020202020204" pitchFamily="34" charset="0"/>
              <a:buChar char="•"/>
            </a:pPr>
            <a:r>
              <a:rPr lang="en-US" dirty="0"/>
              <a:t>Fabrication: incorrectly documented</a:t>
            </a:r>
          </a:p>
          <a:p>
            <a:pPr marL="285750" indent="-285750">
              <a:buFont typeface="Arial" panose="020B0604020202020204" pitchFamily="34" charset="0"/>
              <a:buChar char="•"/>
            </a:pPr>
            <a:r>
              <a:rPr lang="en-US" dirty="0"/>
              <a:t>Omission: entirely missing</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224221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B93D4-CDB1-1B30-2FE4-18A6DB23A429}"/>
              </a:ext>
            </a:extLst>
          </p:cNvPr>
          <p:cNvSpPr>
            <a:spLocks noGrp="1"/>
          </p:cNvSpPr>
          <p:nvPr>
            <p:ph type="title"/>
          </p:nvPr>
        </p:nvSpPr>
        <p:spPr>
          <a:xfrm>
            <a:off x="457199" y="123568"/>
            <a:ext cx="8220243" cy="415498"/>
          </a:xfrm>
        </p:spPr>
        <p:txBody>
          <a:bodyPr anchor="t">
            <a:normAutofit/>
          </a:bodyPr>
          <a:lstStyle/>
          <a:p>
            <a:r>
              <a:rPr lang="en-US" dirty="0"/>
              <a:t>Results</a:t>
            </a:r>
          </a:p>
        </p:txBody>
      </p:sp>
      <p:graphicFrame>
        <p:nvGraphicFramePr>
          <p:cNvPr id="12" name="ResultsTable">
            <a:extLst>
              <a:ext uri="{FF2B5EF4-FFF2-40B4-BE49-F238E27FC236}">
                <a16:creationId xmlns:a16="http://schemas.microsoft.com/office/drawing/2014/main" id="{50F63D8D-AA96-CB49-A1F7-7A1DE5153E9E}"/>
              </a:ext>
            </a:extLst>
          </p:cNvPr>
          <p:cNvGraphicFramePr>
            <a:graphicFrameLocks noGrp="1"/>
          </p:cNvGraphicFramePr>
          <p:nvPr/>
        </p:nvGraphicFramePr>
        <p:xfrm>
          <a:off x="152400" y="762000"/>
          <a:ext cx="8483600" cy="3937000"/>
        </p:xfrm>
        <a:graphic>
          <a:graphicData uri="http://schemas.openxmlformats.org/drawingml/2006/table">
            <a:tbl>
              <a:tblPr/>
              <a:tblGrid>
                <a:gridCol w="1625600">
                  <a:extLst>
                    <a:ext uri="{9D8B030D-6E8A-4147-A177-3AD203B41FA5}">
                      <a16:colId xmlns:a16="http://schemas.microsoft.com/office/drawing/2014/main" val="662305872"/>
                    </a:ext>
                  </a:extLst>
                </a:gridCol>
                <a:gridCol w="965200">
                  <a:extLst>
                    <a:ext uri="{9D8B030D-6E8A-4147-A177-3AD203B41FA5}">
                      <a16:colId xmlns:a16="http://schemas.microsoft.com/office/drawing/2014/main" val="3172306018"/>
                    </a:ext>
                  </a:extLst>
                </a:gridCol>
                <a:gridCol w="965200">
                  <a:extLst>
                    <a:ext uri="{9D8B030D-6E8A-4147-A177-3AD203B41FA5}">
                      <a16:colId xmlns:a16="http://schemas.microsoft.com/office/drawing/2014/main" val="1977118520"/>
                    </a:ext>
                  </a:extLst>
                </a:gridCol>
                <a:gridCol w="965200">
                  <a:extLst>
                    <a:ext uri="{9D8B030D-6E8A-4147-A177-3AD203B41FA5}">
                      <a16:colId xmlns:a16="http://schemas.microsoft.com/office/drawing/2014/main" val="1754084482"/>
                    </a:ext>
                  </a:extLst>
                </a:gridCol>
                <a:gridCol w="965200">
                  <a:extLst>
                    <a:ext uri="{9D8B030D-6E8A-4147-A177-3AD203B41FA5}">
                      <a16:colId xmlns:a16="http://schemas.microsoft.com/office/drawing/2014/main" val="3797822703"/>
                    </a:ext>
                  </a:extLst>
                </a:gridCol>
                <a:gridCol w="914400">
                  <a:extLst>
                    <a:ext uri="{9D8B030D-6E8A-4147-A177-3AD203B41FA5}">
                      <a16:colId xmlns:a16="http://schemas.microsoft.com/office/drawing/2014/main" val="1936006251"/>
                    </a:ext>
                  </a:extLst>
                </a:gridCol>
                <a:gridCol w="914400">
                  <a:extLst>
                    <a:ext uri="{9D8B030D-6E8A-4147-A177-3AD203B41FA5}">
                      <a16:colId xmlns:a16="http://schemas.microsoft.com/office/drawing/2014/main" val="1217057746"/>
                    </a:ext>
                  </a:extLst>
                </a:gridCol>
                <a:gridCol w="1168400">
                  <a:extLst>
                    <a:ext uri="{9D8B030D-6E8A-4147-A177-3AD203B41FA5}">
                      <a16:colId xmlns:a16="http://schemas.microsoft.com/office/drawing/2014/main" val="879361134"/>
                    </a:ext>
                  </a:extLst>
                </a:gridCol>
              </a:tblGrid>
              <a:tr h="177800">
                <a:tc rowSpan="2">
                  <a:txBody>
                    <a:bodyPr/>
                    <a:lstStyle/>
                    <a:p>
                      <a:pPr algn="ctr"/>
                      <a:r>
                        <a:rPr lang="en-US" sz="1100" b="1">
                          <a:solidFill>
                            <a:srgbClr val="FFFFFF"/>
                          </a:solidFill>
                          <a:latin typeface="Arial"/>
                          <a:cs typeface="Arial"/>
                        </a:rPr>
                        <a:t>Feature</a:t>
                      </a:r>
                    </a:p>
                  </a:txBody>
                  <a:tcPr marT="0" marB="0" anchor="ctr">
                    <a:lnL w="0"/>
                    <a:lnR w="0"/>
                    <a:lnT w="0"/>
                    <a:lnB w="0"/>
                    <a:lnTlToBr w="0"/>
                    <a:lnBlToTr w="0"/>
                    <a:solidFill>
                      <a:srgbClr val="B31B1B"/>
                    </a:solidFill>
                  </a:tcPr>
                </a:tc>
                <a:tc gridSpan="2">
                  <a:txBody>
                    <a:bodyPr/>
                    <a:lstStyle/>
                    <a:p>
                      <a:pPr algn="ctr"/>
                      <a:r>
                        <a:rPr lang="en-US" sz="1100" b="1">
                          <a:solidFill>
                            <a:srgbClr val="FFFFFF"/>
                          </a:solidFill>
                          <a:latin typeface="Arial"/>
                          <a:cs typeface="Arial"/>
                        </a:rPr>
                        <a:t>Accuracy (%)</a:t>
                      </a:r>
                    </a:p>
                  </a:txBody>
                  <a:tcPr marT="0" marB="0" anchor="ctr">
                    <a:lnL w="0"/>
                    <a:lnR w="0"/>
                    <a:lnT w="0"/>
                    <a:lnB w="0"/>
                    <a:lnTlToBr w="0"/>
                    <a:lnBlToTr w="0"/>
                    <a:solidFill>
                      <a:srgbClr val="B31B1B"/>
                    </a:solidFill>
                  </a:tcPr>
                </a:tc>
                <a:tc hMerge="1">
                  <a:txBody>
                    <a:bodyPr/>
                    <a:lstStyle/>
                    <a:p>
                      <a:endParaRPr lang="en-US"/>
                    </a:p>
                  </a:txBody>
                  <a:tcPr marT="0" marB="0">
                    <a:lnL w="0"/>
                    <a:lnR w="0"/>
                    <a:lnT w="0"/>
                    <a:lnB w="0"/>
                    <a:lnTlToBr w="0"/>
                    <a:lnBlToTr w="0"/>
                  </a:tcPr>
                </a:tc>
                <a:tc gridSpan="2">
                  <a:txBody>
                    <a:bodyPr/>
                    <a:lstStyle/>
                    <a:p>
                      <a:pPr algn="ctr"/>
                      <a:r>
                        <a:rPr lang="en-US" sz="1100" b="1">
                          <a:solidFill>
                            <a:srgbClr val="FFFFFF"/>
                          </a:solidFill>
                          <a:latin typeface="Arial"/>
                          <a:cs typeface="Arial"/>
                        </a:rPr>
                        <a:t>Omission (%)</a:t>
                      </a:r>
                    </a:p>
                  </a:txBody>
                  <a:tcPr marT="0" marB="0" anchor="ctr">
                    <a:lnL w="0"/>
                    <a:lnR w="0"/>
                    <a:lnT w="0"/>
                    <a:lnB w="0"/>
                    <a:lnTlToBr w="0"/>
                    <a:lnBlToTr w="0"/>
                    <a:solidFill>
                      <a:srgbClr val="B31B1B"/>
                    </a:solidFill>
                  </a:tcPr>
                </a:tc>
                <a:tc hMerge="1">
                  <a:txBody>
                    <a:bodyPr/>
                    <a:lstStyle/>
                    <a:p>
                      <a:endParaRPr lang="en-US"/>
                    </a:p>
                  </a:txBody>
                  <a:tcPr marT="0" marB="0">
                    <a:lnL w="0"/>
                    <a:lnR w="0"/>
                    <a:lnT w="0"/>
                    <a:lnB w="0"/>
                    <a:lnTlToBr w="0"/>
                    <a:lnBlToTr w="0"/>
                  </a:tcPr>
                </a:tc>
                <a:tc gridSpan="2">
                  <a:txBody>
                    <a:bodyPr/>
                    <a:lstStyle/>
                    <a:p>
                      <a:pPr algn="ctr"/>
                      <a:r>
                        <a:rPr lang="en-US" sz="1100" b="1">
                          <a:solidFill>
                            <a:srgbClr val="FFFFFF"/>
                          </a:solidFill>
                          <a:latin typeface="Arial"/>
                          <a:cs typeface="Arial"/>
                        </a:rPr>
                        <a:t>Fabrication (%)</a:t>
                      </a:r>
                    </a:p>
                  </a:txBody>
                  <a:tcPr marT="0" marB="0" anchor="ctr">
                    <a:lnL w="0"/>
                    <a:lnR w="0"/>
                    <a:lnT w="0"/>
                    <a:lnB w="0"/>
                    <a:lnTlToBr w="0"/>
                    <a:lnBlToTr w="0"/>
                    <a:solidFill>
                      <a:srgbClr val="B31B1B"/>
                    </a:solidFill>
                  </a:tcPr>
                </a:tc>
                <a:tc hMerge="1">
                  <a:txBody>
                    <a:bodyPr/>
                    <a:lstStyle/>
                    <a:p>
                      <a:endParaRPr lang="en-US"/>
                    </a:p>
                  </a:txBody>
                  <a:tcPr marT="0" marB="0">
                    <a:lnL w="0"/>
                    <a:lnR w="0"/>
                    <a:lnT w="0"/>
                    <a:lnB w="0"/>
                    <a:lnTlToBr w="0"/>
                    <a:lnBlToTr w="0"/>
                  </a:tcPr>
                </a:tc>
                <a:tc rowSpan="2">
                  <a:txBody>
                    <a:bodyPr/>
                    <a:lstStyle/>
                    <a:p>
                      <a:pPr algn="ctr"/>
                      <a:r>
                        <a:rPr lang="en-US" sz="1100" b="1">
                          <a:solidFill>
                            <a:srgbClr val="FFFFFF"/>
                          </a:solidFill>
                          <a:latin typeface="Arial"/>
                          <a:cs typeface="Arial"/>
                        </a:rPr>
                        <a:t>P-value*</a:t>
                      </a:r>
                    </a:p>
                  </a:txBody>
                  <a:tcPr marT="0" marB="0" anchor="ctr">
                    <a:lnL w="0"/>
                    <a:lnR w="0"/>
                    <a:lnT w="0"/>
                    <a:lnB w="0"/>
                    <a:lnTlToBr w="0"/>
                    <a:lnBlToTr w="0"/>
                    <a:solidFill>
                      <a:srgbClr val="B31B1B"/>
                    </a:solidFill>
                  </a:tcPr>
                </a:tc>
                <a:extLst>
                  <a:ext uri="{0D108BD9-81ED-4DB2-BD59-A6C34878D82A}">
                    <a16:rowId xmlns:a16="http://schemas.microsoft.com/office/drawing/2014/main" val="123730411"/>
                  </a:ext>
                </a:extLst>
              </a:tr>
              <a:tr h="177800">
                <a:tc vMerge="1">
                  <a:txBody>
                    <a:bodyPr/>
                    <a:lstStyle/>
                    <a:p>
                      <a:endParaRPr lang="en-US"/>
                    </a:p>
                  </a:txBody>
                  <a:tcPr marT="0" marB="0">
                    <a:lnL w="0"/>
                    <a:lnR w="0"/>
                    <a:lnT w="0"/>
                    <a:lnB w="0"/>
                    <a:lnTlToBr w="0"/>
                    <a:lnBlToTr w="0"/>
                  </a:tcPr>
                </a:tc>
                <a:tc>
                  <a:txBody>
                    <a:bodyPr/>
                    <a:lstStyle/>
                    <a:p>
                      <a:pPr algn="ctr"/>
                      <a:r>
                        <a:rPr lang="en-US" sz="1100" b="1">
                          <a:solidFill>
                            <a:srgbClr val="FFFFFF"/>
                          </a:solidFill>
                          <a:latin typeface="Arial"/>
                          <a:cs typeface="Arial"/>
                        </a:rPr>
                        <a:t>Human</a:t>
                      </a:r>
                    </a:p>
                  </a:txBody>
                  <a:tcPr marT="0" marB="0" anchor="ctr">
                    <a:lnL w="0"/>
                    <a:lnR w="0"/>
                    <a:lnT w="0"/>
                    <a:lnB w="0"/>
                    <a:lnTlToBr w="0"/>
                    <a:lnBlToTr w="0"/>
                    <a:solidFill>
                      <a:srgbClr val="B31B1B"/>
                    </a:solidFill>
                  </a:tcPr>
                </a:tc>
                <a:tc>
                  <a:txBody>
                    <a:bodyPr/>
                    <a:lstStyle/>
                    <a:p>
                      <a:pPr algn="ctr"/>
                      <a:r>
                        <a:rPr lang="en-US" sz="1100" b="1">
                          <a:solidFill>
                            <a:srgbClr val="FFFFFF"/>
                          </a:solidFill>
                          <a:latin typeface="Arial"/>
                          <a:cs typeface="Arial"/>
                        </a:rPr>
                        <a:t>AI</a:t>
                      </a:r>
                    </a:p>
                  </a:txBody>
                  <a:tcPr marT="0" marB="0" anchor="ctr">
                    <a:lnL w="0"/>
                    <a:lnR w="0"/>
                    <a:lnT w="0"/>
                    <a:lnB w="0"/>
                    <a:lnTlToBr w="0"/>
                    <a:lnBlToTr w="0"/>
                    <a:solidFill>
                      <a:srgbClr val="B31B1B"/>
                    </a:solidFill>
                  </a:tcPr>
                </a:tc>
                <a:tc>
                  <a:txBody>
                    <a:bodyPr/>
                    <a:lstStyle/>
                    <a:p>
                      <a:pPr algn="ctr"/>
                      <a:r>
                        <a:rPr lang="en-US" sz="1100" b="1">
                          <a:solidFill>
                            <a:srgbClr val="FFFFFF"/>
                          </a:solidFill>
                          <a:latin typeface="Arial"/>
                          <a:cs typeface="Arial"/>
                        </a:rPr>
                        <a:t>Human</a:t>
                      </a:r>
                    </a:p>
                  </a:txBody>
                  <a:tcPr marT="0" marB="0" anchor="ctr">
                    <a:lnL w="0"/>
                    <a:lnR w="0"/>
                    <a:lnT w="0"/>
                    <a:lnB w="0"/>
                    <a:lnTlToBr w="0"/>
                    <a:lnBlToTr w="0"/>
                    <a:solidFill>
                      <a:srgbClr val="B31B1B"/>
                    </a:solidFill>
                  </a:tcPr>
                </a:tc>
                <a:tc>
                  <a:txBody>
                    <a:bodyPr/>
                    <a:lstStyle/>
                    <a:p>
                      <a:pPr algn="ctr"/>
                      <a:r>
                        <a:rPr lang="en-US" sz="1100" b="1">
                          <a:solidFill>
                            <a:srgbClr val="FFFFFF"/>
                          </a:solidFill>
                          <a:latin typeface="Arial"/>
                          <a:cs typeface="Arial"/>
                        </a:rPr>
                        <a:t>AI</a:t>
                      </a:r>
                    </a:p>
                  </a:txBody>
                  <a:tcPr marT="0" marB="0" anchor="ctr">
                    <a:lnL w="0"/>
                    <a:lnR w="0"/>
                    <a:lnT w="0"/>
                    <a:lnB w="0"/>
                    <a:lnTlToBr w="0"/>
                    <a:lnBlToTr w="0"/>
                    <a:solidFill>
                      <a:srgbClr val="B31B1B"/>
                    </a:solidFill>
                  </a:tcPr>
                </a:tc>
                <a:tc>
                  <a:txBody>
                    <a:bodyPr/>
                    <a:lstStyle/>
                    <a:p>
                      <a:pPr algn="ctr"/>
                      <a:r>
                        <a:rPr lang="en-US" sz="1100" b="1">
                          <a:solidFill>
                            <a:srgbClr val="FFFFFF"/>
                          </a:solidFill>
                          <a:latin typeface="Arial"/>
                          <a:cs typeface="Arial"/>
                        </a:rPr>
                        <a:t>Human</a:t>
                      </a:r>
                    </a:p>
                  </a:txBody>
                  <a:tcPr marT="0" marB="0" anchor="ctr">
                    <a:lnL w="0"/>
                    <a:lnR w="0"/>
                    <a:lnT w="0"/>
                    <a:lnB w="0"/>
                    <a:lnTlToBr w="0"/>
                    <a:lnBlToTr w="0"/>
                    <a:solidFill>
                      <a:srgbClr val="B31B1B"/>
                    </a:solidFill>
                  </a:tcPr>
                </a:tc>
                <a:tc>
                  <a:txBody>
                    <a:bodyPr/>
                    <a:lstStyle/>
                    <a:p>
                      <a:pPr algn="ctr"/>
                      <a:r>
                        <a:rPr lang="en-US" sz="1100" b="1">
                          <a:solidFill>
                            <a:srgbClr val="FFFFFF"/>
                          </a:solidFill>
                          <a:latin typeface="Arial"/>
                          <a:cs typeface="Arial"/>
                        </a:rPr>
                        <a:t>AI</a:t>
                      </a:r>
                    </a:p>
                  </a:txBody>
                  <a:tcPr marT="0" marB="0" anchor="ctr">
                    <a:lnL w="0"/>
                    <a:lnR w="0"/>
                    <a:lnT w="0"/>
                    <a:lnB w="0"/>
                    <a:lnTlToBr w="0"/>
                    <a:lnBlToTr w="0"/>
                    <a:solidFill>
                      <a:srgbClr val="B31B1B"/>
                    </a:solidFill>
                  </a:tcPr>
                </a:tc>
                <a:tc vMerge="1">
                  <a:txBody>
                    <a:bodyPr/>
                    <a:lstStyle/>
                    <a:p>
                      <a:endParaRPr lang="en-US"/>
                    </a:p>
                  </a:txBody>
                  <a:tcPr marT="0" marB="0">
                    <a:lnL w="0"/>
                    <a:lnR w="0"/>
                    <a:lnT w="0"/>
                    <a:lnB w="0"/>
                    <a:lnTlToBr w="0"/>
                    <a:lnBlToTr w="0"/>
                  </a:tcPr>
                </a:tc>
                <a:extLst>
                  <a:ext uri="{0D108BD9-81ED-4DB2-BD59-A6C34878D82A}">
                    <a16:rowId xmlns:a16="http://schemas.microsoft.com/office/drawing/2014/main" val="133304445"/>
                  </a:ext>
                </a:extLst>
              </a:tr>
              <a:tr h="190500">
                <a:tc>
                  <a:txBody>
                    <a:bodyPr/>
                    <a:lstStyle/>
                    <a:p>
                      <a:pPr algn="l"/>
                      <a:r>
                        <a:rPr lang="en-US" sz="1000" b="1">
                          <a:solidFill>
                            <a:srgbClr val="2D2E2D"/>
                          </a:solidFill>
                          <a:latin typeface="Arial"/>
                          <a:cs typeface="Arial"/>
                        </a:rPr>
                        <a:t>Lesion size</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96 (92-98)</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95 (91-98)</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2.6 (0.94-6.2)</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2.6 (0.94-6.2)</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1 (0.18-4.0)</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2 (0.66-5.5)</a:t>
                      </a:r>
                    </a:p>
                  </a:txBody>
                  <a:tcPr marT="0" marB="0" anchor="ctr">
                    <a:lnL w="0"/>
                    <a:lnR w="0"/>
                    <a:lnT w="0"/>
                    <a:lnB w="0"/>
                    <a:lnTlToBr w="0"/>
                    <a:lnBlToTr w="0"/>
                    <a:solidFill>
                      <a:srgbClr val="FFFFFF"/>
                    </a:solidFill>
                  </a:tcPr>
                </a:tc>
                <a:tc>
                  <a:txBody>
                    <a:bodyPr/>
                    <a:lstStyle/>
                    <a:p>
                      <a:pPr algn="ctr"/>
                      <a:r>
                        <a:rPr lang="en-US" sz="1000" b="0">
                          <a:solidFill>
                            <a:srgbClr val="2D2E2D"/>
                          </a:solidFill>
                          <a:latin typeface="Arial"/>
                          <a:cs typeface="Arial"/>
                        </a:rPr>
                        <a:t>0.61</a:t>
                      </a:r>
                    </a:p>
                  </a:txBody>
                  <a:tcPr marT="0" marB="0" anchor="ctr">
                    <a:lnL w="0"/>
                    <a:lnR w="0"/>
                    <a:lnT w="0"/>
                    <a:lnB w="0"/>
                    <a:lnTlToBr w="0"/>
                    <a:lnBlToTr w="0"/>
                    <a:solidFill>
                      <a:srgbClr val="FFFFFF"/>
                    </a:solidFill>
                  </a:tcPr>
                </a:tc>
                <a:extLst>
                  <a:ext uri="{0D108BD9-81ED-4DB2-BD59-A6C34878D82A}">
                    <a16:rowId xmlns:a16="http://schemas.microsoft.com/office/drawing/2014/main" val="2937101309"/>
                  </a:ext>
                </a:extLst>
              </a:tr>
              <a:tr h="190500">
                <a:tc>
                  <a:txBody>
                    <a:bodyPr/>
                    <a:lstStyle/>
                    <a:p>
                      <a:pPr algn="l"/>
                      <a:r>
                        <a:rPr lang="en-US" sz="1000" b="1">
                          <a:solidFill>
                            <a:srgbClr val="2D2E2D"/>
                          </a:solidFill>
                          <a:latin typeface="Arial"/>
                          <a:cs typeface="Arial"/>
                        </a:rPr>
                        <a:t>Lesion location</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98 (95-100)</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98 (95-99)</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1.5 (0.39-4.7)</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2.0 (0.65-5.4)</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2F0F0"/>
                    </a:solidFill>
                  </a:tcPr>
                </a:tc>
                <a:tc>
                  <a:txBody>
                    <a:bodyPr/>
                    <a:lstStyle/>
                    <a:p>
                      <a:pPr algn="ctr"/>
                      <a:r>
                        <a:rPr lang="en-US" sz="1000" b="0">
                          <a:solidFill>
                            <a:srgbClr val="2D2E2D"/>
                          </a:solidFill>
                          <a:latin typeface="Arial"/>
                          <a:cs typeface="Arial"/>
                        </a:rPr>
                        <a:t>0.99</a:t>
                      </a:r>
                    </a:p>
                  </a:txBody>
                  <a:tcPr marT="0" marB="0" anchor="ctr">
                    <a:lnL w="0"/>
                    <a:lnR w="0"/>
                    <a:lnT w="0"/>
                    <a:lnB w="0"/>
                    <a:lnTlToBr w="0"/>
                    <a:lnBlToTr w="0"/>
                    <a:solidFill>
                      <a:srgbClr val="F2F0F0"/>
                    </a:solidFill>
                  </a:tcPr>
                </a:tc>
                <a:extLst>
                  <a:ext uri="{0D108BD9-81ED-4DB2-BD59-A6C34878D82A}">
                    <a16:rowId xmlns:a16="http://schemas.microsoft.com/office/drawing/2014/main" val="3873535906"/>
                  </a:ext>
                </a:extLst>
              </a:tr>
              <a:tr h="190500">
                <a:tc>
                  <a:txBody>
                    <a:bodyPr/>
                    <a:lstStyle/>
                    <a:p>
                      <a:pPr algn="l"/>
                      <a:r>
                        <a:rPr lang="en-US" sz="1000" b="1">
                          <a:solidFill>
                            <a:srgbClr val="2D2E2D"/>
                          </a:solidFill>
                          <a:latin typeface="Arial"/>
                          <a:cs typeface="Arial"/>
                        </a:rPr>
                        <a:t>Laterality</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100 (97-100)</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100 (97-100)</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0.5 (0.03-3.2)</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0.5 (0.03-3.2)</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FFFFF"/>
                    </a:solidFill>
                  </a:tcPr>
                </a:tc>
                <a:tc>
                  <a:txBody>
                    <a:bodyPr/>
                    <a:lstStyle/>
                    <a:p>
                      <a:pPr algn="ctr"/>
                      <a:r>
                        <a:rPr lang="en-US" sz="1000" b="0">
                          <a:solidFill>
                            <a:srgbClr val="2D2E2D"/>
                          </a:solidFill>
                          <a:latin typeface="Arial"/>
                          <a:cs typeface="Arial"/>
                        </a:rPr>
                        <a:t>0.99</a:t>
                      </a:r>
                    </a:p>
                  </a:txBody>
                  <a:tcPr marT="0" marB="0" anchor="ctr">
                    <a:lnL w="0"/>
                    <a:lnR w="0"/>
                    <a:lnT w="0"/>
                    <a:lnB w="0"/>
                    <a:lnTlToBr w="0"/>
                    <a:lnBlToTr w="0"/>
                    <a:solidFill>
                      <a:srgbClr val="FFFFFF"/>
                    </a:solidFill>
                  </a:tcPr>
                </a:tc>
                <a:extLst>
                  <a:ext uri="{0D108BD9-81ED-4DB2-BD59-A6C34878D82A}">
                    <a16:rowId xmlns:a16="http://schemas.microsoft.com/office/drawing/2014/main" val="2380953708"/>
                  </a:ext>
                </a:extLst>
              </a:tr>
              <a:tr h="190500">
                <a:tc>
                  <a:txBody>
                    <a:bodyPr/>
                    <a:lstStyle/>
                    <a:p>
                      <a:pPr algn="l"/>
                      <a:r>
                        <a:rPr lang="en-US" sz="1000" b="1">
                          <a:solidFill>
                            <a:srgbClr val="2D2E2D"/>
                          </a:solidFill>
                          <a:latin typeface="Arial"/>
                          <a:cs typeface="Arial"/>
                        </a:rPr>
                        <a:t>Calcifications and asymmetry</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94 (87-97)</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98 (93-99)</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6.3 (3-12)</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2.4 (0.61-7.3)</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2F0F0"/>
                    </a:solidFill>
                  </a:tcPr>
                </a:tc>
                <a:tc>
                  <a:txBody>
                    <a:bodyPr/>
                    <a:lstStyle/>
                    <a:p>
                      <a:pPr algn="ctr"/>
                      <a:r>
                        <a:rPr lang="en-US" sz="1000" b="0">
                          <a:solidFill>
                            <a:srgbClr val="2D2E2D"/>
                          </a:solidFill>
                          <a:latin typeface="Arial"/>
                          <a:cs typeface="Arial"/>
                        </a:rPr>
                        <a:t>0.23</a:t>
                      </a:r>
                    </a:p>
                  </a:txBody>
                  <a:tcPr marT="0" marB="0" anchor="ctr">
                    <a:lnL w="0"/>
                    <a:lnR w="0"/>
                    <a:lnT w="0"/>
                    <a:lnB w="0"/>
                    <a:lnTlToBr w="0"/>
                    <a:lnBlToTr w="0"/>
                    <a:solidFill>
                      <a:srgbClr val="F2F0F0"/>
                    </a:solidFill>
                  </a:tcPr>
                </a:tc>
                <a:extLst>
                  <a:ext uri="{0D108BD9-81ED-4DB2-BD59-A6C34878D82A}">
                    <a16:rowId xmlns:a16="http://schemas.microsoft.com/office/drawing/2014/main" val="2430632967"/>
                  </a:ext>
                </a:extLst>
              </a:tr>
              <a:tr h="190500">
                <a:tc>
                  <a:txBody>
                    <a:bodyPr/>
                    <a:lstStyle/>
                    <a:p>
                      <a:pPr algn="l"/>
                      <a:r>
                        <a:rPr lang="en-US" sz="1000" b="1">
                          <a:solidFill>
                            <a:srgbClr val="2D2E2D"/>
                          </a:solidFill>
                          <a:latin typeface="Arial"/>
                          <a:cs typeface="Arial"/>
                        </a:rPr>
                        <a:t>MRI enhancement</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86 (74-93)</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96 (87-99)</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14 (6.7-26)</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3.5 (0.61-13)</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FFFFF"/>
                    </a:solidFill>
                  </a:tcPr>
                </a:tc>
                <a:tc>
                  <a:txBody>
                    <a:bodyPr/>
                    <a:lstStyle/>
                    <a:p>
                      <a:pPr algn="ctr"/>
                      <a:r>
                        <a:rPr lang="en-US" sz="1000" b="0">
                          <a:solidFill>
                            <a:srgbClr val="2D2E2D"/>
                          </a:solidFill>
                          <a:latin typeface="Arial"/>
                          <a:cs typeface="Arial"/>
                        </a:rPr>
                        <a:t>0.07</a:t>
                      </a:r>
                    </a:p>
                  </a:txBody>
                  <a:tcPr marT="0" marB="0" anchor="ctr">
                    <a:lnL w="0"/>
                    <a:lnR w="0"/>
                    <a:lnT w="0"/>
                    <a:lnB w="0"/>
                    <a:lnTlToBr w="0"/>
                    <a:lnBlToTr w="0"/>
                    <a:solidFill>
                      <a:srgbClr val="FFFFFF"/>
                    </a:solidFill>
                  </a:tcPr>
                </a:tc>
                <a:extLst>
                  <a:ext uri="{0D108BD9-81ED-4DB2-BD59-A6C34878D82A}">
                    <a16:rowId xmlns:a16="http://schemas.microsoft.com/office/drawing/2014/main" val="4165882208"/>
                  </a:ext>
                </a:extLst>
              </a:tr>
              <a:tr h="190500">
                <a:tc>
                  <a:txBody>
                    <a:bodyPr/>
                    <a:lstStyle/>
                    <a:p>
                      <a:pPr algn="l"/>
                      <a:r>
                        <a:rPr lang="en-US" sz="1000" b="1">
                          <a:solidFill>
                            <a:srgbClr val="2D2E2D"/>
                          </a:solidFill>
                          <a:latin typeface="Arial"/>
                          <a:cs typeface="Arial"/>
                        </a:rPr>
                        <a:t>Extent enhancement</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87 (77-93)</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96 (88-99)</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12 (6.6-21)</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3.4 (0.87-10)</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1.1 (0.06-7.0)</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1.1 (0.06-7.0)</a:t>
                      </a:r>
                    </a:p>
                  </a:txBody>
                  <a:tcPr marT="0" marB="0" anchor="ctr">
                    <a:lnL w="0"/>
                    <a:lnR w="0"/>
                    <a:lnT w="0"/>
                    <a:lnB w="0"/>
                    <a:lnTlToBr w="0"/>
                    <a:lnBlToTr w="0"/>
                    <a:solidFill>
                      <a:srgbClr val="F2F0F0"/>
                    </a:solidFill>
                  </a:tcPr>
                </a:tc>
                <a:tc>
                  <a:txBody>
                    <a:bodyPr/>
                    <a:lstStyle/>
                    <a:p>
                      <a:pPr algn="ctr"/>
                      <a:r>
                        <a:rPr lang="en-US" sz="1000" b="1">
                          <a:solidFill>
                            <a:srgbClr val="B31B1B"/>
                          </a:solidFill>
                          <a:latin typeface="Arial"/>
                          <a:cs typeface="Arial"/>
                        </a:rPr>
                        <a:t>0.04</a:t>
                      </a:r>
                    </a:p>
                  </a:txBody>
                  <a:tcPr marT="0" marB="0" anchor="ctr">
                    <a:lnL w="0"/>
                    <a:lnR w="0"/>
                    <a:lnT w="0"/>
                    <a:lnB w="0"/>
                    <a:lnTlToBr w="0"/>
                    <a:lnBlToTr w="0"/>
                    <a:solidFill>
                      <a:srgbClr val="F2F0F0"/>
                    </a:solidFill>
                  </a:tcPr>
                </a:tc>
                <a:extLst>
                  <a:ext uri="{0D108BD9-81ED-4DB2-BD59-A6C34878D82A}">
                    <a16:rowId xmlns:a16="http://schemas.microsoft.com/office/drawing/2014/main" val="2944364945"/>
                  </a:ext>
                </a:extLst>
              </a:tr>
              <a:tr h="190500">
                <a:tc>
                  <a:txBody>
                    <a:bodyPr/>
                    <a:lstStyle/>
                    <a:p>
                      <a:pPr algn="l"/>
                      <a:r>
                        <a:rPr lang="en-US" sz="1000" b="1">
                          <a:solidFill>
                            <a:srgbClr val="2D2E2D"/>
                          </a:solidFill>
                          <a:latin typeface="Arial"/>
                          <a:cs typeface="Arial"/>
                        </a:rPr>
                        <a:t>Lymph node status</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72 (64-78)</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95 (90-98)</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28 (22-36)</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4.9 (2.3-9.8)</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FFFFF"/>
                    </a:solidFill>
                  </a:tcPr>
                </a:tc>
                <a:tc>
                  <a:txBody>
                    <a:bodyPr/>
                    <a:lstStyle/>
                    <a:p>
                      <a:pPr algn="ctr"/>
                      <a:r>
                        <a:rPr lang="en-US" sz="1000" b="1">
                          <a:solidFill>
                            <a:srgbClr val="B31B1B"/>
                          </a:solidFill>
                          <a:latin typeface="Arial"/>
                          <a:cs typeface="Arial"/>
                        </a:rPr>
                        <a:t>&lt;0.001</a:t>
                      </a:r>
                    </a:p>
                  </a:txBody>
                  <a:tcPr marT="0" marB="0" anchor="ctr">
                    <a:lnL w="0"/>
                    <a:lnR w="0"/>
                    <a:lnT w="0"/>
                    <a:lnB w="0"/>
                    <a:lnTlToBr w="0"/>
                    <a:lnBlToTr w="0"/>
                    <a:solidFill>
                      <a:srgbClr val="FFFFFF"/>
                    </a:solidFill>
                  </a:tcPr>
                </a:tc>
                <a:extLst>
                  <a:ext uri="{0D108BD9-81ED-4DB2-BD59-A6C34878D82A}">
                    <a16:rowId xmlns:a16="http://schemas.microsoft.com/office/drawing/2014/main" val="3367195398"/>
                  </a:ext>
                </a:extLst>
              </a:tr>
              <a:tr h="190500">
                <a:tc>
                  <a:txBody>
                    <a:bodyPr/>
                    <a:lstStyle/>
                    <a:p>
                      <a:pPr algn="l"/>
                      <a:r>
                        <a:rPr lang="en-US" sz="1000" b="1">
                          <a:solidFill>
                            <a:srgbClr val="2D2E2D"/>
                          </a:solidFill>
                          <a:latin typeface="Arial"/>
                          <a:cs typeface="Arial"/>
                        </a:rPr>
                        <a:t>Biopsy method</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93 (88-96)</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99 (97-100)</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6.5 (3.7-11)</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0.5 (0.03-3.2)</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0.5 (0.03-3.2)</a:t>
                      </a:r>
                    </a:p>
                  </a:txBody>
                  <a:tcPr marT="0" marB="0" anchor="ctr">
                    <a:lnL w="0"/>
                    <a:lnR w="0"/>
                    <a:lnT w="0"/>
                    <a:lnB w="0"/>
                    <a:lnTlToBr w="0"/>
                    <a:lnBlToTr w="0"/>
                    <a:solidFill>
                      <a:srgbClr val="F2F0F0"/>
                    </a:solidFill>
                  </a:tcPr>
                </a:tc>
                <a:tc>
                  <a:txBody>
                    <a:bodyPr/>
                    <a:lstStyle/>
                    <a:p>
                      <a:pPr algn="ctr"/>
                      <a:r>
                        <a:rPr lang="en-US" sz="1000" b="1">
                          <a:solidFill>
                            <a:srgbClr val="B31B1B"/>
                          </a:solidFill>
                          <a:latin typeface="Arial"/>
                          <a:cs typeface="Arial"/>
                        </a:rPr>
                        <a:t>0.01</a:t>
                      </a:r>
                    </a:p>
                  </a:txBody>
                  <a:tcPr marT="0" marB="0" anchor="ctr">
                    <a:lnL w="0"/>
                    <a:lnR w="0"/>
                    <a:lnT w="0"/>
                    <a:lnB w="0"/>
                    <a:lnTlToBr w="0"/>
                    <a:lnBlToTr w="0"/>
                    <a:solidFill>
                      <a:srgbClr val="F2F0F0"/>
                    </a:solidFill>
                  </a:tcPr>
                </a:tc>
                <a:extLst>
                  <a:ext uri="{0D108BD9-81ED-4DB2-BD59-A6C34878D82A}">
                    <a16:rowId xmlns:a16="http://schemas.microsoft.com/office/drawing/2014/main" val="4160065566"/>
                  </a:ext>
                </a:extLst>
              </a:tr>
              <a:tr h="190500">
                <a:tc>
                  <a:txBody>
                    <a:bodyPr/>
                    <a:lstStyle/>
                    <a:p>
                      <a:pPr algn="l"/>
                      <a:r>
                        <a:rPr lang="en-US" sz="1000" b="1">
                          <a:solidFill>
                            <a:srgbClr val="2D2E2D"/>
                          </a:solidFill>
                          <a:latin typeface="Arial"/>
                          <a:cs typeface="Arial"/>
                        </a:rPr>
                        <a:t>Clip placement</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86 (80-91)</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97 (93-99)</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14 (9.3-20)</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2.8 (1.0-6.7)</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FFFFF"/>
                    </a:solidFill>
                  </a:tcPr>
                </a:tc>
                <a:tc>
                  <a:txBody>
                    <a:bodyPr/>
                    <a:lstStyle/>
                    <a:p>
                      <a:pPr algn="ctr"/>
                      <a:r>
                        <a:rPr lang="en-US" sz="1000" b="1">
                          <a:solidFill>
                            <a:srgbClr val="B31B1B"/>
                          </a:solidFill>
                          <a:latin typeface="Arial"/>
                          <a:cs typeface="Arial"/>
                        </a:rPr>
                        <a:t>&lt;0.001</a:t>
                      </a:r>
                    </a:p>
                  </a:txBody>
                  <a:tcPr marT="0" marB="0" anchor="ctr">
                    <a:lnL w="0"/>
                    <a:lnR w="0"/>
                    <a:lnT w="0"/>
                    <a:lnB w="0"/>
                    <a:lnTlToBr w="0"/>
                    <a:lnBlToTr w="0"/>
                    <a:solidFill>
                      <a:srgbClr val="FFFFFF"/>
                    </a:solidFill>
                  </a:tcPr>
                </a:tc>
                <a:extLst>
                  <a:ext uri="{0D108BD9-81ED-4DB2-BD59-A6C34878D82A}">
                    <a16:rowId xmlns:a16="http://schemas.microsoft.com/office/drawing/2014/main" val="4148159087"/>
                  </a:ext>
                </a:extLst>
              </a:tr>
              <a:tr h="190500">
                <a:tc>
                  <a:txBody>
                    <a:bodyPr/>
                    <a:lstStyle/>
                    <a:p>
                      <a:pPr algn="l"/>
                      <a:r>
                        <a:rPr lang="en-US" sz="1000" b="1">
                          <a:solidFill>
                            <a:srgbClr val="2D2E2D"/>
                          </a:solidFill>
                          <a:latin typeface="Arial"/>
                          <a:cs typeface="Arial"/>
                        </a:rPr>
                        <a:t>Histology</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98 (95-99)</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98 (94-99)</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2 (0.64-5.4)</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2 (0.64-5.4)</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0.5 (0.03-3.2)</a:t>
                      </a:r>
                    </a:p>
                  </a:txBody>
                  <a:tcPr marT="0" marB="0" anchor="ctr">
                    <a:lnL w="0"/>
                    <a:lnR w="0"/>
                    <a:lnT w="0"/>
                    <a:lnB w="0"/>
                    <a:lnTlToBr w="0"/>
                    <a:lnBlToTr w="0"/>
                    <a:solidFill>
                      <a:srgbClr val="F2F0F0"/>
                    </a:solidFill>
                  </a:tcPr>
                </a:tc>
                <a:tc>
                  <a:txBody>
                    <a:bodyPr/>
                    <a:lstStyle/>
                    <a:p>
                      <a:pPr algn="ctr"/>
                      <a:r>
                        <a:rPr lang="en-US" sz="1000" b="0">
                          <a:solidFill>
                            <a:srgbClr val="2D2E2D"/>
                          </a:solidFill>
                          <a:latin typeface="Arial"/>
                          <a:cs typeface="Arial"/>
                        </a:rPr>
                        <a:t>0.74</a:t>
                      </a:r>
                    </a:p>
                  </a:txBody>
                  <a:tcPr marT="0" marB="0" anchor="ctr">
                    <a:lnL w="0"/>
                    <a:lnR w="0"/>
                    <a:lnT w="0"/>
                    <a:lnB w="0"/>
                    <a:lnTlToBr w="0"/>
                    <a:lnBlToTr w="0"/>
                    <a:solidFill>
                      <a:srgbClr val="F2F0F0"/>
                    </a:solidFill>
                  </a:tcPr>
                </a:tc>
                <a:extLst>
                  <a:ext uri="{0D108BD9-81ED-4DB2-BD59-A6C34878D82A}">
                    <a16:rowId xmlns:a16="http://schemas.microsoft.com/office/drawing/2014/main" val="3074701767"/>
                  </a:ext>
                </a:extLst>
              </a:tr>
              <a:tr h="190500">
                <a:tc>
                  <a:txBody>
                    <a:bodyPr/>
                    <a:lstStyle/>
                    <a:p>
                      <a:pPr algn="l"/>
                      <a:r>
                        <a:rPr lang="en-US" sz="1000" b="1">
                          <a:solidFill>
                            <a:srgbClr val="2D2E2D"/>
                          </a:solidFill>
                          <a:latin typeface="Arial"/>
                          <a:cs typeface="Arial"/>
                        </a:rPr>
                        <a:t>Invasive component</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30 (23-38)</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94 (88-97)</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70 (62-77)</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4.8 (2.1-10)</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1.4 (0.22-4.9)</a:t>
                      </a:r>
                    </a:p>
                  </a:txBody>
                  <a:tcPr marT="0" marB="0" anchor="ctr">
                    <a:lnL w="0"/>
                    <a:lnR w="0"/>
                    <a:lnT w="0"/>
                    <a:lnB w="0"/>
                    <a:lnTlToBr w="0"/>
                    <a:lnBlToTr w="0"/>
                    <a:solidFill>
                      <a:srgbClr val="FFFFFF"/>
                    </a:solidFill>
                  </a:tcPr>
                </a:tc>
                <a:tc>
                  <a:txBody>
                    <a:bodyPr/>
                    <a:lstStyle/>
                    <a:p>
                      <a:pPr algn="ctr"/>
                      <a:r>
                        <a:rPr lang="en-US" sz="1000" b="1">
                          <a:solidFill>
                            <a:srgbClr val="B31B1B"/>
                          </a:solidFill>
                          <a:latin typeface="Arial"/>
                          <a:cs typeface="Arial"/>
                        </a:rPr>
                        <a:t>&lt;0.001</a:t>
                      </a:r>
                    </a:p>
                  </a:txBody>
                  <a:tcPr marT="0" marB="0" anchor="ctr">
                    <a:lnL w="0"/>
                    <a:lnR w="0"/>
                    <a:lnT w="0"/>
                    <a:lnB w="0"/>
                    <a:lnTlToBr w="0"/>
                    <a:lnBlToTr w="0"/>
                    <a:solidFill>
                      <a:srgbClr val="FFFFFF"/>
                    </a:solidFill>
                  </a:tcPr>
                </a:tc>
                <a:extLst>
                  <a:ext uri="{0D108BD9-81ED-4DB2-BD59-A6C34878D82A}">
                    <a16:rowId xmlns:a16="http://schemas.microsoft.com/office/drawing/2014/main" val="2031081901"/>
                  </a:ext>
                </a:extLst>
              </a:tr>
              <a:tr h="190500">
                <a:tc>
                  <a:txBody>
                    <a:bodyPr/>
                    <a:lstStyle/>
                    <a:p>
                      <a:pPr algn="l"/>
                      <a:r>
                        <a:rPr lang="en-US" sz="1000" b="1">
                          <a:solidFill>
                            <a:srgbClr val="2D2E2D"/>
                          </a:solidFill>
                          <a:latin typeface="Arial"/>
                          <a:cs typeface="Arial"/>
                        </a:rPr>
                        <a:t>Receptor status</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96 (92-98)</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86 (80-90)</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3.2 (1.3-7.3)</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13 (8.7-19)</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0.5 (0.03-3.2)</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1.1 (0.19-4.3)</a:t>
                      </a:r>
                    </a:p>
                  </a:txBody>
                  <a:tcPr marT="0" marB="0" anchor="ctr">
                    <a:lnL w="0"/>
                    <a:lnR w="0"/>
                    <a:lnT w="0"/>
                    <a:lnB w="0"/>
                    <a:lnTlToBr w="0"/>
                    <a:lnBlToTr w="0"/>
                    <a:solidFill>
                      <a:srgbClr val="F2F0F0"/>
                    </a:solidFill>
                  </a:tcPr>
                </a:tc>
                <a:tc>
                  <a:txBody>
                    <a:bodyPr/>
                    <a:lstStyle/>
                    <a:p>
                      <a:pPr algn="ctr"/>
                      <a:r>
                        <a:rPr lang="en-US" sz="1000" b="1">
                          <a:solidFill>
                            <a:srgbClr val="B31B1B"/>
                          </a:solidFill>
                          <a:latin typeface="Arial"/>
                          <a:cs typeface="Arial"/>
                        </a:rPr>
                        <a:t>0.002</a:t>
                      </a:r>
                    </a:p>
                  </a:txBody>
                  <a:tcPr marT="0" marB="0" anchor="ctr">
                    <a:lnL w="0"/>
                    <a:lnR w="0"/>
                    <a:lnT w="0"/>
                    <a:lnB w="0"/>
                    <a:lnTlToBr w="0"/>
                    <a:lnBlToTr w="0"/>
                    <a:solidFill>
                      <a:srgbClr val="F2F0F0"/>
                    </a:solidFill>
                  </a:tcPr>
                </a:tc>
                <a:extLst>
                  <a:ext uri="{0D108BD9-81ED-4DB2-BD59-A6C34878D82A}">
                    <a16:rowId xmlns:a16="http://schemas.microsoft.com/office/drawing/2014/main" val="1504624153"/>
                  </a:ext>
                </a:extLst>
              </a:tr>
              <a:tr h="190500">
                <a:tc>
                  <a:txBody>
                    <a:bodyPr/>
                    <a:lstStyle/>
                    <a:p>
                      <a:pPr algn="l"/>
                      <a:r>
                        <a:rPr lang="en-US" sz="1000" b="1">
                          <a:solidFill>
                            <a:srgbClr val="2D2E2D"/>
                          </a:solidFill>
                          <a:latin typeface="Arial"/>
                          <a:cs typeface="Arial"/>
                        </a:rPr>
                        <a:t>Preserved chronology</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97 (94-99)</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99 (96-100)</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2 (0.65-5.4)</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0.5 (0.03-3.2)</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0.5 (0.03-3.2)</a:t>
                      </a:r>
                    </a:p>
                  </a:txBody>
                  <a:tcPr marT="0" marB="0" anchor="ctr">
                    <a:lnL w="0"/>
                    <a:lnR w="0"/>
                    <a:lnT w="0"/>
                    <a:lnB w="0"/>
                    <a:lnTlToBr w="0"/>
                    <a:lnBlToTr w="0"/>
                    <a:solidFill>
                      <a:srgbClr val="FFFFFF"/>
                    </a:solidFill>
                  </a:tcPr>
                </a:tc>
                <a:tc>
                  <a:txBody>
                    <a:bodyPr/>
                    <a:lstStyle/>
                    <a:p>
                      <a:pPr algn="ctr"/>
                      <a:r>
                        <a:rPr lang="en-US" sz="1000">
                          <a:solidFill>
                            <a:srgbClr val="2D2E2D"/>
                          </a:solidFill>
                          <a:latin typeface="Arial"/>
                          <a:cs typeface="Arial"/>
                        </a:rPr>
                        <a:t>0.5 (0.03-3.2)</a:t>
                      </a:r>
                    </a:p>
                  </a:txBody>
                  <a:tcPr marT="0" marB="0" anchor="ctr">
                    <a:lnL w="0"/>
                    <a:lnR w="0"/>
                    <a:lnT w="0"/>
                    <a:lnB w="0"/>
                    <a:lnTlToBr w="0"/>
                    <a:lnBlToTr w="0"/>
                    <a:solidFill>
                      <a:srgbClr val="FFFFFF"/>
                    </a:solidFill>
                  </a:tcPr>
                </a:tc>
                <a:tc>
                  <a:txBody>
                    <a:bodyPr/>
                    <a:lstStyle/>
                    <a:p>
                      <a:pPr algn="ctr"/>
                      <a:r>
                        <a:rPr lang="en-US" sz="1000" b="0">
                          <a:solidFill>
                            <a:srgbClr val="2D2E2D"/>
                          </a:solidFill>
                          <a:latin typeface="Arial"/>
                          <a:cs typeface="Arial"/>
                        </a:rPr>
                        <a:t>0.21</a:t>
                      </a:r>
                    </a:p>
                  </a:txBody>
                  <a:tcPr marT="0" marB="0" anchor="ctr">
                    <a:lnL w="0"/>
                    <a:lnR w="0"/>
                    <a:lnT w="0"/>
                    <a:lnB w="0"/>
                    <a:lnTlToBr w="0"/>
                    <a:lnBlToTr w="0"/>
                    <a:solidFill>
                      <a:srgbClr val="FFFFFF"/>
                    </a:solidFill>
                  </a:tcPr>
                </a:tc>
                <a:extLst>
                  <a:ext uri="{0D108BD9-81ED-4DB2-BD59-A6C34878D82A}">
                    <a16:rowId xmlns:a16="http://schemas.microsoft.com/office/drawing/2014/main" val="1551965594"/>
                  </a:ext>
                </a:extLst>
              </a:tr>
              <a:tr h="190500">
                <a:tc>
                  <a:txBody>
                    <a:bodyPr/>
                    <a:lstStyle/>
                    <a:p>
                      <a:pPr algn="l"/>
                      <a:r>
                        <a:rPr lang="en-US" sz="1000" b="1">
                          <a:solidFill>
                            <a:srgbClr val="2D2E2D"/>
                          </a:solidFill>
                          <a:latin typeface="Arial"/>
                          <a:cs typeface="Arial"/>
                        </a:rPr>
                        <a:t>Workup recommendations</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83 (76-88)</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92 (86-95)</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17 (12-24)</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6.8 (3.6-12)</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0</a:t>
                      </a:r>
                    </a:p>
                  </a:txBody>
                  <a:tcPr marT="0" marB="0" anchor="ctr">
                    <a:lnL w="0"/>
                    <a:lnR w="0"/>
                    <a:lnT w="0"/>
                    <a:lnB w="0"/>
                    <a:lnTlToBr w="0"/>
                    <a:lnBlToTr w="0"/>
                    <a:solidFill>
                      <a:srgbClr val="F2F0F0"/>
                    </a:solidFill>
                  </a:tcPr>
                </a:tc>
                <a:tc>
                  <a:txBody>
                    <a:bodyPr/>
                    <a:lstStyle/>
                    <a:p>
                      <a:pPr algn="ctr"/>
                      <a:r>
                        <a:rPr lang="en-US" sz="1000">
                          <a:solidFill>
                            <a:srgbClr val="2D2E2D"/>
                          </a:solidFill>
                          <a:latin typeface="Arial"/>
                          <a:cs typeface="Arial"/>
                        </a:rPr>
                        <a:t>1.2 (0.22-4.9)</a:t>
                      </a:r>
                    </a:p>
                  </a:txBody>
                  <a:tcPr marT="0" marB="0" anchor="ctr">
                    <a:lnL w="0"/>
                    <a:lnR w="0"/>
                    <a:lnT w="0"/>
                    <a:lnB w="0"/>
                    <a:lnTlToBr w="0"/>
                    <a:lnBlToTr w="0"/>
                    <a:solidFill>
                      <a:srgbClr val="F2F0F0"/>
                    </a:solidFill>
                  </a:tcPr>
                </a:tc>
                <a:tc>
                  <a:txBody>
                    <a:bodyPr/>
                    <a:lstStyle/>
                    <a:p>
                      <a:pPr algn="ctr"/>
                      <a:r>
                        <a:rPr lang="en-US" sz="1000" b="1" dirty="0">
                          <a:solidFill>
                            <a:srgbClr val="B31B1B"/>
                          </a:solidFill>
                          <a:latin typeface="Arial"/>
                          <a:cs typeface="Arial"/>
                        </a:rPr>
                        <a:t>0.02</a:t>
                      </a:r>
                    </a:p>
                  </a:txBody>
                  <a:tcPr marT="0" marB="0" anchor="ctr">
                    <a:lnL w="0"/>
                    <a:lnR w="0"/>
                    <a:lnT w="0"/>
                    <a:lnB w="0"/>
                    <a:lnTlToBr w="0"/>
                    <a:lnBlToTr w="0"/>
                    <a:solidFill>
                      <a:srgbClr val="F2F0F0"/>
                    </a:solidFill>
                  </a:tcPr>
                </a:tc>
                <a:extLst>
                  <a:ext uri="{0D108BD9-81ED-4DB2-BD59-A6C34878D82A}">
                    <a16:rowId xmlns:a16="http://schemas.microsoft.com/office/drawing/2014/main" val="170330100"/>
                  </a:ext>
                </a:extLst>
              </a:tr>
            </a:tbl>
          </a:graphicData>
        </a:graphic>
      </p:graphicFrame>
      <p:sp>
        <p:nvSpPr>
          <p:cNvPr id="24" name="AccCircle_3">
            <a:extLst>
              <a:ext uri="{FF2B5EF4-FFF2-40B4-BE49-F238E27FC236}">
                <a16:creationId xmlns:a16="http://schemas.microsoft.com/office/drawing/2014/main" id="{608248E9-AB62-A245-82FC-E652A668A9A6}"/>
              </a:ext>
            </a:extLst>
          </p:cNvPr>
          <p:cNvSpPr/>
          <p:nvPr/>
        </p:nvSpPr>
        <p:spPr>
          <a:xfrm>
            <a:off x="165100" y="1651000"/>
            <a:ext cx="1600200" cy="355600"/>
          </a:xfrm>
          <a:prstGeom prst="ellipse">
            <a:avLst/>
          </a:prstGeom>
          <a:noFill/>
          <a:ln w="25400" cap="flat" cmpd="sng" algn="ctr">
            <a:solidFill>
              <a:srgbClr val="B31B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5" name="AccCircle_4">
            <a:extLst>
              <a:ext uri="{FF2B5EF4-FFF2-40B4-BE49-F238E27FC236}">
                <a16:creationId xmlns:a16="http://schemas.microsoft.com/office/drawing/2014/main" id="{6E2A0253-93FD-DC4F-9312-EEC716A85A39}"/>
              </a:ext>
            </a:extLst>
          </p:cNvPr>
          <p:cNvSpPr/>
          <p:nvPr/>
        </p:nvSpPr>
        <p:spPr>
          <a:xfrm>
            <a:off x="165100" y="1949450"/>
            <a:ext cx="1600200" cy="241300"/>
          </a:xfrm>
          <a:prstGeom prst="ellipse">
            <a:avLst/>
          </a:prstGeom>
          <a:noFill/>
          <a:ln w="25400" cap="flat" cmpd="sng" algn="ctr">
            <a:solidFill>
              <a:srgbClr val="B31B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6" name="AccCircle_5">
            <a:extLst>
              <a:ext uri="{FF2B5EF4-FFF2-40B4-BE49-F238E27FC236}">
                <a16:creationId xmlns:a16="http://schemas.microsoft.com/office/drawing/2014/main" id="{88155D25-F739-8948-89E7-0CC5F3086A5C}"/>
              </a:ext>
            </a:extLst>
          </p:cNvPr>
          <p:cNvSpPr/>
          <p:nvPr/>
        </p:nvSpPr>
        <p:spPr>
          <a:xfrm>
            <a:off x="165100" y="2216150"/>
            <a:ext cx="1600200" cy="241300"/>
          </a:xfrm>
          <a:prstGeom prst="ellipse">
            <a:avLst/>
          </a:prstGeom>
          <a:noFill/>
          <a:ln w="25400" cap="flat" cmpd="sng" algn="ctr">
            <a:solidFill>
              <a:srgbClr val="B31B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7" name="AccCircle_6">
            <a:extLst>
              <a:ext uri="{FF2B5EF4-FFF2-40B4-BE49-F238E27FC236}">
                <a16:creationId xmlns:a16="http://schemas.microsoft.com/office/drawing/2014/main" id="{41DA8A4C-320B-FF42-B128-D5C37353B954}"/>
              </a:ext>
            </a:extLst>
          </p:cNvPr>
          <p:cNvSpPr/>
          <p:nvPr/>
        </p:nvSpPr>
        <p:spPr>
          <a:xfrm>
            <a:off x="165100" y="2457450"/>
            <a:ext cx="1600200" cy="241300"/>
          </a:xfrm>
          <a:prstGeom prst="ellipse">
            <a:avLst/>
          </a:prstGeom>
          <a:noFill/>
          <a:ln w="25400" cap="flat" cmpd="sng" algn="ctr">
            <a:solidFill>
              <a:srgbClr val="B31B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8" name="AccCircle_7">
            <a:extLst>
              <a:ext uri="{FF2B5EF4-FFF2-40B4-BE49-F238E27FC236}">
                <a16:creationId xmlns:a16="http://schemas.microsoft.com/office/drawing/2014/main" id="{8182E68F-D609-2E46-8122-D9BE2ABAF479}"/>
              </a:ext>
            </a:extLst>
          </p:cNvPr>
          <p:cNvSpPr/>
          <p:nvPr/>
        </p:nvSpPr>
        <p:spPr>
          <a:xfrm>
            <a:off x="165100" y="2711450"/>
            <a:ext cx="1600200" cy="241300"/>
          </a:xfrm>
          <a:prstGeom prst="ellipse">
            <a:avLst/>
          </a:prstGeom>
          <a:noFill/>
          <a:ln w="25400" cap="flat" cmpd="sng" algn="ctr">
            <a:solidFill>
              <a:srgbClr val="B31B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9" name="AccCircle_8">
            <a:extLst>
              <a:ext uri="{FF2B5EF4-FFF2-40B4-BE49-F238E27FC236}">
                <a16:creationId xmlns:a16="http://schemas.microsoft.com/office/drawing/2014/main" id="{B844424C-E8E6-D94C-B324-1D1C73CD865F}"/>
              </a:ext>
            </a:extLst>
          </p:cNvPr>
          <p:cNvSpPr/>
          <p:nvPr/>
        </p:nvSpPr>
        <p:spPr>
          <a:xfrm>
            <a:off x="165100" y="2952750"/>
            <a:ext cx="1600200" cy="241300"/>
          </a:xfrm>
          <a:prstGeom prst="ellipse">
            <a:avLst/>
          </a:prstGeom>
          <a:noFill/>
          <a:ln w="25400" cap="flat" cmpd="sng" algn="ctr">
            <a:solidFill>
              <a:srgbClr val="B31B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0" name="AccCircle_10">
            <a:extLst>
              <a:ext uri="{FF2B5EF4-FFF2-40B4-BE49-F238E27FC236}">
                <a16:creationId xmlns:a16="http://schemas.microsoft.com/office/drawing/2014/main" id="{33489DE2-D92E-2F44-8DD9-980C3D2879EC}"/>
              </a:ext>
            </a:extLst>
          </p:cNvPr>
          <p:cNvSpPr/>
          <p:nvPr/>
        </p:nvSpPr>
        <p:spPr>
          <a:xfrm>
            <a:off x="165100" y="3511550"/>
            <a:ext cx="1600200" cy="241300"/>
          </a:xfrm>
          <a:prstGeom prst="ellipse">
            <a:avLst/>
          </a:prstGeom>
          <a:noFill/>
          <a:ln w="25400" cap="flat" cmpd="sng" algn="ctr">
            <a:solidFill>
              <a:srgbClr val="B31B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1" name="AccCircle_12">
            <a:extLst>
              <a:ext uri="{FF2B5EF4-FFF2-40B4-BE49-F238E27FC236}">
                <a16:creationId xmlns:a16="http://schemas.microsoft.com/office/drawing/2014/main" id="{B9C7C36D-4451-6A4C-A923-42353DE09CF0}"/>
              </a:ext>
            </a:extLst>
          </p:cNvPr>
          <p:cNvSpPr/>
          <p:nvPr/>
        </p:nvSpPr>
        <p:spPr>
          <a:xfrm>
            <a:off x="165100" y="4108450"/>
            <a:ext cx="1600200" cy="241300"/>
          </a:xfrm>
          <a:prstGeom prst="ellipse">
            <a:avLst/>
          </a:prstGeom>
          <a:noFill/>
          <a:ln w="25400" cap="flat" cmpd="sng" algn="ctr">
            <a:solidFill>
              <a:srgbClr val="B31B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2" name="AccCircle_13">
            <a:extLst>
              <a:ext uri="{FF2B5EF4-FFF2-40B4-BE49-F238E27FC236}">
                <a16:creationId xmlns:a16="http://schemas.microsoft.com/office/drawing/2014/main" id="{7DFC7754-6C06-DB48-8619-C4332177FD99}"/>
              </a:ext>
            </a:extLst>
          </p:cNvPr>
          <p:cNvSpPr/>
          <p:nvPr/>
        </p:nvSpPr>
        <p:spPr>
          <a:xfrm>
            <a:off x="165100" y="4318000"/>
            <a:ext cx="1600200" cy="355600"/>
          </a:xfrm>
          <a:prstGeom prst="ellipse">
            <a:avLst/>
          </a:prstGeom>
          <a:noFill/>
          <a:ln w="25400" cap="flat" cmpd="sng" algn="ctr">
            <a:solidFill>
              <a:srgbClr val="B31B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OmisU_0">
            <a:extLst>
              <a:ext uri="{FF2B5EF4-FFF2-40B4-BE49-F238E27FC236}">
                <a16:creationId xmlns:a16="http://schemas.microsoft.com/office/drawing/2014/main" id="{51AB53DC-874E-E048-9D3B-9746D47B1A3D}"/>
              </a:ext>
            </a:extLst>
          </p:cNvPr>
          <p:cNvSpPr/>
          <p:nvPr/>
        </p:nvSpPr>
        <p:spPr>
          <a:xfrm>
            <a:off x="4838700" y="1127125"/>
            <a:ext cx="635000" cy="12700"/>
          </a:xfrm>
          <a:prstGeom prst="rect">
            <a:avLst/>
          </a:prstGeom>
          <a:solidFill>
            <a:srgbClr val="2D2E2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4" name="OmisU_2">
            <a:extLst>
              <a:ext uri="{FF2B5EF4-FFF2-40B4-BE49-F238E27FC236}">
                <a16:creationId xmlns:a16="http://schemas.microsoft.com/office/drawing/2014/main" id="{6B858C15-DC50-784F-B00D-B973CD00DA4B}"/>
              </a:ext>
            </a:extLst>
          </p:cNvPr>
          <p:cNvSpPr/>
          <p:nvPr/>
        </p:nvSpPr>
        <p:spPr>
          <a:xfrm>
            <a:off x="4838700" y="1609725"/>
            <a:ext cx="635000" cy="12700"/>
          </a:xfrm>
          <a:prstGeom prst="rect">
            <a:avLst/>
          </a:prstGeom>
          <a:solidFill>
            <a:srgbClr val="2D2E2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5" name="OmisU_3">
            <a:extLst>
              <a:ext uri="{FF2B5EF4-FFF2-40B4-BE49-F238E27FC236}">
                <a16:creationId xmlns:a16="http://schemas.microsoft.com/office/drawing/2014/main" id="{8114EE9B-7819-6245-873F-4A3CD4AAAE12}"/>
              </a:ext>
            </a:extLst>
          </p:cNvPr>
          <p:cNvSpPr/>
          <p:nvPr/>
        </p:nvSpPr>
        <p:spPr>
          <a:xfrm>
            <a:off x="4838700" y="1851025"/>
            <a:ext cx="635000" cy="12700"/>
          </a:xfrm>
          <a:prstGeom prst="rect">
            <a:avLst/>
          </a:prstGeom>
          <a:solidFill>
            <a:srgbClr val="2D2E2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OmisU_4">
            <a:extLst>
              <a:ext uri="{FF2B5EF4-FFF2-40B4-BE49-F238E27FC236}">
                <a16:creationId xmlns:a16="http://schemas.microsoft.com/office/drawing/2014/main" id="{8563AF00-5205-5446-87F3-09A839F012DC}"/>
              </a:ext>
            </a:extLst>
          </p:cNvPr>
          <p:cNvSpPr/>
          <p:nvPr/>
        </p:nvSpPr>
        <p:spPr>
          <a:xfrm>
            <a:off x="4838700" y="2155825"/>
            <a:ext cx="635000" cy="12700"/>
          </a:xfrm>
          <a:prstGeom prst="rect">
            <a:avLst/>
          </a:prstGeom>
          <a:solidFill>
            <a:srgbClr val="2D2E2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7" name="OmisU_5">
            <a:extLst>
              <a:ext uri="{FF2B5EF4-FFF2-40B4-BE49-F238E27FC236}">
                <a16:creationId xmlns:a16="http://schemas.microsoft.com/office/drawing/2014/main" id="{4940B2EB-97BC-AE40-BCB7-5AC8B5C63877}"/>
              </a:ext>
            </a:extLst>
          </p:cNvPr>
          <p:cNvSpPr/>
          <p:nvPr/>
        </p:nvSpPr>
        <p:spPr>
          <a:xfrm>
            <a:off x="4838700" y="2422525"/>
            <a:ext cx="635000" cy="12700"/>
          </a:xfrm>
          <a:prstGeom prst="rect">
            <a:avLst/>
          </a:prstGeom>
          <a:solidFill>
            <a:srgbClr val="2D2E2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8" name="OmisU_6">
            <a:extLst>
              <a:ext uri="{FF2B5EF4-FFF2-40B4-BE49-F238E27FC236}">
                <a16:creationId xmlns:a16="http://schemas.microsoft.com/office/drawing/2014/main" id="{0F8C1F2D-E845-A341-9CD5-2C0B05A5725B}"/>
              </a:ext>
            </a:extLst>
          </p:cNvPr>
          <p:cNvSpPr/>
          <p:nvPr/>
        </p:nvSpPr>
        <p:spPr>
          <a:xfrm>
            <a:off x="4838700" y="2663825"/>
            <a:ext cx="635000" cy="12700"/>
          </a:xfrm>
          <a:prstGeom prst="rect">
            <a:avLst/>
          </a:prstGeom>
          <a:solidFill>
            <a:srgbClr val="2D2E2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9" name="OmisU_7">
            <a:extLst>
              <a:ext uri="{FF2B5EF4-FFF2-40B4-BE49-F238E27FC236}">
                <a16:creationId xmlns:a16="http://schemas.microsoft.com/office/drawing/2014/main" id="{7DA245FD-5E01-8B42-9851-F9CBA2566620}"/>
              </a:ext>
            </a:extLst>
          </p:cNvPr>
          <p:cNvSpPr/>
          <p:nvPr/>
        </p:nvSpPr>
        <p:spPr>
          <a:xfrm>
            <a:off x="4838700" y="2917825"/>
            <a:ext cx="635000" cy="12700"/>
          </a:xfrm>
          <a:prstGeom prst="rect">
            <a:avLst/>
          </a:prstGeom>
          <a:solidFill>
            <a:srgbClr val="2D2E2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OmisU_8">
            <a:extLst>
              <a:ext uri="{FF2B5EF4-FFF2-40B4-BE49-F238E27FC236}">
                <a16:creationId xmlns:a16="http://schemas.microsoft.com/office/drawing/2014/main" id="{E5E96D60-CE78-4049-A074-E26D86EF0A18}"/>
              </a:ext>
            </a:extLst>
          </p:cNvPr>
          <p:cNvSpPr/>
          <p:nvPr/>
        </p:nvSpPr>
        <p:spPr>
          <a:xfrm>
            <a:off x="4838700" y="3159125"/>
            <a:ext cx="635000" cy="12700"/>
          </a:xfrm>
          <a:prstGeom prst="rect">
            <a:avLst/>
          </a:prstGeom>
          <a:solidFill>
            <a:srgbClr val="2D2E2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1" name="OmisU_9">
            <a:extLst>
              <a:ext uri="{FF2B5EF4-FFF2-40B4-BE49-F238E27FC236}">
                <a16:creationId xmlns:a16="http://schemas.microsoft.com/office/drawing/2014/main" id="{0BD6555D-32ED-3145-903B-4C27EB150E34}"/>
              </a:ext>
            </a:extLst>
          </p:cNvPr>
          <p:cNvSpPr/>
          <p:nvPr/>
        </p:nvSpPr>
        <p:spPr>
          <a:xfrm>
            <a:off x="4838700" y="3413125"/>
            <a:ext cx="635000" cy="12700"/>
          </a:xfrm>
          <a:prstGeom prst="rect">
            <a:avLst/>
          </a:prstGeom>
          <a:solidFill>
            <a:srgbClr val="2D2E2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5" name="OmisU_10">
            <a:extLst>
              <a:ext uri="{FF2B5EF4-FFF2-40B4-BE49-F238E27FC236}">
                <a16:creationId xmlns:a16="http://schemas.microsoft.com/office/drawing/2014/main" id="{854E5D1E-0770-3747-9B7D-B29266509977}"/>
              </a:ext>
            </a:extLst>
          </p:cNvPr>
          <p:cNvSpPr/>
          <p:nvPr/>
        </p:nvSpPr>
        <p:spPr>
          <a:xfrm>
            <a:off x="4838700" y="3717925"/>
            <a:ext cx="635000" cy="12700"/>
          </a:xfrm>
          <a:prstGeom prst="rect">
            <a:avLst/>
          </a:prstGeom>
          <a:solidFill>
            <a:srgbClr val="2D2E2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OmisU_12">
            <a:extLst>
              <a:ext uri="{FF2B5EF4-FFF2-40B4-BE49-F238E27FC236}">
                <a16:creationId xmlns:a16="http://schemas.microsoft.com/office/drawing/2014/main" id="{5B92D652-C89B-124A-B2C8-9561AF6A99B5}"/>
              </a:ext>
            </a:extLst>
          </p:cNvPr>
          <p:cNvSpPr/>
          <p:nvPr/>
        </p:nvSpPr>
        <p:spPr>
          <a:xfrm>
            <a:off x="4838700" y="4314825"/>
            <a:ext cx="635000" cy="12700"/>
          </a:xfrm>
          <a:prstGeom prst="rect">
            <a:avLst/>
          </a:prstGeom>
          <a:solidFill>
            <a:srgbClr val="2D2E2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7" name="OmisU_13">
            <a:extLst>
              <a:ext uri="{FF2B5EF4-FFF2-40B4-BE49-F238E27FC236}">
                <a16:creationId xmlns:a16="http://schemas.microsoft.com/office/drawing/2014/main" id="{4BB61CC3-942F-464B-BAEF-1C825B15B876}"/>
              </a:ext>
            </a:extLst>
          </p:cNvPr>
          <p:cNvSpPr/>
          <p:nvPr/>
        </p:nvSpPr>
        <p:spPr>
          <a:xfrm>
            <a:off x="4838700" y="4556125"/>
            <a:ext cx="635000" cy="12700"/>
          </a:xfrm>
          <a:prstGeom prst="rect">
            <a:avLst/>
          </a:prstGeom>
          <a:solidFill>
            <a:srgbClr val="2D2E2D"/>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8" name="FabU_1">
            <a:extLst>
              <a:ext uri="{FF2B5EF4-FFF2-40B4-BE49-F238E27FC236}">
                <a16:creationId xmlns:a16="http://schemas.microsoft.com/office/drawing/2014/main" id="{991E8298-F837-2B42-B097-743272A2B13A}"/>
              </a:ext>
            </a:extLst>
          </p:cNvPr>
          <p:cNvSpPr/>
          <p:nvPr/>
        </p:nvSpPr>
        <p:spPr>
          <a:xfrm>
            <a:off x="6692900" y="1368425"/>
            <a:ext cx="635000" cy="12700"/>
          </a:xfrm>
          <a:prstGeom prst="rect">
            <a:avLst/>
          </a:prstGeom>
          <a:solidFill>
            <a:srgbClr val="B31B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9" name="FabU_2">
            <a:extLst>
              <a:ext uri="{FF2B5EF4-FFF2-40B4-BE49-F238E27FC236}">
                <a16:creationId xmlns:a16="http://schemas.microsoft.com/office/drawing/2014/main" id="{2B31086B-25B2-E149-9168-332FCB849A52}"/>
              </a:ext>
            </a:extLst>
          </p:cNvPr>
          <p:cNvSpPr/>
          <p:nvPr/>
        </p:nvSpPr>
        <p:spPr>
          <a:xfrm>
            <a:off x="6692900" y="1609725"/>
            <a:ext cx="635000" cy="12700"/>
          </a:xfrm>
          <a:prstGeom prst="rect">
            <a:avLst/>
          </a:prstGeom>
          <a:solidFill>
            <a:srgbClr val="B31B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 name="FabU_3">
            <a:extLst>
              <a:ext uri="{FF2B5EF4-FFF2-40B4-BE49-F238E27FC236}">
                <a16:creationId xmlns:a16="http://schemas.microsoft.com/office/drawing/2014/main" id="{C7B8F6EC-F452-3744-BE82-9ACBA8C68941}"/>
              </a:ext>
            </a:extLst>
          </p:cNvPr>
          <p:cNvSpPr/>
          <p:nvPr/>
        </p:nvSpPr>
        <p:spPr>
          <a:xfrm>
            <a:off x="6692900" y="1851025"/>
            <a:ext cx="635000" cy="12700"/>
          </a:xfrm>
          <a:prstGeom prst="rect">
            <a:avLst/>
          </a:prstGeom>
          <a:solidFill>
            <a:srgbClr val="B31B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1" name="FabU_4">
            <a:extLst>
              <a:ext uri="{FF2B5EF4-FFF2-40B4-BE49-F238E27FC236}">
                <a16:creationId xmlns:a16="http://schemas.microsoft.com/office/drawing/2014/main" id="{B3B84506-646C-B545-8031-AD7FD86C3375}"/>
              </a:ext>
            </a:extLst>
          </p:cNvPr>
          <p:cNvSpPr/>
          <p:nvPr/>
        </p:nvSpPr>
        <p:spPr>
          <a:xfrm>
            <a:off x="6692900" y="2155825"/>
            <a:ext cx="635000" cy="12700"/>
          </a:xfrm>
          <a:prstGeom prst="rect">
            <a:avLst/>
          </a:prstGeom>
          <a:solidFill>
            <a:srgbClr val="B31B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2" name="FabU_5">
            <a:extLst>
              <a:ext uri="{FF2B5EF4-FFF2-40B4-BE49-F238E27FC236}">
                <a16:creationId xmlns:a16="http://schemas.microsoft.com/office/drawing/2014/main" id="{CBE1FC3D-6354-9C4F-9DB4-E7A0781F12AE}"/>
              </a:ext>
            </a:extLst>
          </p:cNvPr>
          <p:cNvSpPr/>
          <p:nvPr/>
        </p:nvSpPr>
        <p:spPr>
          <a:xfrm>
            <a:off x="6692900" y="2422525"/>
            <a:ext cx="635000" cy="12700"/>
          </a:xfrm>
          <a:prstGeom prst="rect">
            <a:avLst/>
          </a:prstGeom>
          <a:solidFill>
            <a:srgbClr val="B31B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3" name="FabU_6">
            <a:extLst>
              <a:ext uri="{FF2B5EF4-FFF2-40B4-BE49-F238E27FC236}">
                <a16:creationId xmlns:a16="http://schemas.microsoft.com/office/drawing/2014/main" id="{53264900-AC0B-7B43-9418-068525E924B1}"/>
              </a:ext>
            </a:extLst>
          </p:cNvPr>
          <p:cNvSpPr/>
          <p:nvPr/>
        </p:nvSpPr>
        <p:spPr>
          <a:xfrm>
            <a:off x="6692900" y="2663825"/>
            <a:ext cx="635000" cy="12700"/>
          </a:xfrm>
          <a:prstGeom prst="rect">
            <a:avLst/>
          </a:prstGeom>
          <a:solidFill>
            <a:srgbClr val="B31B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56" name="FabU_7">
            <a:extLst>
              <a:ext uri="{FF2B5EF4-FFF2-40B4-BE49-F238E27FC236}">
                <a16:creationId xmlns:a16="http://schemas.microsoft.com/office/drawing/2014/main" id="{2411F443-F314-6E43-B3BE-C6948696832F}"/>
              </a:ext>
            </a:extLst>
          </p:cNvPr>
          <p:cNvSpPr/>
          <p:nvPr/>
        </p:nvSpPr>
        <p:spPr>
          <a:xfrm>
            <a:off x="6692900" y="2917825"/>
            <a:ext cx="635000" cy="12700"/>
          </a:xfrm>
          <a:prstGeom prst="rect">
            <a:avLst/>
          </a:prstGeom>
          <a:solidFill>
            <a:srgbClr val="B31B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57" name="FabU_8">
            <a:extLst>
              <a:ext uri="{FF2B5EF4-FFF2-40B4-BE49-F238E27FC236}">
                <a16:creationId xmlns:a16="http://schemas.microsoft.com/office/drawing/2014/main" id="{86DDCA71-F795-5B44-85A0-4F2F5E41BB7E}"/>
              </a:ext>
            </a:extLst>
          </p:cNvPr>
          <p:cNvSpPr/>
          <p:nvPr/>
        </p:nvSpPr>
        <p:spPr>
          <a:xfrm>
            <a:off x="6692900" y="3159125"/>
            <a:ext cx="635000" cy="12700"/>
          </a:xfrm>
          <a:prstGeom prst="rect">
            <a:avLst/>
          </a:prstGeom>
          <a:solidFill>
            <a:srgbClr val="B31B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58" name="FabU_12">
            <a:extLst>
              <a:ext uri="{FF2B5EF4-FFF2-40B4-BE49-F238E27FC236}">
                <a16:creationId xmlns:a16="http://schemas.microsoft.com/office/drawing/2014/main" id="{4D3FBBE3-0202-204D-B7F2-0A3BAEF70F0D}"/>
              </a:ext>
            </a:extLst>
          </p:cNvPr>
          <p:cNvSpPr/>
          <p:nvPr/>
        </p:nvSpPr>
        <p:spPr>
          <a:xfrm>
            <a:off x="6692900" y="4314825"/>
            <a:ext cx="635000" cy="12700"/>
          </a:xfrm>
          <a:prstGeom prst="rect">
            <a:avLst/>
          </a:prstGeom>
          <a:solidFill>
            <a:srgbClr val="B31B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3" name="CoverOmission">
            <a:extLst>
              <a:ext uri="{FF2B5EF4-FFF2-40B4-BE49-F238E27FC236}">
                <a16:creationId xmlns:a16="http://schemas.microsoft.com/office/drawing/2014/main" id="{74C92929-FEA6-A54A-B016-963460CDBA0F}"/>
              </a:ext>
            </a:extLst>
          </p:cNvPr>
          <p:cNvSpPr/>
          <p:nvPr/>
        </p:nvSpPr>
        <p:spPr>
          <a:xfrm>
            <a:off x="3708400" y="762000"/>
            <a:ext cx="1930400" cy="3937000"/>
          </a:xfrm>
          <a:prstGeom prst="rect">
            <a:avLst/>
          </a:prstGeom>
          <a:solidFill>
            <a:srgbClr val="FFFF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CoverFabrication">
            <a:extLst>
              <a:ext uri="{FF2B5EF4-FFF2-40B4-BE49-F238E27FC236}">
                <a16:creationId xmlns:a16="http://schemas.microsoft.com/office/drawing/2014/main" id="{831A680D-AE38-C644-BFAD-06BE72112335}"/>
              </a:ext>
            </a:extLst>
          </p:cNvPr>
          <p:cNvSpPr/>
          <p:nvPr/>
        </p:nvSpPr>
        <p:spPr>
          <a:xfrm>
            <a:off x="5638800" y="762000"/>
            <a:ext cx="1828800" cy="3937000"/>
          </a:xfrm>
          <a:prstGeom prst="rect">
            <a:avLst/>
          </a:prstGeom>
          <a:solidFill>
            <a:srgbClr val="FFFF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3293456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presetID="4" presetClass="entr" presetSubtype="0" fill="hold" grpId="0" nodeType="clickEffect">
                            <p:stCondLst>
                              <p:cond delay="0"/>
                            </p:stCondLst>
                            <p:childTnLst>
                              <p:set>
                                <p:cBhvr>
                                  <p:cTn id="5" dur="1" fill="hold">
                                    <p:stCondLst>
                                      <p:cond delay="0"/>
                                    </p:stCondLst>
                                  </p:cTn>
                                  <p:tgtEl>
                                    <p:spTgt spid="24"/>
                                  </p:tgtEl>
                                  <p:attrNameLst>
                                    <p:attrName>style.visibility</p:attrName>
                                  </p:attrNameLst>
                                </p:cBhvr>
                                <p:to>
                                  <p:strVal val="visible"/>
                                </p:to>
                              </p:set>
                              <p:animMotion origin="layout" path="M 0 -0.04 L 0 0" pathEditMode="relative" rAng="0" ptsTypes="">
                                <p:cBhvr>
                                  <p:cTn id="6" dur="400" fill="hold"/>
                                  <p:tgtEl>
                                    <p:spTgt spid="24"/>
                                  </p:tgtEl>
                                  <p:attrNameLst>
                                    <p:attrName>ppt_x</p:attrName>
                                    <p:attrName>ppt_y</p:attrName>
                                  </p:attrNameLst>
                                </p:cBhvr>
                                <p:rCtr x="0" y="0"/>
                              </p:animMotion>
                            </p:childTnLst>
                          </p:cTn>
                        </p:par>
                        <p:par>
                          <p:cTn id="7" presetID="4"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animMotion origin="layout" path="M 0 -0.04 L 0 0" pathEditMode="relative" rAng="0" ptsTypes="">
                                <p:cBhvr>
                                  <p:cTn id="9" dur="400" fill="hold"/>
                                  <p:tgtEl>
                                    <p:spTgt spid="25"/>
                                  </p:tgtEl>
                                  <p:attrNameLst>
                                    <p:attrName>ppt_x</p:attrName>
                                    <p:attrName>ppt_y</p:attrName>
                                  </p:attrNameLst>
                                </p:cBhvr>
                                <p:rCtr x="0" y="0"/>
                              </p:animMotion>
                            </p:childTnLst>
                          </p:cTn>
                        </p:par>
                        <p:par>
                          <p:cTn id="10" presetID="4" presetClass="entr" presetSubtype="0" fill="hold" grpId="0" nodeType="withEffect">
                            <p:stCondLst>
                              <p:cond delay="0"/>
                            </p:stCondLst>
                            <p:childTnLst>
                              <p:set>
                                <p:cBhvr>
                                  <p:cTn id="11" dur="1" fill="hold">
                                    <p:stCondLst>
                                      <p:cond delay="0"/>
                                    </p:stCondLst>
                                  </p:cTn>
                                  <p:tgtEl>
                                    <p:spTgt spid="26"/>
                                  </p:tgtEl>
                                  <p:attrNameLst>
                                    <p:attrName>style.visibility</p:attrName>
                                  </p:attrNameLst>
                                </p:cBhvr>
                                <p:to>
                                  <p:strVal val="visible"/>
                                </p:to>
                              </p:set>
                              <p:animMotion origin="layout" path="M 0 -0.04 L 0 0" pathEditMode="relative" rAng="0" ptsTypes="">
                                <p:cBhvr>
                                  <p:cTn id="12" dur="400" fill="hold"/>
                                  <p:tgtEl>
                                    <p:spTgt spid="26"/>
                                  </p:tgtEl>
                                  <p:attrNameLst>
                                    <p:attrName>ppt_x</p:attrName>
                                    <p:attrName>ppt_y</p:attrName>
                                  </p:attrNameLst>
                                </p:cBhvr>
                                <p:rCtr x="0" y="0"/>
                              </p:animMotion>
                            </p:childTnLst>
                          </p:cTn>
                        </p:par>
                        <p:par>
                          <p:cTn id="13" presetID="4"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Motion origin="layout" path="M 0 -0.04 L 0 0" pathEditMode="relative" rAng="0" ptsTypes="">
                                <p:cBhvr>
                                  <p:cTn id="15" dur="400" fill="hold"/>
                                  <p:tgtEl>
                                    <p:spTgt spid="27"/>
                                  </p:tgtEl>
                                  <p:attrNameLst>
                                    <p:attrName>ppt_x</p:attrName>
                                    <p:attrName>ppt_y</p:attrName>
                                  </p:attrNameLst>
                                </p:cBhvr>
                                <p:rCtr x="0" y="0"/>
                              </p:animMotion>
                            </p:childTnLst>
                          </p:cTn>
                        </p:par>
                        <p:par>
                          <p:cTn id="16" presetID="4" presetClass="entr" presetSubtype="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Motion origin="layout" path="M 0 -0.04 L 0 0" pathEditMode="relative" rAng="0" ptsTypes="">
                                <p:cBhvr>
                                  <p:cTn id="18" dur="400" fill="hold"/>
                                  <p:tgtEl>
                                    <p:spTgt spid="28"/>
                                  </p:tgtEl>
                                  <p:attrNameLst>
                                    <p:attrName>ppt_x</p:attrName>
                                    <p:attrName>ppt_y</p:attrName>
                                  </p:attrNameLst>
                                </p:cBhvr>
                                <p:rCtr x="0" y="0"/>
                              </p:animMotion>
                            </p:childTnLst>
                          </p:cTn>
                        </p:par>
                        <p:par>
                          <p:cTn id="19" presetID="4"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Motion origin="layout" path="M 0 -0.04 L 0 0" pathEditMode="relative" rAng="0" ptsTypes="">
                                <p:cBhvr>
                                  <p:cTn id="21" dur="400" fill="hold"/>
                                  <p:tgtEl>
                                    <p:spTgt spid="29"/>
                                  </p:tgtEl>
                                  <p:attrNameLst>
                                    <p:attrName>ppt_x</p:attrName>
                                    <p:attrName>ppt_y</p:attrName>
                                  </p:attrNameLst>
                                </p:cBhvr>
                                <p:rCtr x="0" y="0"/>
                              </p:animMotion>
                            </p:childTnLst>
                          </p:cTn>
                        </p:par>
                        <p:par>
                          <p:cTn id="22" presetID="4" presetClass="entr" presetSubtype="0"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animMotion origin="layout" path="M 0 -0.04 L 0 0" pathEditMode="relative" rAng="0" ptsTypes="">
                                <p:cBhvr>
                                  <p:cTn id="24" dur="400" fill="hold"/>
                                  <p:tgtEl>
                                    <p:spTgt spid="30"/>
                                  </p:tgtEl>
                                  <p:attrNameLst>
                                    <p:attrName>ppt_x</p:attrName>
                                    <p:attrName>ppt_y</p:attrName>
                                  </p:attrNameLst>
                                </p:cBhvr>
                                <p:rCtr x="0" y="0"/>
                              </p:animMotion>
                            </p:childTnLst>
                          </p:cTn>
                        </p:par>
                        <p:par>
                          <p:cTn id="25" presetID="4"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Motion origin="layout" path="M 0 -0.04 L 0 0" pathEditMode="relative" rAng="0" ptsTypes="">
                                <p:cBhvr>
                                  <p:cTn id="27" dur="400" fill="hold"/>
                                  <p:tgtEl>
                                    <p:spTgt spid="31"/>
                                  </p:tgtEl>
                                  <p:attrNameLst>
                                    <p:attrName>ppt_x</p:attrName>
                                    <p:attrName>ppt_y</p:attrName>
                                  </p:attrNameLst>
                                </p:cBhvr>
                                <p:rCtr x="0" y="0"/>
                              </p:animMotion>
                            </p:childTnLst>
                          </p:cTn>
                        </p:par>
                        <p:par>
                          <p:cTn id="28" presetID="4" presetClass="entr" presetSubtype="0"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animMotion origin="layout" path="M 0 -0.04 L 0 0" pathEditMode="relative" rAng="0" ptsTypes="">
                                <p:cBhvr>
                                  <p:cTn id="30" dur="400" fill="hold"/>
                                  <p:tgtEl>
                                    <p:spTgt spid="32"/>
                                  </p:tgtEl>
                                  <p:attrNameLst>
                                    <p:attrName>ppt_x</p:attrName>
                                    <p:attrName>ppt_y</p:attrName>
                                  </p:attrNameLst>
                                </p:cBhvr>
                                <p:rCtr x="0" y="0"/>
                              </p:animMotion>
                            </p:childTnLst>
                          </p:cTn>
                        </p:par>
                      </p:childTnLst>
                    </p:cTn>
                  </p:par>
                  <p:par>
                    <p:cTn id="31" fill="hold">
                      <p:stCondLst>
                        <p:cond delay="indefinite"/>
                      </p:stCondLst>
                      <p:childTnLst>
                        <p:par>
                          <p:cTn id="32" presetID="10" presetClass="exit" presetSubtype="0" fill="hold" grpId="0" nodeType="clickEffect">
                            <p:stCondLst>
                              <p:cond delay="0"/>
                            </p:stCondLst>
                            <p:childTnLst>
                              <p:animEffect transition="out" filter="fade">
                                <p:cBhvr>
                                  <p:cTn id="33" dur="500" fill="hold"/>
                                  <p:tgtEl>
                                    <p:spTgt spid="13"/>
                                  </p:tgtEl>
                                </p:cBhvr>
                              </p:animEffect>
                              <p:set>
                                <p:cBhvr>
                                  <p:cTn id="34" dur="1" fill="hold">
                                    <p:stCondLst>
                                      <p:cond delay="499"/>
                                    </p:stCondLst>
                                  </p:cTn>
                                  <p:tgtEl>
                                    <p:spTgt spid="13"/>
                                  </p:tgtEl>
                                  <p:attrNameLst>
                                    <p:attrName>style.visibility</p:attrName>
                                  </p:attrNameLst>
                                </p:cBhvr>
                                <p:to>
                                  <p:strVal val="hidden"/>
                                </p:to>
                              </p:set>
                            </p:childTnLst>
                          </p:cTn>
                        </p:par>
                      </p:childTnLst>
                    </p:cTn>
                  </p:par>
                  <p:par>
                    <p:cTn id="35" fill="hold">
                      <p:stCondLst>
                        <p:cond delay="indefinite"/>
                      </p:stCondLst>
                      <p:childTnLst>
                        <p:par>
                          <p:cTn id="36" presetID="4" presetClass="entr" presetSubtype="0"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animMotion origin="layout" path="M 0 -0.04 L 0 0" pathEditMode="relative" rAng="0" ptsTypes="">
                                <p:cBhvr>
                                  <p:cTn id="38" dur="400" fill="hold"/>
                                  <p:tgtEl>
                                    <p:spTgt spid="3"/>
                                  </p:tgtEl>
                                  <p:attrNameLst>
                                    <p:attrName>ppt_x</p:attrName>
                                    <p:attrName>ppt_y</p:attrName>
                                  </p:attrNameLst>
                                </p:cBhvr>
                                <p:rCtr x="0" y="0"/>
                              </p:animMotion>
                            </p:childTnLst>
                          </p:cTn>
                        </p:par>
                        <p:par>
                          <p:cTn id="39" presetID="4" presetClass="entr" presetSubtype="0" fill="hold" grpId="0" nodeType="withEffect">
                            <p:stCondLst>
                              <p:cond delay="0"/>
                            </p:stCondLst>
                            <p:childTnLst>
                              <p:set>
                                <p:cBhvr>
                                  <p:cTn id="40" dur="1" fill="hold">
                                    <p:stCondLst>
                                      <p:cond delay="0"/>
                                    </p:stCondLst>
                                  </p:cTn>
                                  <p:tgtEl>
                                    <p:spTgt spid="4"/>
                                  </p:tgtEl>
                                  <p:attrNameLst>
                                    <p:attrName>style.visibility</p:attrName>
                                  </p:attrNameLst>
                                </p:cBhvr>
                                <p:to>
                                  <p:strVal val="visible"/>
                                </p:to>
                              </p:set>
                              <p:animMotion origin="layout" path="M 0 -0.04 L 0 0" pathEditMode="relative" rAng="0" ptsTypes="">
                                <p:cBhvr>
                                  <p:cTn id="41" dur="400" fill="hold"/>
                                  <p:tgtEl>
                                    <p:spTgt spid="4"/>
                                  </p:tgtEl>
                                  <p:attrNameLst>
                                    <p:attrName>ppt_x</p:attrName>
                                    <p:attrName>ppt_y</p:attrName>
                                  </p:attrNameLst>
                                </p:cBhvr>
                                <p:rCtr x="0" y="0"/>
                              </p:animMotion>
                            </p:childTnLst>
                          </p:cTn>
                        </p:par>
                        <p:par>
                          <p:cTn id="42" presetID="4" presetClass="entr" presetSubtype="0" fill="hold" grpId="0" nodeType="withEffect">
                            <p:stCondLst>
                              <p:cond delay="0"/>
                            </p:stCondLst>
                            <p:childTnLst>
                              <p:set>
                                <p:cBhvr>
                                  <p:cTn id="43" dur="1" fill="hold">
                                    <p:stCondLst>
                                      <p:cond delay="0"/>
                                    </p:stCondLst>
                                  </p:cTn>
                                  <p:tgtEl>
                                    <p:spTgt spid="5"/>
                                  </p:tgtEl>
                                  <p:attrNameLst>
                                    <p:attrName>style.visibility</p:attrName>
                                  </p:attrNameLst>
                                </p:cBhvr>
                                <p:to>
                                  <p:strVal val="visible"/>
                                </p:to>
                              </p:set>
                              <p:animMotion origin="layout" path="M 0 -0.04 L 0 0" pathEditMode="relative" rAng="0" ptsTypes="">
                                <p:cBhvr>
                                  <p:cTn id="44" dur="400" fill="hold"/>
                                  <p:tgtEl>
                                    <p:spTgt spid="5"/>
                                  </p:tgtEl>
                                  <p:attrNameLst>
                                    <p:attrName>ppt_x</p:attrName>
                                    <p:attrName>ppt_y</p:attrName>
                                  </p:attrNameLst>
                                </p:cBhvr>
                                <p:rCtr x="0" y="0"/>
                              </p:animMotion>
                            </p:childTnLst>
                          </p:cTn>
                        </p:par>
                        <p:par>
                          <p:cTn id="45" presetID="4"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animMotion origin="layout" path="M 0 -0.04 L 0 0" pathEditMode="relative" rAng="0" ptsTypes="">
                                <p:cBhvr>
                                  <p:cTn id="47" dur="400" fill="hold"/>
                                  <p:tgtEl>
                                    <p:spTgt spid="6"/>
                                  </p:tgtEl>
                                  <p:attrNameLst>
                                    <p:attrName>ppt_x</p:attrName>
                                    <p:attrName>ppt_y</p:attrName>
                                  </p:attrNameLst>
                                </p:cBhvr>
                                <p:rCtr x="0" y="0"/>
                              </p:animMotion>
                            </p:childTnLst>
                          </p:cTn>
                        </p:par>
                        <p:par>
                          <p:cTn id="48" presetID="4" presetClass="entr" presetSubtype="0" fill="hold" grpId="0" nodeType="withEffect">
                            <p:stCondLst>
                              <p:cond delay="0"/>
                            </p:stCondLst>
                            <p:childTnLst>
                              <p:set>
                                <p:cBhvr>
                                  <p:cTn id="49" dur="1" fill="hold">
                                    <p:stCondLst>
                                      <p:cond delay="0"/>
                                    </p:stCondLst>
                                  </p:cTn>
                                  <p:tgtEl>
                                    <p:spTgt spid="7"/>
                                  </p:tgtEl>
                                  <p:attrNameLst>
                                    <p:attrName>style.visibility</p:attrName>
                                  </p:attrNameLst>
                                </p:cBhvr>
                                <p:to>
                                  <p:strVal val="visible"/>
                                </p:to>
                              </p:set>
                              <p:animMotion origin="layout" path="M 0 -0.04 L 0 0" pathEditMode="relative" rAng="0" ptsTypes="">
                                <p:cBhvr>
                                  <p:cTn id="50" dur="400" fill="hold"/>
                                  <p:tgtEl>
                                    <p:spTgt spid="7"/>
                                  </p:tgtEl>
                                  <p:attrNameLst>
                                    <p:attrName>ppt_x</p:attrName>
                                    <p:attrName>ppt_y</p:attrName>
                                  </p:attrNameLst>
                                </p:cBhvr>
                                <p:rCtr x="0" y="0"/>
                              </p:animMotion>
                            </p:childTnLst>
                          </p:cTn>
                        </p:par>
                        <p:par>
                          <p:cTn id="51" presetID="4" presetClass="entr" presetSubtype="0"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animMotion origin="layout" path="M 0 -0.04 L 0 0" pathEditMode="relative" rAng="0" ptsTypes="">
                                <p:cBhvr>
                                  <p:cTn id="53" dur="400" fill="hold"/>
                                  <p:tgtEl>
                                    <p:spTgt spid="8"/>
                                  </p:tgtEl>
                                  <p:attrNameLst>
                                    <p:attrName>ppt_x</p:attrName>
                                    <p:attrName>ppt_y</p:attrName>
                                  </p:attrNameLst>
                                </p:cBhvr>
                                <p:rCtr x="0" y="0"/>
                              </p:animMotion>
                            </p:childTnLst>
                          </p:cTn>
                        </p:par>
                        <p:par>
                          <p:cTn id="54" presetID="4" presetClass="entr" presetSubtype="0" fill="hold" grpId="0" nodeType="withEffect">
                            <p:stCondLst>
                              <p:cond delay="0"/>
                            </p:stCondLst>
                            <p:childTnLst>
                              <p:set>
                                <p:cBhvr>
                                  <p:cTn id="55" dur="1" fill="hold">
                                    <p:stCondLst>
                                      <p:cond delay="0"/>
                                    </p:stCondLst>
                                  </p:cTn>
                                  <p:tgtEl>
                                    <p:spTgt spid="9"/>
                                  </p:tgtEl>
                                  <p:attrNameLst>
                                    <p:attrName>style.visibility</p:attrName>
                                  </p:attrNameLst>
                                </p:cBhvr>
                                <p:to>
                                  <p:strVal val="visible"/>
                                </p:to>
                              </p:set>
                              <p:animMotion origin="layout" path="M 0 -0.04 L 0 0" pathEditMode="relative" rAng="0" ptsTypes="">
                                <p:cBhvr>
                                  <p:cTn id="56" dur="400" fill="hold"/>
                                  <p:tgtEl>
                                    <p:spTgt spid="9"/>
                                  </p:tgtEl>
                                  <p:attrNameLst>
                                    <p:attrName>ppt_x</p:attrName>
                                    <p:attrName>ppt_y</p:attrName>
                                  </p:attrNameLst>
                                </p:cBhvr>
                                <p:rCtr x="0" y="0"/>
                              </p:animMotion>
                            </p:childTnLst>
                          </p:cTn>
                        </p:par>
                        <p:par>
                          <p:cTn id="57" presetID="4" presetClass="entr" presetSubtype="0"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animMotion origin="layout" path="M 0 -0.04 L 0 0" pathEditMode="relative" rAng="0" ptsTypes="">
                                <p:cBhvr>
                                  <p:cTn id="59" dur="400" fill="hold"/>
                                  <p:tgtEl>
                                    <p:spTgt spid="10"/>
                                  </p:tgtEl>
                                  <p:attrNameLst>
                                    <p:attrName>ppt_x</p:attrName>
                                    <p:attrName>ppt_y</p:attrName>
                                  </p:attrNameLst>
                                </p:cBhvr>
                                <p:rCtr x="0" y="0"/>
                              </p:animMotion>
                            </p:childTnLst>
                          </p:cTn>
                        </p:par>
                        <p:par>
                          <p:cTn id="60" presetID="4" presetClass="entr" presetSubtype="0" fill="hold" grpId="0" nodeType="withEffect">
                            <p:stCondLst>
                              <p:cond delay="0"/>
                            </p:stCondLst>
                            <p:childTnLst>
                              <p:set>
                                <p:cBhvr>
                                  <p:cTn id="61" dur="1" fill="hold">
                                    <p:stCondLst>
                                      <p:cond delay="0"/>
                                    </p:stCondLst>
                                  </p:cTn>
                                  <p:tgtEl>
                                    <p:spTgt spid="11"/>
                                  </p:tgtEl>
                                  <p:attrNameLst>
                                    <p:attrName>style.visibility</p:attrName>
                                  </p:attrNameLst>
                                </p:cBhvr>
                                <p:to>
                                  <p:strVal val="visible"/>
                                </p:to>
                              </p:set>
                              <p:animMotion origin="layout" path="M 0 -0.04 L 0 0" pathEditMode="relative" rAng="0" ptsTypes="">
                                <p:cBhvr>
                                  <p:cTn id="62" dur="400" fill="hold"/>
                                  <p:tgtEl>
                                    <p:spTgt spid="11"/>
                                  </p:tgtEl>
                                  <p:attrNameLst>
                                    <p:attrName>ppt_x</p:attrName>
                                    <p:attrName>ppt_y</p:attrName>
                                  </p:attrNameLst>
                                </p:cBhvr>
                                <p:rCtr x="0" y="0"/>
                              </p:animMotion>
                            </p:childTnLst>
                          </p:cTn>
                        </p:par>
                        <p:par>
                          <p:cTn id="63" presetID="4" presetClass="entr" presetSubtype="0" fill="hold" grpId="0" nodeType="withEffect">
                            <p:stCondLst>
                              <p:cond delay="0"/>
                            </p:stCondLst>
                            <p:childTnLst>
                              <p:set>
                                <p:cBhvr>
                                  <p:cTn id="64" dur="1" fill="hold">
                                    <p:stCondLst>
                                      <p:cond delay="0"/>
                                    </p:stCondLst>
                                  </p:cTn>
                                  <p:tgtEl>
                                    <p:spTgt spid="15"/>
                                  </p:tgtEl>
                                  <p:attrNameLst>
                                    <p:attrName>style.visibility</p:attrName>
                                  </p:attrNameLst>
                                </p:cBhvr>
                                <p:to>
                                  <p:strVal val="visible"/>
                                </p:to>
                              </p:set>
                              <p:animMotion origin="layout" path="M 0 -0.04 L 0 0" pathEditMode="relative" rAng="0" ptsTypes="">
                                <p:cBhvr>
                                  <p:cTn id="65" dur="400" fill="hold"/>
                                  <p:tgtEl>
                                    <p:spTgt spid="15"/>
                                  </p:tgtEl>
                                  <p:attrNameLst>
                                    <p:attrName>ppt_x</p:attrName>
                                    <p:attrName>ppt_y</p:attrName>
                                  </p:attrNameLst>
                                </p:cBhvr>
                                <p:rCtr x="0" y="0"/>
                              </p:animMotion>
                            </p:childTnLst>
                          </p:cTn>
                        </p:par>
                        <p:par>
                          <p:cTn id="66" presetID="4" presetClass="entr" presetSubtype="0"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Motion origin="layout" path="M 0 -0.04 L 0 0" pathEditMode="relative" rAng="0" ptsTypes="">
                                <p:cBhvr>
                                  <p:cTn id="68" dur="400" fill="hold"/>
                                  <p:tgtEl>
                                    <p:spTgt spid="16"/>
                                  </p:tgtEl>
                                  <p:attrNameLst>
                                    <p:attrName>ppt_x</p:attrName>
                                    <p:attrName>ppt_y</p:attrName>
                                  </p:attrNameLst>
                                </p:cBhvr>
                                <p:rCtr x="0" y="0"/>
                              </p:animMotion>
                            </p:childTnLst>
                          </p:cTn>
                        </p:par>
                        <p:par>
                          <p:cTn id="69" presetID="4" presetClass="entr"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Motion origin="layout" path="M 0 -0.04 L 0 0" pathEditMode="relative" rAng="0" ptsTypes="">
                                <p:cBhvr>
                                  <p:cTn id="71" dur="400" fill="hold"/>
                                  <p:tgtEl>
                                    <p:spTgt spid="17"/>
                                  </p:tgtEl>
                                  <p:attrNameLst>
                                    <p:attrName>ppt_x</p:attrName>
                                    <p:attrName>ppt_y</p:attrName>
                                  </p:attrNameLst>
                                </p:cBhvr>
                                <p:rCtr x="0" y="0"/>
                              </p:animMotion>
                            </p:childTnLst>
                          </p:cTn>
                        </p:par>
                      </p:childTnLst>
                    </p:cTn>
                  </p:par>
                  <p:par>
                    <p:cTn id="72" fill="hold">
                      <p:stCondLst>
                        <p:cond delay="indefinite"/>
                      </p:stCondLst>
                      <p:childTnLst>
                        <p:par>
                          <p:cTn id="73" presetID="10" presetClass="exit" presetSubtype="0" fill="hold" grpId="0" nodeType="clickEffect">
                            <p:stCondLst>
                              <p:cond delay="0"/>
                            </p:stCondLst>
                            <p:childTnLst>
                              <p:animEffect transition="out" filter="fade">
                                <p:cBhvr>
                                  <p:cTn id="74" dur="500" fill="hold"/>
                                  <p:tgtEl>
                                    <p:spTgt spid="14"/>
                                  </p:tgtEl>
                                </p:cBhvr>
                              </p:animEffect>
                              <p:set>
                                <p:cBhvr>
                                  <p:cTn id="75" dur="1" fill="hold">
                                    <p:stCondLst>
                                      <p:cond delay="499"/>
                                    </p:stCondLst>
                                  </p:cTn>
                                  <p:tgtEl>
                                    <p:spTgt spid="14"/>
                                  </p:tgtEl>
                                  <p:attrNameLst>
                                    <p:attrName>style.visibility</p:attrName>
                                  </p:attrNameLst>
                                </p:cBhvr>
                                <p:to>
                                  <p:strVal val="hidden"/>
                                </p:to>
                              </p:set>
                            </p:childTnLst>
                          </p:cTn>
                        </p:par>
                      </p:childTnLst>
                    </p:cTn>
                  </p:par>
                  <p:par>
                    <p:cTn id="76" fill="hold">
                      <p:stCondLst>
                        <p:cond delay="indefinite"/>
                      </p:stCondLst>
                      <p:childTnLst>
                        <p:par>
                          <p:cTn id="77" presetID="4" presetClass="entr" presetSubtype="0"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Motion origin="layout" path="M 0 -0.04 L 0 0" pathEditMode="relative" rAng="0" ptsTypes="">
                                <p:cBhvr>
                                  <p:cTn id="79" dur="400" fill="hold"/>
                                  <p:tgtEl>
                                    <p:spTgt spid="18"/>
                                  </p:tgtEl>
                                  <p:attrNameLst>
                                    <p:attrName>ppt_x</p:attrName>
                                    <p:attrName>ppt_y</p:attrName>
                                  </p:attrNameLst>
                                </p:cBhvr>
                                <p:rCtr x="0" y="0"/>
                              </p:animMotion>
                            </p:childTnLst>
                          </p:cTn>
                        </p:par>
                        <p:par>
                          <p:cTn id="80" presetID="4"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Motion origin="layout" path="M 0 -0.04 L 0 0" pathEditMode="relative" rAng="0" ptsTypes="">
                                <p:cBhvr>
                                  <p:cTn id="82" dur="400" fill="hold"/>
                                  <p:tgtEl>
                                    <p:spTgt spid="19"/>
                                  </p:tgtEl>
                                  <p:attrNameLst>
                                    <p:attrName>ppt_x</p:attrName>
                                    <p:attrName>ppt_y</p:attrName>
                                  </p:attrNameLst>
                                </p:cBhvr>
                                <p:rCtr x="0" y="0"/>
                              </p:animMotion>
                            </p:childTnLst>
                          </p:cTn>
                        </p:par>
                        <p:par>
                          <p:cTn id="83" presetID="4"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Motion origin="layout" path="M 0 -0.04 L 0 0" pathEditMode="relative" rAng="0" ptsTypes="">
                                <p:cBhvr>
                                  <p:cTn id="85" dur="400" fill="hold"/>
                                  <p:tgtEl>
                                    <p:spTgt spid="20"/>
                                  </p:tgtEl>
                                  <p:attrNameLst>
                                    <p:attrName>ppt_x</p:attrName>
                                    <p:attrName>ppt_y</p:attrName>
                                  </p:attrNameLst>
                                </p:cBhvr>
                                <p:rCtr x="0" y="0"/>
                              </p:animMotion>
                            </p:childTnLst>
                          </p:cTn>
                        </p:par>
                        <p:par>
                          <p:cTn id="86" presetID="4" presetClass="entr" presetSubtype="0" fill="hold" grpId="0" nodeType="withEffect">
                            <p:stCondLst>
                              <p:cond delay="0"/>
                            </p:stCondLst>
                            <p:childTnLst>
                              <p:set>
                                <p:cBhvr>
                                  <p:cTn id="87" dur="1" fill="hold">
                                    <p:stCondLst>
                                      <p:cond delay="0"/>
                                    </p:stCondLst>
                                  </p:cTn>
                                  <p:tgtEl>
                                    <p:spTgt spid="21"/>
                                  </p:tgtEl>
                                  <p:attrNameLst>
                                    <p:attrName>style.visibility</p:attrName>
                                  </p:attrNameLst>
                                </p:cBhvr>
                                <p:to>
                                  <p:strVal val="visible"/>
                                </p:to>
                              </p:set>
                              <p:animMotion origin="layout" path="M 0 -0.04 L 0 0" pathEditMode="relative" rAng="0" ptsTypes="">
                                <p:cBhvr>
                                  <p:cTn id="88" dur="400" fill="hold"/>
                                  <p:tgtEl>
                                    <p:spTgt spid="21"/>
                                  </p:tgtEl>
                                  <p:attrNameLst>
                                    <p:attrName>ppt_x</p:attrName>
                                    <p:attrName>ppt_y</p:attrName>
                                  </p:attrNameLst>
                                </p:cBhvr>
                                <p:rCtr x="0" y="0"/>
                              </p:animMotion>
                            </p:childTnLst>
                          </p:cTn>
                        </p:par>
                        <p:par>
                          <p:cTn id="89" presetID="4" presetClass="entr" presetSubtype="0" fill="hold" grpId="0" nodeType="withEffect">
                            <p:stCondLst>
                              <p:cond delay="0"/>
                            </p:stCondLst>
                            <p:childTnLst>
                              <p:set>
                                <p:cBhvr>
                                  <p:cTn id="90" dur="1" fill="hold">
                                    <p:stCondLst>
                                      <p:cond delay="0"/>
                                    </p:stCondLst>
                                  </p:cTn>
                                  <p:tgtEl>
                                    <p:spTgt spid="22"/>
                                  </p:tgtEl>
                                  <p:attrNameLst>
                                    <p:attrName>style.visibility</p:attrName>
                                  </p:attrNameLst>
                                </p:cBhvr>
                                <p:to>
                                  <p:strVal val="visible"/>
                                </p:to>
                              </p:set>
                              <p:animMotion origin="layout" path="M 0 -0.04 L 0 0" pathEditMode="relative" rAng="0" ptsTypes="">
                                <p:cBhvr>
                                  <p:cTn id="91" dur="400" fill="hold"/>
                                  <p:tgtEl>
                                    <p:spTgt spid="22"/>
                                  </p:tgtEl>
                                  <p:attrNameLst>
                                    <p:attrName>ppt_x</p:attrName>
                                    <p:attrName>ppt_y</p:attrName>
                                  </p:attrNameLst>
                                </p:cBhvr>
                                <p:rCtr x="0" y="0"/>
                              </p:animMotion>
                            </p:childTnLst>
                          </p:cTn>
                        </p:par>
                        <p:par>
                          <p:cTn id="92" presetID="4" presetClass="entr" presetSubtype="0" fill="hold" grpId="0" nodeType="withEffect">
                            <p:stCondLst>
                              <p:cond delay="0"/>
                            </p:stCondLst>
                            <p:childTnLst>
                              <p:set>
                                <p:cBhvr>
                                  <p:cTn id="93" dur="1" fill="hold">
                                    <p:stCondLst>
                                      <p:cond delay="0"/>
                                    </p:stCondLst>
                                  </p:cTn>
                                  <p:tgtEl>
                                    <p:spTgt spid="23"/>
                                  </p:tgtEl>
                                  <p:attrNameLst>
                                    <p:attrName>style.visibility</p:attrName>
                                  </p:attrNameLst>
                                </p:cBhvr>
                                <p:to>
                                  <p:strVal val="visible"/>
                                </p:to>
                              </p:set>
                              <p:animMotion origin="layout" path="M 0 -0.04 L 0 0" pathEditMode="relative" rAng="0" ptsTypes="">
                                <p:cBhvr>
                                  <p:cTn id="94" dur="400" fill="hold"/>
                                  <p:tgtEl>
                                    <p:spTgt spid="23"/>
                                  </p:tgtEl>
                                  <p:attrNameLst>
                                    <p:attrName>ppt_x</p:attrName>
                                    <p:attrName>ppt_y</p:attrName>
                                  </p:attrNameLst>
                                </p:cBhvr>
                                <p:rCtr x="0" y="0"/>
                              </p:animMotion>
                            </p:childTnLst>
                          </p:cTn>
                        </p:par>
                        <p:par>
                          <p:cTn id="95" presetID="4" presetClass="entr" presetSubtype="0" fill="hold" grpId="0" nodeType="withEffect">
                            <p:stCondLst>
                              <p:cond delay="0"/>
                            </p:stCondLst>
                            <p:childTnLst>
                              <p:set>
                                <p:cBhvr>
                                  <p:cTn id="96" dur="1" fill="hold">
                                    <p:stCondLst>
                                      <p:cond delay="0"/>
                                    </p:stCondLst>
                                  </p:cTn>
                                  <p:tgtEl>
                                    <p:spTgt spid="56"/>
                                  </p:tgtEl>
                                  <p:attrNameLst>
                                    <p:attrName>style.visibility</p:attrName>
                                  </p:attrNameLst>
                                </p:cBhvr>
                                <p:to>
                                  <p:strVal val="visible"/>
                                </p:to>
                              </p:set>
                              <p:animMotion origin="layout" path="M 0 -0.04 L 0 0" pathEditMode="relative" rAng="0" ptsTypes="">
                                <p:cBhvr>
                                  <p:cTn id="97" dur="400" fill="hold"/>
                                  <p:tgtEl>
                                    <p:spTgt spid="56"/>
                                  </p:tgtEl>
                                  <p:attrNameLst>
                                    <p:attrName>ppt_x</p:attrName>
                                    <p:attrName>ppt_y</p:attrName>
                                  </p:attrNameLst>
                                </p:cBhvr>
                                <p:rCtr x="0" y="0"/>
                              </p:animMotion>
                            </p:childTnLst>
                          </p:cTn>
                        </p:par>
                        <p:par>
                          <p:cTn id="98" presetID="4" presetClass="entr" presetSubtype="0" fill="hold" grpId="0" nodeType="withEffect">
                            <p:stCondLst>
                              <p:cond delay="0"/>
                            </p:stCondLst>
                            <p:childTnLst>
                              <p:set>
                                <p:cBhvr>
                                  <p:cTn id="99" dur="1" fill="hold">
                                    <p:stCondLst>
                                      <p:cond delay="0"/>
                                    </p:stCondLst>
                                  </p:cTn>
                                  <p:tgtEl>
                                    <p:spTgt spid="57"/>
                                  </p:tgtEl>
                                  <p:attrNameLst>
                                    <p:attrName>style.visibility</p:attrName>
                                  </p:attrNameLst>
                                </p:cBhvr>
                                <p:to>
                                  <p:strVal val="visible"/>
                                </p:to>
                              </p:set>
                              <p:animMotion origin="layout" path="M 0 -0.04 L 0 0" pathEditMode="relative" rAng="0" ptsTypes="">
                                <p:cBhvr>
                                  <p:cTn id="100" dur="400" fill="hold"/>
                                  <p:tgtEl>
                                    <p:spTgt spid="57"/>
                                  </p:tgtEl>
                                  <p:attrNameLst>
                                    <p:attrName>ppt_x</p:attrName>
                                    <p:attrName>ppt_y</p:attrName>
                                  </p:attrNameLst>
                                </p:cBhvr>
                                <p:rCtr x="0" y="0"/>
                              </p:animMotion>
                            </p:childTnLst>
                          </p:cTn>
                        </p:par>
                        <p:par>
                          <p:cTn id="101" presetID="4" presetClass="entr" presetSubtype="0" fill="hold" grpId="0" nodeType="withEffect">
                            <p:stCondLst>
                              <p:cond delay="0"/>
                            </p:stCondLst>
                            <p:childTnLst>
                              <p:set>
                                <p:cBhvr>
                                  <p:cTn id="102" dur="1" fill="hold">
                                    <p:stCondLst>
                                      <p:cond delay="0"/>
                                    </p:stCondLst>
                                  </p:cTn>
                                  <p:tgtEl>
                                    <p:spTgt spid="58"/>
                                  </p:tgtEl>
                                  <p:attrNameLst>
                                    <p:attrName>style.visibility</p:attrName>
                                  </p:attrNameLst>
                                </p:cBhvr>
                                <p:to>
                                  <p:strVal val="visible"/>
                                </p:to>
                              </p:set>
                              <p:animMotion origin="layout" path="M 0 -0.04 L 0 0" pathEditMode="relative" rAng="0" ptsTypes="">
                                <p:cBhvr>
                                  <p:cTn id="103" dur="400" fill="hold"/>
                                  <p:tgtEl>
                                    <p:spTgt spid="58"/>
                                  </p:tgtEl>
                                  <p:attrNameLst>
                                    <p:attrName>ppt_x</p:attrName>
                                    <p:attrName>ppt_y</p:attrName>
                                  </p:attrNameLst>
                                </p:cBhvr>
                                <p:rCtr x="0" y="0"/>
                              </p:animMotion>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animBg="1"/>
      <p:bldP spid="3" grpId="0" animBg="1"/>
      <p:bldP spid="4" grpId="0" animBg="1"/>
      <p:bldP spid="5" grpId="0" animBg="1"/>
      <p:bldP spid="6" grpId="0" animBg="1"/>
      <p:bldP spid="7" grpId="0" animBg="1"/>
      <p:bldP spid="8" grpId="0" animBg="1"/>
      <p:bldP spid="9" grpId="0" animBg="1"/>
      <p:bldP spid="10" grpId="0" animBg="1"/>
      <p:bldP spid="11" grpId="0" animBg="1"/>
      <p:bldP spid="15" grpId="0" animBg="1"/>
      <p:bldP spid="16" grpId="0" animBg="1"/>
      <p:bldP spid="17" grpId="0" animBg="1"/>
      <p:bldP spid="18" grpId="0" animBg="1"/>
      <p:bldP spid="19" grpId="0" animBg="1"/>
      <p:bldP spid="20" grpId="0" animBg="1"/>
      <p:bldP spid="21" grpId="0" animBg="1"/>
      <p:bldP spid="22" grpId="0" animBg="1"/>
      <p:bldP spid="23" grpId="0" animBg="1"/>
      <p:bldP spid="56" grpId="0" animBg="1"/>
      <p:bldP spid="57" grpId="0" animBg="1"/>
      <p:bldP spid="58"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D6990-343F-7B1F-28C0-856B04636277}"/>
              </a:ext>
            </a:extLst>
          </p:cNvPr>
          <p:cNvSpPr>
            <a:spLocks noGrp="1"/>
          </p:cNvSpPr>
          <p:nvPr>
            <p:ph type="title"/>
          </p:nvPr>
        </p:nvSpPr>
        <p:spPr>
          <a:xfrm>
            <a:off x="584030" y="383702"/>
            <a:ext cx="8220243" cy="415498"/>
          </a:xfrm>
        </p:spPr>
        <p:txBody>
          <a:bodyPr/>
          <a:lstStyle/>
          <a:p>
            <a:r>
              <a:rPr lang="en-US"/>
              <a:t>Results</a:t>
            </a:r>
          </a:p>
        </p:txBody>
      </p:sp>
      <p:graphicFrame>
        <p:nvGraphicFramePr>
          <p:cNvPr id="100" name="Chart"/>
          <p:cNvGraphicFramePr/>
          <p:nvPr/>
        </p:nvGraphicFramePr>
        <p:xfrm>
          <a:off x="584030" y="638605"/>
          <a:ext cx="8229600" cy="42926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6871B214-84C6-BB41-A1D7-1B59C0848235}"/>
              </a:ext>
            </a:extLst>
          </p:cNvPr>
          <p:cNvSpPr txBox="1"/>
          <p:nvPr/>
        </p:nvSpPr>
        <p:spPr>
          <a:xfrm>
            <a:off x="7289970" y="914403"/>
            <a:ext cx="1270000" cy="279400"/>
          </a:xfrm>
          <a:prstGeom prst="rect">
            <a:avLst/>
          </a:prstGeom>
          <a:solidFill>
            <a:srgbClr val="FFFFFF"/>
          </a:solidFill>
          <a:ln w="9525">
            <a:solidFill>
              <a:srgbClr val="B31B1B"/>
            </a:solidFill>
          </a:ln>
        </p:spPr>
        <p:txBody>
          <a:bodyPr vertOverflow="overflow" vert="horz" wrap="square" rtlCol="0" anchor="ctr" anchorCtr="0">
            <a:noAutofit/>
          </a:bodyPr>
          <a:lstStyle/>
          <a:p>
            <a:pPr algn="l"/>
            <a:r>
              <a:rPr lang="en-US" sz="1200" b="1">
                <a:solidFill>
                  <a:srgbClr val="B31B1B"/>
                </a:solidFill>
              </a:rPr>
              <a:t>★ p &lt; 0.05</a:t>
            </a:r>
          </a:p>
        </p:txBody>
      </p:sp>
    </p:spTree>
    <p:extLst>
      <p:ext uri="{BB962C8B-B14F-4D97-AF65-F5344CB8AC3E}">
        <p14:creationId xmlns:p14="http://schemas.microsoft.com/office/powerpoint/2010/main" val="983570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404C3-3924-7774-B5BE-2754859A7960}"/>
              </a:ext>
            </a:extLst>
          </p:cNvPr>
          <p:cNvSpPr>
            <a:spLocks noGrp="1"/>
          </p:cNvSpPr>
          <p:nvPr>
            <p:ph type="title"/>
          </p:nvPr>
        </p:nvSpPr>
        <p:spPr/>
        <p:txBody>
          <a:bodyPr/>
          <a:lstStyle/>
          <a:p>
            <a:r>
              <a:rPr lang="en-US"/>
              <a:t>Results</a:t>
            </a:r>
          </a:p>
        </p:txBody>
      </p:sp>
      <p:graphicFrame>
        <p:nvGraphicFramePr>
          <p:cNvPr id="100" name="Chart"/>
          <p:cNvGraphicFramePr/>
          <p:nvPr/>
        </p:nvGraphicFramePr>
        <p:xfrm>
          <a:off x="457200" y="539066"/>
          <a:ext cx="8229600" cy="435691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87744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5F602-2446-0D43-4125-A83D5945B526}"/>
              </a:ext>
            </a:extLst>
          </p:cNvPr>
          <p:cNvSpPr>
            <a:spLocks noGrp="1"/>
          </p:cNvSpPr>
          <p:nvPr>
            <p:ph type="title"/>
          </p:nvPr>
        </p:nvSpPr>
        <p:spPr>
          <a:xfrm>
            <a:off x="457199" y="123568"/>
            <a:ext cx="8544129" cy="415498"/>
          </a:xfrm>
        </p:spPr>
        <p:txBody>
          <a:bodyPr/>
          <a:lstStyle/>
          <a:p>
            <a:r>
              <a:rPr lang="en-US"/>
              <a:t>Results</a:t>
            </a:r>
          </a:p>
        </p:txBody>
      </p:sp>
      <p:graphicFrame>
        <p:nvGraphicFramePr>
          <p:cNvPr id="100" name="Chart"/>
          <p:cNvGraphicFramePr/>
          <p:nvPr/>
        </p:nvGraphicFramePr>
        <p:xfrm>
          <a:off x="505736" y="636332"/>
          <a:ext cx="4223527" cy="4292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00" name="Patient Chart"/>
          <p:cNvGraphicFramePr/>
          <p:nvPr/>
        </p:nvGraphicFramePr>
        <p:xfrm>
          <a:off x="5384800" y="850900"/>
          <a:ext cx="2946400" cy="38481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553358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C24E101-70B0-3461-0A97-55C81901CB7C}"/>
              </a:ext>
            </a:extLst>
          </p:cNvPr>
          <p:cNvSpPr>
            <a:spLocks noGrp="1"/>
          </p:cNvSpPr>
          <p:nvPr>
            <p:ph type="title"/>
          </p:nvPr>
        </p:nvSpPr>
        <p:spPr/>
        <p:txBody>
          <a:bodyPr/>
          <a:lstStyle/>
          <a:p>
            <a:r>
              <a:rPr lang="en-US" dirty="0"/>
              <a:t>Document image properties for pages containing fabrications versus without</a:t>
            </a:r>
          </a:p>
        </p:txBody>
      </p:sp>
      <p:graphicFrame>
        <p:nvGraphicFramePr>
          <p:cNvPr id="120" name="QualityChart"/>
          <p:cNvGraphicFramePr/>
          <p:nvPr/>
        </p:nvGraphicFramePr>
        <p:xfrm>
          <a:off x="457200" y="1080000"/>
          <a:ext cx="8229600" cy="349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71329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FCD2C-86B9-0BE3-2F6F-6B12D624317F}"/>
              </a:ext>
            </a:extLst>
          </p:cNvPr>
          <p:cNvSpPr>
            <a:spLocks noGrp="1"/>
          </p:cNvSpPr>
          <p:nvPr>
            <p:ph type="title"/>
          </p:nvPr>
        </p:nvSpPr>
        <p:spPr/>
        <p:txBody>
          <a:bodyPr/>
          <a:lstStyle/>
          <a:p>
            <a:r>
              <a:rPr lang="en-US"/>
              <a:t>Summary of Results</a:t>
            </a:r>
          </a:p>
        </p:txBody>
      </p:sp>
      <p:sp>
        <p:nvSpPr>
          <p:cNvPr id="3" name="Content Placeholder 2">
            <a:extLst>
              <a:ext uri="{FF2B5EF4-FFF2-40B4-BE49-F238E27FC236}">
                <a16:creationId xmlns:a16="http://schemas.microsoft.com/office/drawing/2014/main" id="{D6A8245E-5C0E-FF43-7DED-930367DBBB41}"/>
              </a:ext>
            </a:extLst>
          </p:cNvPr>
          <p:cNvSpPr>
            <a:spLocks noGrp="1"/>
          </p:cNvSpPr>
          <p:nvPr>
            <p:ph idx="1"/>
          </p:nvPr>
        </p:nvSpPr>
        <p:spPr/>
        <p:txBody>
          <a:bodyPr/>
          <a:lstStyle/>
          <a:p>
            <a:pPr marL="285750" indent="-285750">
              <a:buFont typeface="Arial" panose="020B0604020202020204" pitchFamily="34" charset="0"/>
              <a:buChar char="•"/>
            </a:pPr>
            <a:r>
              <a:rPr lang="en-US" dirty="0"/>
              <a:t>LLM matched or outperformed staff accuracy in 12 of 14 clinical features.</a:t>
            </a:r>
          </a:p>
          <a:p>
            <a:pPr marL="285750" indent="-285750">
              <a:buFont typeface="Arial" panose="020B0604020202020204" pitchFamily="34" charset="0"/>
              <a:buChar char="•"/>
            </a:pPr>
            <a:r>
              <a:rPr lang="en-US" dirty="0"/>
              <a:t>LLM generated fewer omissions across nearly all evaluated features.</a:t>
            </a:r>
          </a:p>
          <a:p>
            <a:pPr marL="285750" indent="-285750">
              <a:buFont typeface="Arial" panose="020B0604020202020204" pitchFamily="34" charset="0"/>
              <a:buChar char="•"/>
            </a:pPr>
            <a:r>
              <a:rPr lang="en-US" dirty="0"/>
              <a:t>Feature-level fabrication rates were ≤2% for both LLM and staff-authored summaries.</a:t>
            </a:r>
          </a:p>
          <a:p>
            <a:pPr marL="285750" indent="-285750">
              <a:buFont typeface="Arial" panose="020B0604020202020204" pitchFamily="34" charset="0"/>
              <a:buChar char="•"/>
            </a:pPr>
            <a:r>
              <a:rPr lang="en-US" dirty="0"/>
              <a:t>Patient-level fabrication occurred in 7.5% of LLM summaries and 3.0% of staff-authored summaries.</a:t>
            </a:r>
          </a:p>
        </p:txBody>
      </p:sp>
    </p:spTree>
    <p:extLst>
      <p:ext uri="{BB962C8B-B14F-4D97-AF65-F5344CB8AC3E}">
        <p14:creationId xmlns:p14="http://schemas.microsoft.com/office/powerpoint/2010/main" val="1296964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A6155-0DF9-AB1C-4A01-6216BD08F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8A371-9452-323C-3F0F-AE283E734D66}"/>
              </a:ext>
            </a:extLst>
          </p:cNvPr>
          <p:cNvSpPr>
            <a:spLocks noGrp="1"/>
          </p:cNvSpPr>
          <p:nvPr>
            <p:ph type="title"/>
          </p:nvPr>
        </p:nvSpPr>
        <p:spPr/>
        <p:txBody>
          <a:bodyPr/>
          <a:lstStyle/>
          <a:p>
            <a:r>
              <a:rPr lang="en-US"/>
              <a:t>Limitations</a:t>
            </a:r>
          </a:p>
        </p:txBody>
      </p:sp>
      <p:sp>
        <p:nvSpPr>
          <p:cNvPr id="3" name="Content Placeholder 2">
            <a:extLst>
              <a:ext uri="{FF2B5EF4-FFF2-40B4-BE49-F238E27FC236}">
                <a16:creationId xmlns:a16="http://schemas.microsoft.com/office/drawing/2014/main" id="{E97CF8C2-8B7F-FA68-3D9A-604B723318A2}"/>
              </a:ext>
            </a:extLst>
          </p:cNvPr>
          <p:cNvSpPr>
            <a:spLocks noGrp="1"/>
          </p:cNvSpPr>
          <p:nvPr>
            <p:ph idx="1"/>
          </p:nvPr>
        </p:nvSpPr>
        <p:spPr/>
        <p:txBody>
          <a:bodyPr/>
          <a:lstStyle/>
          <a:p>
            <a:pPr marL="285750" indent="-285750">
              <a:buFont typeface="Arial" panose="020B0604020202020204" pitchFamily="34" charset="0"/>
              <a:buChar char="•"/>
            </a:pPr>
            <a:r>
              <a:rPr lang="en-US" dirty="0"/>
              <a:t>Conducted at a single academic institution. Findings may not generalize to settings with different documentation practices, report formats, or clinical workflows.</a:t>
            </a:r>
          </a:p>
          <a:p>
            <a:pPr marL="285750" indent="-285750">
              <a:buFont typeface="Arial" panose="020B0604020202020204" pitchFamily="34" charset="0"/>
              <a:buChar char="•"/>
            </a:pPr>
            <a:r>
              <a:rPr lang="en-US" dirty="0"/>
              <a:t>Performance was assessed using a single model and prompt configuration. Findings may not generalize to other models, prompts, or deployment settings.</a:t>
            </a:r>
          </a:p>
          <a:p>
            <a:pPr marL="285750" indent="-285750">
              <a:buFont typeface="Arial" panose="020B0604020202020204" pitchFamily="34" charset="0"/>
              <a:buChar char="•"/>
            </a:pPr>
            <a:r>
              <a:rPr lang="en-US" dirty="0"/>
              <a:t>Staff-authored summaries served as the comparator but were not generated using a standardized template. Documentation practices varied by surgeon, which may have contributed to omission of certain oncologic variables (e.g., invasive tumor size).</a:t>
            </a:r>
          </a:p>
          <a:p>
            <a:pPr marL="285750" indent="-285750">
              <a:buFont typeface="Arial" panose="020B0604020202020204" pitchFamily="34" charset="0"/>
              <a:buChar char="•"/>
            </a:pPr>
            <a:r>
              <a:rPr lang="en-US" dirty="0"/>
              <a:t>The study was retrospective, and model outputs were not evaluated in real-time clinical workflows.</a:t>
            </a:r>
          </a:p>
        </p:txBody>
      </p:sp>
    </p:spTree>
    <p:extLst>
      <p:ext uri="{BB962C8B-B14F-4D97-AF65-F5344CB8AC3E}">
        <p14:creationId xmlns:p14="http://schemas.microsoft.com/office/powerpoint/2010/main" val="857917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5EE07-A6C2-3BAE-632E-04A45F836D73}"/>
              </a:ext>
            </a:extLst>
          </p:cNvPr>
          <p:cNvSpPr>
            <a:spLocks noGrp="1"/>
          </p:cNvSpPr>
          <p:nvPr>
            <p:ph type="title"/>
          </p:nvPr>
        </p:nvSpPr>
        <p:spPr/>
        <p:txBody>
          <a:bodyPr/>
          <a:lstStyle/>
          <a:p>
            <a:r>
              <a:rPr lang="en-US"/>
              <a:t>Conclusions</a:t>
            </a:r>
          </a:p>
        </p:txBody>
      </p:sp>
      <p:sp>
        <p:nvSpPr>
          <p:cNvPr id="3" name="Content Placeholder 2">
            <a:extLst>
              <a:ext uri="{FF2B5EF4-FFF2-40B4-BE49-F238E27FC236}">
                <a16:creationId xmlns:a16="http://schemas.microsoft.com/office/drawing/2014/main" id="{A0C749AB-0794-9D0D-D2A9-78277D16DE69}"/>
              </a:ext>
            </a:extLst>
          </p:cNvPr>
          <p:cNvSpPr>
            <a:spLocks noGrp="1"/>
          </p:cNvSpPr>
          <p:nvPr>
            <p:ph idx="1"/>
          </p:nvPr>
        </p:nvSpPr>
        <p:spPr/>
        <p:txBody>
          <a:bodyPr/>
          <a:lstStyle/>
          <a:p>
            <a:pPr marL="285750" lvl="0" indent="-285750">
              <a:buFont typeface="Arial" panose="020B0604020202020204" pitchFamily="34" charset="0"/>
              <a:buChar char="•"/>
            </a:pPr>
            <a:r>
              <a:rPr lang="en-US" dirty="0"/>
              <a:t>Findings support prior evidence that LLMs can perform clinical summarization tasks at or above clinician level and extend this literature by demonstrating improved completeness without compromising safety.</a:t>
            </a:r>
          </a:p>
        </p:txBody>
      </p:sp>
    </p:spTree>
    <p:extLst>
      <p:ext uri="{BB962C8B-B14F-4D97-AF65-F5344CB8AC3E}">
        <p14:creationId xmlns:p14="http://schemas.microsoft.com/office/powerpoint/2010/main" val="1750569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92BAB-9772-D087-3119-7257B7C1DF5D}"/>
              </a:ext>
            </a:extLst>
          </p:cNvPr>
          <p:cNvSpPr>
            <a:spLocks noGrp="1"/>
          </p:cNvSpPr>
          <p:nvPr>
            <p:ph type="title"/>
          </p:nvPr>
        </p:nvSpPr>
        <p:spPr/>
        <p:txBody>
          <a:bodyPr/>
          <a:lstStyle/>
          <a:p>
            <a:r>
              <a:rPr lang="en-US" dirty="0"/>
              <a:t>Future Directions</a:t>
            </a:r>
          </a:p>
        </p:txBody>
      </p:sp>
      <p:sp>
        <p:nvSpPr>
          <p:cNvPr id="3" name="Content Placeholder 2">
            <a:extLst>
              <a:ext uri="{FF2B5EF4-FFF2-40B4-BE49-F238E27FC236}">
                <a16:creationId xmlns:a16="http://schemas.microsoft.com/office/drawing/2014/main" id="{D443DB39-0160-5B6E-DC3C-6300E903067E}"/>
              </a:ext>
            </a:extLst>
          </p:cNvPr>
          <p:cNvSpPr>
            <a:spLocks noGrp="1"/>
          </p:cNvSpPr>
          <p:nvPr>
            <p:ph idx="1"/>
          </p:nvPr>
        </p:nvSpPr>
        <p:spPr/>
        <p:txBody>
          <a:bodyPr/>
          <a:lstStyle/>
          <a:p>
            <a:pPr marL="285750" indent="-285750">
              <a:buFont typeface="Arial" panose="020B0604020202020204" pitchFamily="34" charset="0"/>
              <a:buChar char="•"/>
            </a:pPr>
            <a:r>
              <a:rPr lang="en-US" dirty="0"/>
              <a:t>Evaluating changes in performance following optimization</a:t>
            </a:r>
          </a:p>
          <a:p>
            <a:pPr marL="1028700" lvl="1"/>
            <a:r>
              <a:rPr lang="en-US" dirty="0"/>
              <a:t>Prompt engineering - explicit guardrails to prevent inference, evidence grounding to reduce attention drift, structured examples to reinforce desired reasoning, and required JSON outputs to improve completeness </a:t>
            </a:r>
          </a:p>
          <a:p>
            <a:pPr marL="1028700" lvl="1"/>
            <a:r>
              <a:rPr lang="en-US" dirty="0"/>
              <a:t>Repeated extraction of high-risk features to assess consistency </a:t>
            </a:r>
          </a:p>
          <a:p>
            <a:pPr marL="1428750" lvl="2"/>
            <a:r>
              <a:rPr lang="en-US" dirty="0"/>
              <a:t>Confidence scoring identifies outputs that may require clinician review </a:t>
            </a:r>
          </a:p>
          <a:p>
            <a:pPr marL="285750" indent="-285750">
              <a:buFont typeface="Arial" panose="020B0604020202020204" pitchFamily="34" charset="0"/>
              <a:buChar char="•"/>
            </a:pPr>
            <a:r>
              <a:rPr lang="en-US" dirty="0"/>
              <a:t>Addressing input quality as a source of fabrication</a:t>
            </a:r>
          </a:p>
          <a:p>
            <a:pPr marL="1028700" lvl="1"/>
            <a:r>
              <a:rPr lang="en-US" dirty="0"/>
              <a:t>Source document quality assessment to identify low-quality scans before OCR </a:t>
            </a:r>
          </a:p>
          <a:p>
            <a:pPr marL="1428750" lvl="2"/>
            <a:r>
              <a:rPr lang="en-US" dirty="0"/>
              <a:t>Reduces OCR-related extraction errors and downstream fabrication </a:t>
            </a:r>
          </a:p>
          <a:p>
            <a:pPr marL="285750" indent="-285750">
              <a:buFont typeface="Arial" panose="020B0604020202020204" pitchFamily="34" charset="0"/>
              <a:buChar char="•"/>
            </a:pPr>
            <a:r>
              <a:rPr lang="en-US" dirty="0"/>
              <a:t>Prospective, real-world studies to evaluate operational performance, user acceptance, and safety at scale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637369718"/>
      </p:ext>
    </p:extLst>
  </p:cSld>
  <p:clrMapOvr>
    <a:masterClrMapping/>
  </p:clrMapOvr>
</p:sld>
</file>

<file path=ppt/theme/theme1.xml><?xml version="1.0" encoding="utf-8"?>
<a:theme xmlns:a="http://schemas.openxmlformats.org/drawingml/2006/main" name="WCM_Template_Cobranded PPT_Gray">
  <a:themeElements>
    <a:clrScheme name="WCM 2022">
      <a:dk1>
        <a:srgbClr val="2D2E2D"/>
      </a:dk1>
      <a:lt1>
        <a:srgbClr val="FFFFFF"/>
      </a:lt1>
      <a:dk2>
        <a:srgbClr val="555555"/>
      </a:dk2>
      <a:lt2>
        <a:srgbClr val="EFEEED"/>
      </a:lt2>
      <a:accent1>
        <a:srgbClr val="B31B1B"/>
      </a:accent1>
      <a:accent2>
        <a:srgbClr val="CF4520"/>
      </a:accent2>
      <a:accent3>
        <a:srgbClr val="E87722"/>
      </a:accent3>
      <a:accent4>
        <a:srgbClr val="FFC72C"/>
      </a:accent4>
      <a:accent5>
        <a:srgbClr val="8D8E8D"/>
      </a:accent5>
      <a:accent6>
        <a:srgbClr val="CECFCD"/>
      </a:accent6>
      <a:hlink>
        <a:srgbClr val="272727"/>
      </a:hlink>
      <a:folHlink>
        <a:srgbClr val="27272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cm_template_masterbrand_wide_ppt_white" id="{907254EC-2902-A44B-BCB7-1945B2D07FF4}" vid="{49B71980-DE23-324C-99C3-85255CCFAC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8FB028B0-7B0C-B647-8B68-ACEE38A0DAE4}">
  <we:reference id="wa200010001" version="1.0.0.1" store="en-US" storeType="OMEX"/>
  <we:alternateReferences>
    <we:reference id="wa200010001" version="1.0.0.1" store="en-US" storeType="OMEX"/>
  </we:alternateReferences>
  <we:properties>
    <we:property name="claude.fileId" value="&quot;86d92888-32db-4deb-9bca-de73d06a0d4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8596691E-028D-6E42-8500-4EF5D6C7EA6A}">
  <we:reference id="wa200010725" version="1.0.0.1" store="en-US" storeType="OMEX"/>
  <we:alternateReferences>
    <we:reference id="WA200010725" version="1.0.0.1" store="" storeType="OMEX"/>
  </we:alternateReferences>
  <we:properties>
    <we:property name="claude.fileId" value="&quot;d4f932b1-d508-4d98-a805-05f50e913c46&quot;"/>
  </we:properties>
  <we:bindings/>
  <we:snapshot xmlns:r="http://schemas.openxmlformats.org/officeDocument/2006/relationships"/>
</we:webextension>
</file>

<file path=docMetadata/LabelInfo.xml><?xml version="1.0" encoding="utf-8"?>
<clbl:labelList xmlns:clbl="http://schemas.microsoft.com/office/2020/mipLabelMetadata">
  <clbl:label id="{f71b58b5-4126-43a9-bcb3-21c9de6f5241}" enabled="0" method="" siteId="{f71b58b5-4126-43a9-bcb3-21c9de6f5241}" removed="1"/>
</clbl:labelList>
</file>

<file path=docProps/app.xml><?xml version="1.0" encoding="utf-8"?>
<Properties xmlns="http://schemas.openxmlformats.org/officeDocument/2006/extended-properties" xmlns:vt="http://schemas.openxmlformats.org/officeDocument/2006/docPropsVTypes">
  <Template/>
  <TotalTime>1368</TotalTime>
  <Words>2689</Words>
  <Application>Microsoft Macintosh PowerPoint</Application>
  <PresentationFormat>On-screen Show (16:9)</PresentationFormat>
  <Paragraphs>349</Paragraphs>
  <Slides>18</Slides>
  <Notes>18</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WCM_Template_Cobranded PPT_Gray</vt:lpstr>
      <vt:lpstr>Accuracy and Safety of Large Language Models for Breast Cancer Surgical Consultation Summaries</vt:lpstr>
      <vt:lpstr>Introduction</vt:lpstr>
      <vt:lpstr>Introduction</vt:lpstr>
      <vt:lpstr>Introduction</vt:lpstr>
      <vt:lpstr>Introduction </vt:lpstr>
      <vt:lpstr>Methods</vt:lpstr>
      <vt:lpstr>Methods</vt:lpstr>
      <vt:lpstr>Methods</vt:lpstr>
      <vt:lpstr>Methods</vt:lpstr>
      <vt:lpstr>Results</vt:lpstr>
      <vt:lpstr>Results</vt:lpstr>
      <vt:lpstr>Results</vt:lpstr>
      <vt:lpstr>Results</vt:lpstr>
      <vt:lpstr>Document image properties for pages containing fabrications versus without</vt:lpstr>
      <vt:lpstr>Summary of Results</vt:lpstr>
      <vt:lpstr>Limitations</vt:lpstr>
      <vt:lpstr>Conclusions</vt:lpstr>
      <vt:lpstr>Future Directions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Cover Slide Title</dc:title>
  <dc:subject/>
  <dc:creator>brian zickerman</dc:creator>
  <cp:keywords/>
  <dc:description/>
  <cp:lastModifiedBy>Robert James</cp:lastModifiedBy>
  <cp:revision>5</cp:revision>
  <cp:lastPrinted>2015-10-19T20:50:20Z</cp:lastPrinted>
  <dcterms:created xsi:type="dcterms:W3CDTF">2022-12-12T22:47:27Z</dcterms:created>
  <dcterms:modified xsi:type="dcterms:W3CDTF">2026-05-30T23:33:13Z</dcterms:modified>
  <cp:category/>
</cp:coreProperties>
</file>