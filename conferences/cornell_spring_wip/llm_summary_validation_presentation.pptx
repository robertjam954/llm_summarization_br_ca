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11047" r:id="rId2"/>
    <p:sldId id="11091" r:id="rId3"/>
    <p:sldId id="278" r:id="rId4"/>
    <p:sldId id="11089" r:id="rId5"/>
    <p:sldId id="11079" r:id="rId6"/>
    <p:sldId id="11081" r:id="rId7"/>
    <p:sldId id="11082" r:id="rId8"/>
    <p:sldId id="11085" r:id="rId9"/>
    <p:sldId id="11030" r:id="rId10"/>
    <p:sldId id="11069" r:id="rId11"/>
    <p:sldId id="292" r:id="rId12"/>
    <p:sldId id="306" r:id="rId13"/>
    <p:sldId id="294" r:id="rId14"/>
    <p:sldId id="261" r:id="rId15"/>
    <p:sldId id="300" r:id="rId16"/>
    <p:sldId id="301" r:id="rId17"/>
    <p:sldId id="305" r:id="rId18"/>
    <p:sldId id="11092" r:id="rId19"/>
    <p:sldId id="11071" r:id="rId20"/>
    <p:sldId id="11072" r:id="rId21"/>
    <p:sldId id="110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25E5BF-D19E-463C-9870-DB282E9B171D}" v="13" dt="2026-05-03T17:56:31.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058" autoAdjust="0"/>
  </p:normalViewPr>
  <p:slideViewPr>
    <p:cSldViewPr snapToGrid="0" snapToObjects="1">
      <p:cViewPr>
        <p:scale>
          <a:sx n="44" d="100"/>
          <a:sy n="44" d="100"/>
        </p:scale>
        <p:origin x="668" y="2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Robert" userId="2289ddc5-885d-4588-a312-b6745df56974" providerId="ADAL" clId="{DF25E5BF-D19E-463C-9870-DB282E9B171D}"/>
    <pc:docChg chg="custSel addSld delSld modSld">
      <pc:chgData name="James, Robert" userId="2289ddc5-885d-4588-a312-b6745df56974" providerId="ADAL" clId="{DF25E5BF-D19E-463C-9870-DB282E9B171D}" dt="2026-05-03T17:58:53.895" v="240" actId="20577"/>
      <pc:docMkLst>
        <pc:docMk/>
      </pc:docMkLst>
      <pc:sldChg chg="del">
        <pc:chgData name="James, Robert" userId="2289ddc5-885d-4588-a312-b6745df56974" providerId="ADAL" clId="{DF25E5BF-D19E-463C-9870-DB282E9B171D}" dt="2026-05-03T17:57:12.373" v="194" actId="47"/>
        <pc:sldMkLst>
          <pc:docMk/>
          <pc:sldMk cId="0" sldId="262"/>
        </pc:sldMkLst>
      </pc:sldChg>
      <pc:sldChg chg="addSp delSp modSp mod">
        <pc:chgData name="James, Robert" userId="2289ddc5-885d-4588-a312-b6745df56974" providerId="ADAL" clId="{DF25E5BF-D19E-463C-9870-DB282E9B171D}" dt="2026-05-03T17:54:39.242" v="165" actId="1076"/>
        <pc:sldMkLst>
          <pc:docMk/>
          <pc:sldMk cId="0" sldId="278"/>
        </pc:sldMkLst>
        <pc:spChg chg="del mod">
          <ac:chgData name="James, Robert" userId="2289ddc5-885d-4588-a312-b6745df56974" providerId="ADAL" clId="{DF25E5BF-D19E-463C-9870-DB282E9B171D}" dt="2026-05-03T17:54:16.464" v="147" actId="478"/>
          <ac:spMkLst>
            <pc:docMk/>
            <pc:sldMk cId="0" sldId="278"/>
            <ac:spMk id="2" creationId="{00000000-0000-0000-0000-000000000000}"/>
          </ac:spMkLst>
        </pc:spChg>
        <pc:spChg chg="mod">
          <ac:chgData name="James, Robert" userId="2289ddc5-885d-4588-a312-b6745df56974" providerId="ADAL" clId="{DF25E5BF-D19E-463C-9870-DB282E9B171D}" dt="2026-05-03T17:52:49.787" v="111" actId="20577"/>
          <ac:spMkLst>
            <pc:docMk/>
            <pc:sldMk cId="0" sldId="278"/>
            <ac:spMk id="3" creationId="{00000000-0000-0000-0000-000000000000}"/>
          </ac:spMkLst>
        </pc:spChg>
        <pc:spChg chg="add mod">
          <ac:chgData name="James, Robert" userId="2289ddc5-885d-4588-a312-b6745df56974" providerId="ADAL" clId="{DF25E5BF-D19E-463C-9870-DB282E9B171D}" dt="2026-05-03T17:53:52.860" v="141"/>
          <ac:spMkLst>
            <pc:docMk/>
            <pc:sldMk cId="0" sldId="278"/>
            <ac:spMk id="4" creationId="{A04CCB85-EEAC-2BF1-A0B7-0883B9E3E166}"/>
          </ac:spMkLst>
        </pc:spChg>
        <pc:spChg chg="add mod">
          <ac:chgData name="James, Robert" userId="2289ddc5-885d-4588-a312-b6745df56974" providerId="ADAL" clId="{DF25E5BF-D19E-463C-9870-DB282E9B171D}" dt="2026-05-03T17:54:39.242" v="165" actId="1076"/>
          <ac:spMkLst>
            <pc:docMk/>
            <pc:sldMk cId="0" sldId="278"/>
            <ac:spMk id="6" creationId="{DDB093FB-AA2A-182D-6672-E334FC58E494}"/>
          </ac:spMkLst>
        </pc:spChg>
        <pc:spChg chg="add mod">
          <ac:chgData name="James, Robert" userId="2289ddc5-885d-4588-a312-b6745df56974" providerId="ADAL" clId="{DF25E5BF-D19E-463C-9870-DB282E9B171D}" dt="2026-05-03T17:54:06.065" v="144"/>
          <ac:spMkLst>
            <pc:docMk/>
            <pc:sldMk cId="0" sldId="278"/>
            <ac:spMk id="7" creationId="{87471FD3-21E3-B9DF-C87C-DE246FB698FC}"/>
          </ac:spMkLst>
        </pc:spChg>
        <pc:spChg chg="add mod">
          <ac:chgData name="James, Robert" userId="2289ddc5-885d-4588-a312-b6745df56974" providerId="ADAL" clId="{DF25E5BF-D19E-463C-9870-DB282E9B171D}" dt="2026-05-03T17:54:09.598" v="145"/>
          <ac:spMkLst>
            <pc:docMk/>
            <pc:sldMk cId="0" sldId="278"/>
            <ac:spMk id="8" creationId="{B445DEBB-54EF-198E-EA64-7EB0A4977B03}"/>
          </ac:spMkLst>
        </pc:spChg>
        <pc:spChg chg="add del mod">
          <ac:chgData name="James, Robert" userId="2289ddc5-885d-4588-a312-b6745df56974" providerId="ADAL" clId="{DF25E5BF-D19E-463C-9870-DB282E9B171D}" dt="2026-05-03T17:54:19.759" v="148" actId="478"/>
          <ac:spMkLst>
            <pc:docMk/>
            <pc:sldMk cId="0" sldId="278"/>
            <ac:spMk id="11" creationId="{8607BFA2-7645-41FB-7C13-3613781BA912}"/>
          </ac:spMkLst>
        </pc:spChg>
        <pc:picChg chg="add">
          <ac:chgData name="James, Robert" userId="2289ddc5-885d-4588-a312-b6745df56974" providerId="ADAL" clId="{DF25E5BF-D19E-463C-9870-DB282E9B171D}" dt="2026-05-03T17:53:56.245" v="142"/>
          <ac:picMkLst>
            <pc:docMk/>
            <pc:sldMk cId="0" sldId="278"/>
            <ac:picMk id="5" creationId="{388A2282-5CC5-7A2C-368A-77135DD5A128}"/>
          </ac:picMkLst>
        </pc:picChg>
        <pc:picChg chg="add mod">
          <ac:chgData name="James, Robert" userId="2289ddc5-885d-4588-a312-b6745df56974" providerId="ADAL" clId="{DF25E5BF-D19E-463C-9870-DB282E9B171D}" dt="2026-05-03T17:54:24.159" v="149" actId="1076"/>
          <ac:picMkLst>
            <pc:docMk/>
            <pc:sldMk cId="0" sldId="278"/>
            <ac:picMk id="9" creationId="{2D3C6785-637D-33A4-D293-D3FAD5E9A342}"/>
          </ac:picMkLst>
        </pc:picChg>
      </pc:sldChg>
      <pc:sldChg chg="modSp mod">
        <pc:chgData name="James, Robert" userId="2289ddc5-885d-4588-a312-b6745df56974" providerId="ADAL" clId="{DF25E5BF-D19E-463C-9870-DB282E9B171D}" dt="2026-05-03T17:57:29.711" v="218" actId="20577"/>
        <pc:sldMkLst>
          <pc:docMk/>
          <pc:sldMk cId="0" sldId="300"/>
        </pc:sldMkLst>
        <pc:spChg chg="mod">
          <ac:chgData name="James, Robert" userId="2289ddc5-885d-4588-a312-b6745df56974" providerId="ADAL" clId="{DF25E5BF-D19E-463C-9870-DB282E9B171D}" dt="2026-05-03T17:57:29.711" v="218" actId="20577"/>
          <ac:spMkLst>
            <pc:docMk/>
            <pc:sldMk cId="0" sldId="300"/>
            <ac:spMk id="2" creationId="{00000000-0000-0000-0000-000000000000}"/>
          </ac:spMkLst>
        </pc:spChg>
      </pc:sldChg>
      <pc:sldChg chg="modSp mod">
        <pc:chgData name="James, Robert" userId="2289ddc5-885d-4588-a312-b6745df56974" providerId="ADAL" clId="{DF25E5BF-D19E-463C-9870-DB282E9B171D}" dt="2026-05-03T17:57:56.464" v="219" actId="20577"/>
        <pc:sldMkLst>
          <pc:docMk/>
          <pc:sldMk cId="1052225801" sldId="301"/>
        </pc:sldMkLst>
        <pc:spChg chg="mod">
          <ac:chgData name="James, Robert" userId="2289ddc5-885d-4588-a312-b6745df56974" providerId="ADAL" clId="{DF25E5BF-D19E-463C-9870-DB282E9B171D}" dt="2026-05-03T17:57:56.464" v="219" actId="20577"/>
          <ac:spMkLst>
            <pc:docMk/>
            <pc:sldMk cId="1052225801" sldId="301"/>
            <ac:spMk id="3" creationId="{6328D4AA-88F0-A000-4DC7-A03C0F2E06B2}"/>
          </ac:spMkLst>
        </pc:spChg>
      </pc:sldChg>
      <pc:sldChg chg="addSp delSp modSp mod">
        <pc:chgData name="James, Robert" userId="2289ddc5-885d-4588-a312-b6745df56974" providerId="ADAL" clId="{DF25E5BF-D19E-463C-9870-DB282E9B171D}" dt="2026-05-03T17:56:37.022" v="193" actId="1076"/>
        <pc:sldMkLst>
          <pc:docMk/>
          <pc:sldMk cId="247361968" sldId="11079"/>
        </pc:sldMkLst>
        <pc:spChg chg="mod">
          <ac:chgData name="James, Robert" userId="2289ddc5-885d-4588-a312-b6745df56974" providerId="ADAL" clId="{DF25E5BF-D19E-463C-9870-DB282E9B171D}" dt="2026-05-03T17:55:38.470" v="184" actId="1076"/>
          <ac:spMkLst>
            <pc:docMk/>
            <pc:sldMk cId="247361968" sldId="11079"/>
            <ac:spMk id="5" creationId="{DFCF1373-476F-EF0A-9E2B-6A47BBE67C9A}"/>
          </ac:spMkLst>
        </pc:spChg>
        <pc:spChg chg="add del mod">
          <ac:chgData name="James, Robert" userId="2289ddc5-885d-4588-a312-b6745df56974" providerId="ADAL" clId="{DF25E5BF-D19E-463C-9870-DB282E9B171D}" dt="2026-05-03T17:55:46.788" v="189" actId="478"/>
          <ac:spMkLst>
            <pc:docMk/>
            <pc:sldMk cId="247361968" sldId="11079"/>
            <ac:spMk id="7" creationId="{126CCF09-3FE8-F36C-F14C-603C7603DDB3}"/>
          </ac:spMkLst>
        </pc:spChg>
        <pc:spChg chg="add mod">
          <ac:chgData name="James, Robert" userId="2289ddc5-885d-4588-a312-b6745df56974" providerId="ADAL" clId="{DF25E5BF-D19E-463C-9870-DB282E9B171D}" dt="2026-05-03T17:55:42.682" v="186"/>
          <ac:spMkLst>
            <pc:docMk/>
            <pc:sldMk cId="247361968" sldId="11079"/>
            <ac:spMk id="8" creationId="{28ED1F18-2AFC-206B-7288-CDB1750837C8}"/>
          </ac:spMkLst>
        </pc:spChg>
        <pc:picChg chg="add del mod">
          <ac:chgData name="James, Robert" userId="2289ddc5-885d-4588-a312-b6745df56974" providerId="ADAL" clId="{DF25E5BF-D19E-463C-9870-DB282E9B171D}" dt="2026-05-03T17:56:33.294" v="192" actId="478"/>
          <ac:picMkLst>
            <pc:docMk/>
            <pc:sldMk cId="247361968" sldId="11079"/>
            <ac:picMk id="9" creationId="{E2071AEE-510C-A6D5-E7C2-8C1E52FD9472}"/>
          </ac:picMkLst>
        </pc:picChg>
        <pc:picChg chg="add mod">
          <ac:chgData name="James, Robert" userId="2289ddc5-885d-4588-a312-b6745df56974" providerId="ADAL" clId="{DF25E5BF-D19E-463C-9870-DB282E9B171D}" dt="2026-05-03T17:56:37.022" v="193" actId="1076"/>
          <ac:picMkLst>
            <pc:docMk/>
            <pc:sldMk cId="247361968" sldId="11079"/>
            <ac:picMk id="10" creationId="{3D4C2ADC-A864-6B12-952E-037CFD91F4AD}"/>
          </ac:picMkLst>
        </pc:picChg>
      </pc:sldChg>
      <pc:sldChg chg="modSp mod">
        <pc:chgData name="James, Robert" userId="2289ddc5-885d-4588-a312-b6745df56974" providerId="ADAL" clId="{DF25E5BF-D19E-463C-9870-DB282E9B171D}" dt="2026-05-03T17:55:03.797" v="181" actId="207"/>
        <pc:sldMkLst>
          <pc:docMk/>
          <pc:sldMk cId="2017397866" sldId="11089"/>
        </pc:sldMkLst>
        <pc:spChg chg="mod">
          <ac:chgData name="James, Robert" userId="2289ddc5-885d-4588-a312-b6745df56974" providerId="ADAL" clId="{DF25E5BF-D19E-463C-9870-DB282E9B171D}" dt="2026-05-03T17:54:53.380" v="180" actId="20577"/>
          <ac:spMkLst>
            <pc:docMk/>
            <pc:sldMk cId="2017397866" sldId="11089"/>
            <ac:spMk id="5" creationId="{A5EE09DA-EA0D-2E24-41FB-87D9DE0607DD}"/>
          </ac:spMkLst>
        </pc:spChg>
        <pc:spChg chg="mod">
          <ac:chgData name="James, Robert" userId="2289ddc5-885d-4588-a312-b6745df56974" providerId="ADAL" clId="{DF25E5BF-D19E-463C-9870-DB282E9B171D}" dt="2026-05-03T17:54:48.846" v="166" actId="20577"/>
          <ac:spMkLst>
            <pc:docMk/>
            <pc:sldMk cId="2017397866" sldId="11089"/>
            <ac:spMk id="6" creationId="{AA0D6D0A-25AC-2876-1550-748CF46B69B7}"/>
          </ac:spMkLst>
        </pc:spChg>
        <pc:spChg chg="mod">
          <ac:chgData name="James, Robert" userId="2289ddc5-885d-4588-a312-b6745df56974" providerId="ADAL" clId="{DF25E5BF-D19E-463C-9870-DB282E9B171D}" dt="2026-05-03T17:55:03.797" v="181" actId="207"/>
          <ac:spMkLst>
            <pc:docMk/>
            <pc:sldMk cId="2017397866" sldId="11089"/>
            <ac:spMk id="7" creationId="{D1E179AB-4DCE-FE24-6134-703A253C4539}"/>
          </ac:spMkLst>
        </pc:spChg>
      </pc:sldChg>
      <pc:sldChg chg="modSp mod">
        <pc:chgData name="James, Robert" userId="2289ddc5-885d-4588-a312-b6745df56974" providerId="ADAL" clId="{DF25E5BF-D19E-463C-9870-DB282E9B171D}" dt="2026-05-03T17:52:16.526" v="104" actId="20577"/>
        <pc:sldMkLst>
          <pc:docMk/>
          <pc:sldMk cId="3530447403" sldId="11091"/>
        </pc:sldMkLst>
        <pc:spChg chg="mod">
          <ac:chgData name="James, Robert" userId="2289ddc5-885d-4588-a312-b6745df56974" providerId="ADAL" clId="{DF25E5BF-D19E-463C-9870-DB282E9B171D}" dt="2026-05-03T17:52:04.647" v="102" actId="20577"/>
          <ac:spMkLst>
            <pc:docMk/>
            <pc:sldMk cId="3530447403" sldId="11091"/>
            <ac:spMk id="5" creationId="{0F86A71B-062C-9DC3-6F25-B88AEE14E487}"/>
          </ac:spMkLst>
        </pc:spChg>
        <pc:spChg chg="mod">
          <ac:chgData name="James, Robert" userId="2289ddc5-885d-4588-a312-b6745df56974" providerId="ADAL" clId="{DF25E5BF-D19E-463C-9870-DB282E9B171D}" dt="2026-05-03T17:51:49.586" v="65" actId="20577"/>
          <ac:spMkLst>
            <pc:docMk/>
            <pc:sldMk cId="3530447403" sldId="11091"/>
            <ac:spMk id="6" creationId="{C875E457-737A-A963-0E63-9E693B495645}"/>
          </ac:spMkLst>
        </pc:spChg>
        <pc:spChg chg="mod">
          <ac:chgData name="James, Robert" userId="2289ddc5-885d-4588-a312-b6745df56974" providerId="ADAL" clId="{DF25E5BF-D19E-463C-9870-DB282E9B171D}" dt="2026-05-03T17:52:16.526" v="104" actId="20577"/>
          <ac:spMkLst>
            <pc:docMk/>
            <pc:sldMk cId="3530447403" sldId="11091"/>
            <ac:spMk id="7" creationId="{1204EBE0-101C-4413-A0FB-D607F9FF6043}"/>
          </ac:spMkLst>
        </pc:spChg>
      </pc:sldChg>
      <pc:sldChg chg="modSp new mod">
        <pc:chgData name="James, Robert" userId="2289ddc5-885d-4588-a312-b6745df56974" providerId="ADAL" clId="{DF25E5BF-D19E-463C-9870-DB282E9B171D}" dt="2026-05-03T17:58:53.895" v="240" actId="20577"/>
        <pc:sldMkLst>
          <pc:docMk/>
          <pc:sldMk cId="3717739119" sldId="11092"/>
        </pc:sldMkLst>
        <pc:spChg chg="mod">
          <ac:chgData name="James, Robert" userId="2289ddc5-885d-4588-a312-b6745df56974" providerId="ADAL" clId="{DF25E5BF-D19E-463C-9870-DB282E9B171D}" dt="2026-05-03T17:58:53.895" v="240" actId="20577"/>
          <ac:spMkLst>
            <pc:docMk/>
            <pc:sldMk cId="3717739119" sldId="11092"/>
            <ac:spMk id="2" creationId="{88CE21F8-9390-3DE0-F176-6592E414D4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C371D-5DA9-6C42-8A12-4A27D2753739}"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35306-B3B1-A944-A64E-0A77BF937900}" type="slidenum">
              <a:rPr lang="en-US" smtClean="0"/>
              <a:t>‹#›</a:t>
            </a:fld>
            <a:endParaRPr lang="en-US"/>
          </a:p>
        </p:txBody>
      </p:sp>
    </p:spTree>
    <p:extLst>
      <p:ext uri="{BB962C8B-B14F-4D97-AF65-F5344CB8AC3E}">
        <p14:creationId xmlns:p14="http://schemas.microsoft.com/office/powerpoint/2010/main" val="330374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Create a more comprehensive PowerPoint based on the user's detailed instructions</a:t>
            </a:r>
          </a:p>
          <a:p>
            <a:endParaRPr dirty="0"/>
          </a:p>
          <a:p>
            <a:r>
              <a:rPr dirty="0"/>
              <a:t>from pptx import Presentation</a:t>
            </a:r>
          </a:p>
          <a:p>
            <a:r>
              <a:rPr dirty="0"/>
              <a:t>from </a:t>
            </a:r>
            <a:r>
              <a:rPr dirty="0" err="1"/>
              <a:t>pptx.util</a:t>
            </a:r>
            <a:r>
              <a:rPr dirty="0"/>
              <a:t> import Inches</a:t>
            </a:r>
          </a:p>
          <a:p>
            <a:endParaRPr dirty="0"/>
          </a:p>
          <a:p>
            <a:r>
              <a:rPr dirty="0"/>
              <a:t>prs = Presentation()</a:t>
            </a:r>
          </a:p>
          <a:p>
            <a:endParaRPr dirty="0"/>
          </a:p>
          <a:p>
            <a:r>
              <a:rPr dirty="0"/>
              <a:t>def </a:t>
            </a:r>
            <a:r>
              <a:rPr dirty="0" err="1"/>
              <a:t>add_slide</a:t>
            </a:r>
            <a:r>
              <a:rPr dirty="0"/>
              <a:t>(title, bullets):</a:t>
            </a:r>
          </a:p>
          <a:p>
            <a:r>
              <a:rPr dirty="0"/>
              <a:t>    </a:t>
            </a:r>
            <a:r>
              <a:rPr dirty="0" err="1"/>
              <a:t>slide_layout</a:t>
            </a:r>
            <a:r>
              <a:rPr dirty="0"/>
              <a:t> = </a:t>
            </a:r>
            <a:r>
              <a:rPr dirty="0" err="1"/>
              <a:t>prs.slide_layouts</a:t>
            </a:r>
            <a:r>
              <a:rPr dirty="0"/>
              <a:t>[1]</a:t>
            </a:r>
          </a:p>
          <a:p>
            <a:r>
              <a:rPr dirty="0"/>
              <a:t>    slide = </a:t>
            </a:r>
            <a:r>
              <a:rPr dirty="0" err="1"/>
              <a:t>prs.slides.add_slide</a:t>
            </a:r>
            <a:r>
              <a:rPr dirty="0"/>
              <a:t>(</a:t>
            </a:r>
            <a:r>
              <a:rPr dirty="0" err="1"/>
              <a:t>slide_layout</a:t>
            </a:r>
            <a:r>
              <a:rPr dirty="0"/>
              <a:t>)</a:t>
            </a:r>
          </a:p>
          <a:p>
            <a:r>
              <a:rPr dirty="0"/>
              <a:t>    </a:t>
            </a:r>
            <a:r>
              <a:rPr dirty="0" err="1"/>
              <a:t>slide.shapes.title.text</a:t>
            </a:r>
            <a:r>
              <a:rPr dirty="0"/>
              <a:t> = title</a:t>
            </a:r>
          </a:p>
          <a:p>
            <a:r>
              <a:rPr dirty="0"/>
              <a:t>    </a:t>
            </a:r>
            <a:r>
              <a:rPr dirty="0" err="1"/>
              <a:t>tf</a:t>
            </a:r>
            <a:r>
              <a:rPr dirty="0"/>
              <a:t> = </a:t>
            </a:r>
            <a:r>
              <a:rPr dirty="0" err="1"/>
              <a:t>slide.placeholders</a:t>
            </a:r>
            <a:r>
              <a:rPr dirty="0"/>
              <a:t>[1].</a:t>
            </a:r>
            <a:r>
              <a:rPr dirty="0" err="1"/>
              <a:t>text_frame</a:t>
            </a:r>
            <a:endParaRPr dirty="0"/>
          </a:p>
          <a:p>
            <a:r>
              <a:rPr dirty="0"/>
              <a:t>    </a:t>
            </a:r>
            <a:r>
              <a:rPr dirty="0" err="1"/>
              <a:t>tf.clear</a:t>
            </a:r>
            <a:r>
              <a:rPr dirty="0"/>
              <a:t>()</a:t>
            </a:r>
          </a:p>
          <a:p>
            <a:r>
              <a:rPr dirty="0"/>
              <a:t>    for </a:t>
            </a:r>
            <a:r>
              <a:rPr dirty="0" err="1"/>
              <a:t>i</a:t>
            </a:r>
            <a:r>
              <a:rPr dirty="0"/>
              <a:t>, b in enumerate(bullets):</a:t>
            </a:r>
          </a:p>
          <a:p>
            <a:r>
              <a:rPr dirty="0"/>
              <a:t>        if </a:t>
            </a:r>
            <a:r>
              <a:rPr dirty="0" err="1"/>
              <a:t>i</a:t>
            </a:r>
            <a:r>
              <a:rPr dirty="0"/>
              <a:t> == 0:</a:t>
            </a:r>
          </a:p>
          <a:p>
            <a:r>
              <a:rPr dirty="0"/>
              <a:t>            </a:t>
            </a:r>
            <a:r>
              <a:rPr dirty="0" err="1"/>
              <a:t>tf.text</a:t>
            </a:r>
            <a:r>
              <a:rPr dirty="0"/>
              <a:t> = b</a:t>
            </a:r>
          </a:p>
          <a:p>
            <a:r>
              <a:rPr dirty="0"/>
              <a:t>        else:</a:t>
            </a:r>
          </a:p>
          <a:p>
            <a:r>
              <a:rPr dirty="0"/>
              <a:t>            p = </a:t>
            </a:r>
            <a:r>
              <a:rPr dirty="0" err="1"/>
              <a:t>tf.add_paragraph</a:t>
            </a:r>
            <a:r>
              <a:rPr dirty="0"/>
              <a:t>()</a:t>
            </a:r>
          </a:p>
          <a:p>
            <a:r>
              <a:rPr dirty="0"/>
              <a:t>            </a:t>
            </a:r>
            <a:r>
              <a:rPr dirty="0" err="1"/>
              <a:t>p.text</a:t>
            </a:r>
            <a:r>
              <a:rPr dirty="0"/>
              <a:t> = b</a:t>
            </a:r>
          </a:p>
          <a:p>
            <a:r>
              <a:rPr dirty="0"/>
              <a:t>            </a:t>
            </a:r>
            <a:r>
              <a:rPr dirty="0" err="1"/>
              <a:t>p.level</a:t>
            </a:r>
            <a:r>
              <a:rPr dirty="0"/>
              <a:t> = 0</a:t>
            </a:r>
          </a:p>
          <a:p>
            <a:endParaRPr dirty="0"/>
          </a:p>
          <a:p>
            <a:r>
              <a:rPr dirty="0"/>
              <a:t># 1. Title</a:t>
            </a:r>
          </a:p>
          <a:p>
            <a:r>
              <a:rPr dirty="0" err="1"/>
              <a:t>add_slide</a:t>
            </a:r>
            <a:r>
              <a:rPr dirty="0"/>
              <a:t>(</a:t>
            </a:r>
          </a:p>
          <a:p>
            <a:r>
              <a:rPr dirty="0"/>
              <a:t>    "LLM Prompt Engineering for Breast Cancer Workup Extraction",</a:t>
            </a:r>
          </a:p>
          <a:p>
            <a:r>
              <a:rPr dirty="0"/>
              <a:t>    [</a:t>
            </a:r>
          </a:p>
          <a:p>
            <a:r>
              <a:rPr dirty="0"/>
              <a:t>        "Evaluating accuracy, hallucination, and safety",</a:t>
            </a:r>
          </a:p>
          <a:p>
            <a:r>
              <a:rPr dirty="0"/>
              <a:t>        "Prompt engineering + RAG + </a:t>
            </a:r>
            <a:r>
              <a:rPr dirty="0" err="1"/>
              <a:t>LangGraph</a:t>
            </a:r>
            <a:r>
              <a:rPr dirty="0"/>
              <a:t>",</a:t>
            </a:r>
          </a:p>
          <a:p>
            <a:r>
              <a:rPr dirty="0"/>
              <a:t>        "Memorial Sloan Kettering | Surgical Oncology AI"</a:t>
            </a:r>
          </a:p>
          <a:p>
            <a:r>
              <a:rPr dirty="0"/>
              <a:t>    ]</a:t>
            </a:r>
          </a:p>
          <a:p>
            <a:r>
              <a:rPr dirty="0"/>
              <a:t>)</a:t>
            </a:r>
          </a:p>
          <a:p>
            <a:endParaRPr dirty="0"/>
          </a:p>
          <a:p>
            <a:r>
              <a:rPr dirty="0"/>
              <a:t># 2. Background - LLM basics</a:t>
            </a:r>
          </a:p>
          <a:p>
            <a:r>
              <a:rPr dirty="0" err="1"/>
              <a:t>add_slide</a:t>
            </a:r>
            <a:r>
              <a:rPr dirty="0"/>
              <a:t>(</a:t>
            </a:r>
          </a:p>
          <a:p>
            <a:r>
              <a:rPr dirty="0"/>
              <a:t>    "What is a Large Language Model (LLM)?",</a:t>
            </a:r>
          </a:p>
          <a:p>
            <a:r>
              <a:rPr dirty="0"/>
              <a:t>    [</a:t>
            </a:r>
          </a:p>
          <a:p>
            <a:r>
              <a:rPr dirty="0"/>
              <a:t>        "Neural networks trained on large text corpora",</a:t>
            </a:r>
          </a:p>
          <a:p>
            <a:r>
              <a:rPr dirty="0"/>
              <a:t>        "Based on transformer architecture",</a:t>
            </a:r>
          </a:p>
          <a:p>
            <a:r>
              <a:rPr dirty="0"/>
              <a:t>        "Learn probability distributions over language",</a:t>
            </a:r>
          </a:p>
          <a:p>
            <a:r>
              <a:rPr dirty="0"/>
              <a:t>        "Non-deterministic outputs (same input ≠ same output)"</a:t>
            </a:r>
          </a:p>
          <a:p>
            <a:r>
              <a:rPr dirty="0"/>
              <a:t>    ]</a:t>
            </a:r>
          </a:p>
          <a:p>
            <a:r>
              <a:rPr dirty="0"/>
              <a:t>)</a:t>
            </a:r>
          </a:p>
          <a:p>
            <a:endParaRPr dirty="0"/>
          </a:p>
          <a:p>
            <a:r>
              <a:rPr dirty="0"/>
              <a:t># 3. Transformer basics</a:t>
            </a:r>
          </a:p>
          <a:p>
            <a:r>
              <a:rPr dirty="0" err="1"/>
              <a:t>add_slide</a:t>
            </a:r>
            <a:r>
              <a:rPr dirty="0"/>
              <a:t>(</a:t>
            </a:r>
          </a:p>
          <a:p>
            <a:r>
              <a:rPr dirty="0"/>
              <a:t>    "Transformer Architecture (High-Level)",</a:t>
            </a:r>
          </a:p>
          <a:p>
            <a:r>
              <a:rPr dirty="0"/>
              <a:t>    [</a:t>
            </a:r>
          </a:p>
          <a:p>
            <a:r>
              <a:rPr dirty="0"/>
              <a:t>        "Input tokens → embeddings",</a:t>
            </a:r>
          </a:p>
          <a:p>
            <a:r>
              <a:rPr dirty="0"/>
              <a:t>        "Multi-head self-attention layers",</a:t>
            </a:r>
          </a:p>
          <a:p>
            <a:r>
              <a:rPr dirty="0"/>
              <a:t>        "Feedforward layers",</a:t>
            </a:r>
          </a:p>
          <a:p>
            <a:r>
              <a:rPr dirty="0"/>
              <a:t>        "Stacked layers (depth)",</a:t>
            </a:r>
          </a:p>
          <a:p>
            <a:r>
              <a:rPr dirty="0"/>
              <a:t>        "Output probability distribution over tokens"</a:t>
            </a:r>
          </a:p>
          <a:p>
            <a:r>
              <a:rPr dirty="0"/>
              <a:t>    ]</a:t>
            </a:r>
          </a:p>
          <a:p>
            <a:r>
              <a:rPr dirty="0"/>
              <a:t>)</a:t>
            </a:r>
          </a:p>
          <a:p>
            <a:endParaRPr dirty="0"/>
          </a:p>
          <a:p>
            <a:r>
              <a:rPr dirty="0"/>
              <a:t># 4. Attention intuition</a:t>
            </a:r>
          </a:p>
          <a:p>
            <a:r>
              <a:rPr dirty="0" err="1"/>
              <a:t>add_slide</a:t>
            </a:r>
            <a:r>
              <a:rPr dirty="0"/>
              <a:t>(</a:t>
            </a:r>
          </a:p>
          <a:p>
            <a:r>
              <a:rPr dirty="0"/>
              <a:t>    "Self-Attention Mechanism",</a:t>
            </a:r>
          </a:p>
          <a:p>
            <a:r>
              <a:rPr dirty="0"/>
              <a:t>    [</a:t>
            </a:r>
          </a:p>
          <a:p>
            <a:r>
              <a:rPr dirty="0"/>
              <a:t>        "Model attends to all tokens simultaneously",</a:t>
            </a:r>
          </a:p>
          <a:p>
            <a:r>
              <a:rPr dirty="0"/>
              <a:t>        "Captures long-range dependencies",</a:t>
            </a:r>
          </a:p>
          <a:p>
            <a:r>
              <a:rPr dirty="0"/>
              <a:t>        "Weighted relationships between words",</a:t>
            </a:r>
          </a:p>
          <a:p>
            <a:r>
              <a:rPr dirty="0"/>
              <a:t>        "Key driver of LLM performance"</a:t>
            </a:r>
          </a:p>
          <a:p>
            <a:r>
              <a:rPr dirty="0"/>
              <a:t>    ]</a:t>
            </a:r>
          </a:p>
          <a:p>
            <a:r>
              <a:rPr dirty="0"/>
              <a:t>)</a:t>
            </a:r>
          </a:p>
          <a:p>
            <a:endParaRPr dirty="0"/>
          </a:p>
          <a:p>
            <a:r>
              <a:rPr dirty="0"/>
              <a:t># 5. Model architectures comparison</a:t>
            </a:r>
          </a:p>
          <a:p>
            <a:r>
              <a:rPr dirty="0" err="1"/>
              <a:t>add_slide</a:t>
            </a:r>
            <a:r>
              <a:rPr dirty="0"/>
              <a:t>(</a:t>
            </a:r>
          </a:p>
          <a:p>
            <a:r>
              <a:rPr dirty="0"/>
              <a:t>    "Modern LLM Architectures",</a:t>
            </a:r>
          </a:p>
          <a:p>
            <a:r>
              <a:rPr dirty="0"/>
              <a:t>    [</a:t>
            </a:r>
          </a:p>
          <a:p>
            <a:r>
              <a:rPr dirty="0"/>
              <a:t>        "Encoder (BERT): bidirectional context understanding",</a:t>
            </a:r>
          </a:p>
          <a:p>
            <a:r>
              <a:rPr dirty="0"/>
              <a:t>        "Encoder-decoder (BART/T5): input → output transformation",</a:t>
            </a:r>
          </a:p>
          <a:p>
            <a:r>
              <a:rPr dirty="0"/>
              <a:t>        "Decoder-only (GPT, Claude): autoregressive generation",</a:t>
            </a:r>
          </a:p>
          <a:p>
            <a:r>
              <a:rPr dirty="0"/>
              <a:t>        "Tradeoff: understanding vs generation"</a:t>
            </a:r>
          </a:p>
          <a:p>
            <a:r>
              <a:rPr dirty="0"/>
              <a:t>    ]</a:t>
            </a:r>
          </a:p>
          <a:p>
            <a:r>
              <a:rPr dirty="0"/>
              <a:t>)</a:t>
            </a:r>
          </a:p>
          <a:p>
            <a:endParaRPr dirty="0"/>
          </a:p>
          <a:p>
            <a:r>
              <a:rPr dirty="0"/>
              <a:t># 6. Claude Sonnet 4 &amp; OpenAI GPT-5.2</a:t>
            </a:r>
          </a:p>
          <a:p>
            <a:r>
              <a:rPr dirty="0" err="1"/>
              <a:t>add_slide</a:t>
            </a:r>
            <a:r>
              <a:rPr dirty="0"/>
              <a:t>(</a:t>
            </a:r>
          </a:p>
          <a:p>
            <a:r>
              <a:rPr dirty="0"/>
              <a:t>    "Production LLMs Used",</a:t>
            </a:r>
          </a:p>
          <a:p>
            <a:r>
              <a:rPr dirty="0"/>
              <a:t>    [</a:t>
            </a:r>
          </a:p>
          <a:p>
            <a:r>
              <a:rPr dirty="0"/>
              <a:t>        "Claude Sonnet 4: strong reasoning, low hallucination",</a:t>
            </a:r>
          </a:p>
          <a:p>
            <a:r>
              <a:rPr dirty="0"/>
              <a:t>        "OpenAI GPT-5.2: structured outputs, high controllability",</a:t>
            </a:r>
          </a:p>
          <a:p>
            <a:r>
              <a:rPr dirty="0"/>
              <a:t>        "Both support long context + JSON extraction",</a:t>
            </a:r>
          </a:p>
          <a:p>
            <a:r>
              <a:rPr dirty="0"/>
              <a:t>        "Behavior shaped heavily by prompt design"</a:t>
            </a:r>
          </a:p>
          <a:p>
            <a:r>
              <a:rPr dirty="0"/>
              <a:t>    ]</a:t>
            </a:r>
          </a:p>
          <a:p>
            <a:r>
              <a:rPr dirty="0"/>
              <a:t>)</a:t>
            </a:r>
          </a:p>
          <a:p>
            <a:endParaRPr dirty="0"/>
          </a:p>
          <a:p>
            <a:r>
              <a:rPr dirty="0"/>
              <a:t># 7. Why prompt engineering matters</a:t>
            </a:r>
          </a:p>
          <a:p>
            <a:r>
              <a:rPr dirty="0" err="1"/>
              <a:t>add_slide</a:t>
            </a:r>
            <a:r>
              <a:rPr dirty="0"/>
              <a:t>(</a:t>
            </a:r>
          </a:p>
          <a:p>
            <a:r>
              <a:rPr dirty="0"/>
              <a:t>    "Why Prompt Engineering?",</a:t>
            </a:r>
          </a:p>
          <a:p>
            <a:r>
              <a:rPr dirty="0"/>
              <a:t>    [</a:t>
            </a:r>
          </a:p>
          <a:p>
            <a:r>
              <a:rPr dirty="0"/>
              <a:t>        "LLMs are non-deterministic",</a:t>
            </a:r>
          </a:p>
          <a:p>
            <a:r>
              <a:rPr dirty="0"/>
              <a:t>        "Outputs depend on instruction clarity",</a:t>
            </a:r>
          </a:p>
          <a:p>
            <a:r>
              <a:rPr dirty="0"/>
              <a:t>        "Poor prompts → hallucination + inconsistency",</a:t>
            </a:r>
          </a:p>
          <a:p>
            <a:r>
              <a:rPr dirty="0"/>
              <a:t>        "Goal: maximize accuracy, minimize fabrication"</a:t>
            </a:r>
          </a:p>
          <a:p>
            <a:r>
              <a:rPr dirty="0"/>
              <a:t>    ]</a:t>
            </a:r>
          </a:p>
          <a:p>
            <a:r>
              <a:rPr dirty="0"/>
              <a:t>)</a:t>
            </a:r>
          </a:p>
          <a:p>
            <a:endParaRPr dirty="0"/>
          </a:p>
          <a:p>
            <a:r>
              <a:rPr dirty="0"/>
              <a:t># 8. Prompt engineering definition</a:t>
            </a:r>
          </a:p>
          <a:p>
            <a:r>
              <a:rPr dirty="0" err="1"/>
              <a:t>add_slide</a:t>
            </a:r>
            <a:r>
              <a:rPr dirty="0"/>
              <a:t>(</a:t>
            </a:r>
          </a:p>
          <a:p>
            <a:r>
              <a:rPr dirty="0"/>
              <a:t>    "Prompt Engineering",</a:t>
            </a:r>
          </a:p>
          <a:p>
            <a:r>
              <a:rPr dirty="0"/>
              <a:t>    [</a:t>
            </a:r>
          </a:p>
          <a:p>
            <a:r>
              <a:rPr dirty="0"/>
              <a:t>        "Designing instructions to control model behavior",</a:t>
            </a:r>
          </a:p>
          <a:p>
            <a:r>
              <a:rPr dirty="0"/>
              <a:t>        "Uses roles, constraints, examples, formatting",</a:t>
            </a:r>
          </a:p>
          <a:p>
            <a:r>
              <a:rPr dirty="0"/>
              <a:t>        "Critical for clinical safety applications",</a:t>
            </a:r>
          </a:p>
          <a:p>
            <a:r>
              <a:rPr dirty="0"/>
              <a:t>        "Enables structured extraction without retraining"</a:t>
            </a:r>
          </a:p>
          <a:p>
            <a:r>
              <a:rPr dirty="0"/>
              <a:t>    ]</a:t>
            </a:r>
          </a:p>
          <a:p>
            <a:r>
              <a:rPr dirty="0"/>
              <a:t>)</a:t>
            </a:r>
          </a:p>
          <a:p>
            <a:endParaRPr dirty="0"/>
          </a:p>
          <a:p>
            <a:r>
              <a:rPr dirty="0"/>
              <a:t># 9. Automated prompt engineering</a:t>
            </a:r>
          </a:p>
          <a:p>
            <a:r>
              <a:rPr dirty="0" err="1"/>
              <a:t>add_slide</a:t>
            </a:r>
            <a:r>
              <a:rPr dirty="0"/>
              <a:t>(</a:t>
            </a:r>
          </a:p>
          <a:p>
            <a:r>
              <a:rPr dirty="0"/>
              <a:t>    "Automated Prompt Engineering",</a:t>
            </a:r>
          </a:p>
          <a:p>
            <a:r>
              <a:rPr dirty="0"/>
              <a:t>    [</a:t>
            </a:r>
          </a:p>
          <a:p>
            <a:r>
              <a:rPr dirty="0"/>
              <a:t>        "Systematic testing of prompt variants",</a:t>
            </a:r>
          </a:p>
          <a:p>
            <a:r>
              <a:rPr dirty="0"/>
              <a:t>        "Evaluate performance across multiple runs",</a:t>
            </a:r>
          </a:p>
          <a:p>
            <a:r>
              <a:rPr dirty="0"/>
              <a:t>        "Optimize prompts based on metrics",</a:t>
            </a:r>
          </a:p>
          <a:p>
            <a:r>
              <a:rPr dirty="0"/>
              <a:t>        "Treat prompts as version-controlled artifacts"</a:t>
            </a:r>
          </a:p>
          <a:p>
            <a:r>
              <a:rPr dirty="0"/>
              <a:t>    ]</a:t>
            </a:r>
          </a:p>
          <a:p>
            <a:r>
              <a:rPr dirty="0"/>
              <a:t>)</a:t>
            </a:r>
          </a:p>
          <a:p>
            <a:endParaRPr dirty="0"/>
          </a:p>
          <a:p>
            <a:r>
              <a:rPr dirty="0"/>
              <a:t># 10. Project overview</a:t>
            </a:r>
          </a:p>
          <a:p>
            <a:r>
              <a:rPr dirty="0" err="1"/>
              <a:t>add_slide</a:t>
            </a:r>
            <a:r>
              <a:rPr dirty="0"/>
              <a:t>(</a:t>
            </a:r>
          </a:p>
          <a:p>
            <a:r>
              <a:rPr dirty="0"/>
              <a:t>    "Project Overview",</a:t>
            </a:r>
          </a:p>
          <a:p>
            <a:r>
              <a:rPr dirty="0"/>
              <a:t>    [</a:t>
            </a:r>
          </a:p>
          <a:p>
            <a:r>
              <a:rPr dirty="0"/>
              <a:t>        "Input: breast cancer radiology + pathology PDFs",</a:t>
            </a:r>
          </a:p>
          <a:p>
            <a:r>
              <a:rPr dirty="0"/>
              <a:t>        "Task: extract 14 structured clinical features",</a:t>
            </a:r>
          </a:p>
          <a:p>
            <a:r>
              <a:rPr dirty="0"/>
              <a:t>        "Compare LLM vs human annotations",</a:t>
            </a:r>
          </a:p>
          <a:p>
            <a:r>
              <a:rPr dirty="0"/>
              <a:t>        "Evaluate accuracy, omission, fabrication"</a:t>
            </a:r>
          </a:p>
          <a:p>
            <a:r>
              <a:rPr dirty="0"/>
              <a:t>    ]</a:t>
            </a:r>
          </a:p>
          <a:p>
            <a:r>
              <a:rPr dirty="0"/>
              <a:t>)</a:t>
            </a:r>
          </a:p>
          <a:p>
            <a:endParaRPr dirty="0"/>
          </a:p>
          <a:p>
            <a:r>
              <a:rPr dirty="0"/>
              <a:t># 11. Key metric definitions</a:t>
            </a:r>
          </a:p>
          <a:p>
            <a:r>
              <a:rPr dirty="0" err="1"/>
              <a:t>add_slide</a:t>
            </a:r>
            <a:r>
              <a:rPr dirty="0"/>
              <a:t>(</a:t>
            </a:r>
          </a:p>
          <a:p>
            <a:r>
              <a:rPr dirty="0"/>
              <a:t>    "Evaluation Metrics",</a:t>
            </a:r>
          </a:p>
          <a:p>
            <a:r>
              <a:rPr dirty="0"/>
              <a:t>    [</a:t>
            </a:r>
          </a:p>
          <a:p>
            <a:r>
              <a:rPr dirty="0"/>
              <a:t>        "TP: correct extraction",</a:t>
            </a:r>
          </a:p>
          <a:p>
            <a:r>
              <a:rPr dirty="0"/>
              <a:t>        "FN: omission",</a:t>
            </a:r>
          </a:p>
          <a:p>
            <a:r>
              <a:rPr dirty="0"/>
              <a:t>        "FP: fabrication",</a:t>
            </a:r>
          </a:p>
          <a:p>
            <a:r>
              <a:rPr dirty="0"/>
              <a:t>        "TN: correct absence",</a:t>
            </a:r>
          </a:p>
          <a:p>
            <a:r>
              <a:rPr dirty="0"/>
              <a:t>        "Primary outcome: fabrication rate = FP / (FP + TN)"</a:t>
            </a:r>
          </a:p>
          <a:p>
            <a:r>
              <a:rPr dirty="0"/>
              <a:t>    ]</a:t>
            </a:r>
          </a:p>
          <a:p>
            <a:r>
              <a:rPr dirty="0"/>
              <a:t>)</a:t>
            </a:r>
          </a:p>
          <a:p>
            <a:endParaRPr dirty="0"/>
          </a:p>
          <a:p>
            <a:r>
              <a:rPr dirty="0"/>
              <a:t># 12. Prompt versions</a:t>
            </a:r>
          </a:p>
          <a:p>
            <a:r>
              <a:rPr dirty="0" err="1"/>
              <a:t>add_slide</a:t>
            </a:r>
            <a:r>
              <a:rPr dirty="0"/>
              <a:t>(</a:t>
            </a:r>
          </a:p>
          <a:p>
            <a:r>
              <a:rPr dirty="0"/>
              <a:t>    "Prompt Versions",</a:t>
            </a:r>
          </a:p>
          <a:p>
            <a:r>
              <a:rPr dirty="0"/>
              <a:t>    [</a:t>
            </a:r>
          </a:p>
          <a:p>
            <a:r>
              <a:rPr dirty="0"/>
              <a:t>        "Prompt V1: zero-shot extraction",</a:t>
            </a:r>
          </a:p>
          <a:p>
            <a:r>
              <a:rPr dirty="0"/>
              <a:t>        "Prompt V2: structured developer prompt",</a:t>
            </a:r>
          </a:p>
          <a:p>
            <a:r>
              <a:rPr dirty="0"/>
              <a:t>        "Strict anti-fabrication rules",</a:t>
            </a:r>
          </a:p>
          <a:p>
            <a:r>
              <a:rPr dirty="0"/>
              <a:t>        "JSON output enforcement"</a:t>
            </a:r>
          </a:p>
          <a:p>
            <a:r>
              <a:rPr dirty="0"/>
              <a:t>    ]</a:t>
            </a:r>
          </a:p>
          <a:p>
            <a:r>
              <a:rPr dirty="0"/>
              <a:t>)</a:t>
            </a:r>
          </a:p>
          <a:p>
            <a:endParaRPr dirty="0"/>
          </a:p>
          <a:p>
            <a:r>
              <a:rPr dirty="0"/>
              <a:t># 13. Developer prompt principles</a:t>
            </a:r>
          </a:p>
          <a:p>
            <a:r>
              <a:rPr dirty="0" err="1"/>
              <a:t>add_slide</a:t>
            </a:r>
            <a:r>
              <a:rPr dirty="0"/>
              <a:t>(</a:t>
            </a:r>
          </a:p>
          <a:p>
            <a:r>
              <a:rPr dirty="0"/>
              <a:t>    "Structured Developer Prompt (V2)",</a:t>
            </a:r>
          </a:p>
          <a:p>
            <a:r>
              <a:rPr dirty="0"/>
              <a:t>    [</a:t>
            </a:r>
          </a:p>
          <a:p>
            <a:r>
              <a:rPr dirty="0"/>
              <a:t>        "Hard constraints: no inference allowed",</a:t>
            </a:r>
          </a:p>
          <a:p>
            <a:r>
              <a:rPr dirty="0"/>
              <a:t>        "Return 'Not reported' if missing",</a:t>
            </a:r>
          </a:p>
          <a:p>
            <a:r>
              <a:rPr dirty="0"/>
              <a:t>        "Return 'Indeterminate' if conflicting",</a:t>
            </a:r>
          </a:p>
          <a:p>
            <a:r>
              <a:rPr dirty="0"/>
              <a:t>        "Evidence-based extraction required"</a:t>
            </a:r>
          </a:p>
          <a:p>
            <a:r>
              <a:rPr dirty="0"/>
              <a:t>    ]</a:t>
            </a:r>
          </a:p>
          <a:p>
            <a:r>
              <a:rPr dirty="0"/>
              <a:t>)</a:t>
            </a:r>
          </a:p>
          <a:p>
            <a:endParaRPr dirty="0"/>
          </a:p>
          <a:p>
            <a:r>
              <a:rPr dirty="0"/>
              <a:t># 14. Prompt structure</a:t>
            </a:r>
          </a:p>
          <a:p>
            <a:r>
              <a:rPr dirty="0" err="1"/>
              <a:t>add_slide</a:t>
            </a:r>
            <a:r>
              <a:rPr dirty="0"/>
              <a:t>(</a:t>
            </a:r>
          </a:p>
          <a:p>
            <a:r>
              <a:rPr dirty="0"/>
              <a:t>    "Prompt Structure",</a:t>
            </a:r>
          </a:p>
          <a:p>
            <a:r>
              <a:rPr dirty="0"/>
              <a:t>    [</a:t>
            </a:r>
          </a:p>
          <a:p>
            <a:r>
              <a:rPr dirty="0"/>
              <a:t>        "System / developer message defines rules",</a:t>
            </a:r>
          </a:p>
          <a:p>
            <a:r>
              <a:rPr dirty="0"/>
              <a:t>        "User message provides document",</a:t>
            </a:r>
          </a:p>
          <a:p>
            <a:r>
              <a:rPr dirty="0"/>
              <a:t>        "Assistant outputs structured JSON",</a:t>
            </a:r>
          </a:p>
          <a:p>
            <a:r>
              <a:rPr dirty="0"/>
              <a:t>        "Separation of instructions and data"</a:t>
            </a:r>
          </a:p>
          <a:p>
            <a:r>
              <a:rPr dirty="0"/>
              <a:t>    ]</a:t>
            </a:r>
          </a:p>
          <a:p>
            <a:r>
              <a:rPr dirty="0"/>
              <a:t>)</a:t>
            </a:r>
          </a:p>
          <a:p>
            <a:endParaRPr dirty="0"/>
          </a:p>
          <a:p>
            <a:r>
              <a:rPr dirty="0"/>
              <a:t># 15. Prompting techniques</a:t>
            </a:r>
          </a:p>
          <a:p>
            <a:r>
              <a:rPr dirty="0" err="1"/>
              <a:t>add_slide</a:t>
            </a:r>
            <a:r>
              <a:rPr dirty="0"/>
              <a:t>(</a:t>
            </a:r>
          </a:p>
          <a:p>
            <a:r>
              <a:rPr dirty="0"/>
              <a:t>    "Prompting Techniques Evaluated",</a:t>
            </a:r>
          </a:p>
          <a:p>
            <a:r>
              <a:rPr dirty="0"/>
              <a:t>    [</a:t>
            </a:r>
          </a:p>
          <a:p>
            <a:r>
              <a:rPr dirty="0"/>
              <a:t>        "Zero-shot",</a:t>
            </a:r>
          </a:p>
          <a:p>
            <a:r>
              <a:rPr dirty="0"/>
              <a:t>        "Chain-of-thought",</a:t>
            </a:r>
          </a:p>
          <a:p>
            <a:r>
              <a:rPr dirty="0"/>
              <a:t>        "Few-shot",</a:t>
            </a:r>
          </a:p>
          <a:p>
            <a:r>
              <a:rPr dirty="0"/>
              <a:t>        "RAG (retrieval augmented generation)",</a:t>
            </a:r>
          </a:p>
          <a:p>
            <a:r>
              <a:rPr dirty="0"/>
              <a:t>        "Program-aided prompting",</a:t>
            </a:r>
          </a:p>
          <a:p>
            <a:r>
              <a:rPr dirty="0"/>
              <a:t>        "</a:t>
            </a:r>
            <a:r>
              <a:rPr dirty="0" err="1"/>
              <a:t>ReAct</a:t>
            </a:r>
            <a:r>
              <a:rPr dirty="0"/>
              <a:t> / BFOP"</a:t>
            </a:r>
          </a:p>
          <a:p>
            <a:r>
              <a:rPr dirty="0"/>
              <a:t>    ]</a:t>
            </a:r>
          </a:p>
          <a:p>
            <a:r>
              <a:rPr dirty="0"/>
              <a:t>)</a:t>
            </a:r>
          </a:p>
          <a:p>
            <a:endParaRPr dirty="0"/>
          </a:p>
          <a:p>
            <a:r>
              <a:rPr dirty="0"/>
              <a:t># 16. Why prompting over fine-tuning</a:t>
            </a:r>
          </a:p>
          <a:p>
            <a:r>
              <a:rPr dirty="0" err="1"/>
              <a:t>add_slide</a:t>
            </a:r>
            <a:r>
              <a:rPr dirty="0"/>
              <a:t>(</a:t>
            </a:r>
          </a:p>
          <a:p>
            <a:r>
              <a:rPr dirty="0"/>
              <a:t>    "Prompting vs Fine-Tuning",</a:t>
            </a:r>
          </a:p>
          <a:p>
            <a:r>
              <a:rPr dirty="0"/>
              <a:t>    [</a:t>
            </a:r>
          </a:p>
          <a:p>
            <a:r>
              <a:rPr dirty="0"/>
              <a:t>        "No need for large labeled datasets",</a:t>
            </a:r>
          </a:p>
          <a:p>
            <a:r>
              <a:rPr dirty="0"/>
              <a:t>        "Faster iteration cycle",</a:t>
            </a:r>
          </a:p>
          <a:p>
            <a:r>
              <a:rPr dirty="0"/>
              <a:t>        "Lower cost",</a:t>
            </a:r>
          </a:p>
          <a:p>
            <a:r>
              <a:rPr dirty="0"/>
              <a:t>        "More interpretable and controllable",</a:t>
            </a:r>
          </a:p>
          <a:p>
            <a:r>
              <a:rPr dirty="0"/>
              <a:t>        "Easier safety constraints"</a:t>
            </a:r>
          </a:p>
          <a:p>
            <a:r>
              <a:rPr dirty="0"/>
              <a:t>    ]</a:t>
            </a:r>
          </a:p>
          <a:p>
            <a:r>
              <a:rPr dirty="0"/>
              <a:t>)</a:t>
            </a:r>
          </a:p>
          <a:p>
            <a:endParaRPr dirty="0"/>
          </a:p>
          <a:p>
            <a:r>
              <a:rPr dirty="0"/>
              <a:t># 17. Meta prompting</a:t>
            </a:r>
          </a:p>
          <a:p>
            <a:r>
              <a:rPr dirty="0" err="1"/>
              <a:t>add_slide</a:t>
            </a:r>
            <a:r>
              <a:rPr dirty="0"/>
              <a:t>(</a:t>
            </a:r>
          </a:p>
          <a:p>
            <a:r>
              <a:rPr dirty="0"/>
              <a:t>    "Meta Prompting",</a:t>
            </a:r>
          </a:p>
          <a:p>
            <a:r>
              <a:rPr dirty="0"/>
              <a:t>    [</a:t>
            </a:r>
          </a:p>
          <a:p>
            <a:r>
              <a:rPr dirty="0"/>
              <a:t>        "Prompts that define how prompts should behave",</a:t>
            </a:r>
          </a:p>
          <a:p>
            <a:r>
              <a:rPr dirty="0"/>
              <a:t>        "Controls reasoning, format, and validation",</a:t>
            </a:r>
          </a:p>
          <a:p>
            <a:r>
              <a:rPr dirty="0"/>
              <a:t>        "Used to enforce consistency",</a:t>
            </a:r>
          </a:p>
          <a:p>
            <a:r>
              <a:rPr dirty="0"/>
              <a:t>        "Critical for production systems"</a:t>
            </a:r>
          </a:p>
          <a:p>
            <a:r>
              <a:rPr dirty="0"/>
              <a:t>    ]</a:t>
            </a:r>
          </a:p>
          <a:p>
            <a:r>
              <a:rPr dirty="0"/>
              <a:t>)</a:t>
            </a:r>
          </a:p>
          <a:p>
            <a:endParaRPr dirty="0"/>
          </a:p>
          <a:p>
            <a:r>
              <a:rPr dirty="0"/>
              <a:t># 18. RAG introduction</a:t>
            </a:r>
          </a:p>
          <a:p>
            <a:r>
              <a:rPr dirty="0" err="1"/>
              <a:t>add_slide</a:t>
            </a:r>
            <a:r>
              <a:rPr dirty="0"/>
              <a:t>(</a:t>
            </a:r>
          </a:p>
          <a:p>
            <a:r>
              <a:rPr dirty="0"/>
              <a:t>    "Retrieval-Augmented Generation (RAG)",</a:t>
            </a:r>
          </a:p>
          <a:p>
            <a:r>
              <a:rPr dirty="0"/>
              <a:t>    [</a:t>
            </a:r>
          </a:p>
          <a:p>
            <a:r>
              <a:rPr dirty="0"/>
              <a:t>        "LLM restricted to retrieved document chunks",</a:t>
            </a:r>
          </a:p>
          <a:p>
            <a:r>
              <a:rPr dirty="0"/>
              <a:t>        "Reduces hallucination",</a:t>
            </a:r>
          </a:p>
          <a:p>
            <a:r>
              <a:rPr dirty="0"/>
              <a:t>        "Improves factual grounding",</a:t>
            </a:r>
          </a:p>
          <a:p>
            <a:r>
              <a:rPr dirty="0"/>
              <a:t>        "Core component of pipeline"</a:t>
            </a:r>
          </a:p>
          <a:p>
            <a:r>
              <a:rPr dirty="0"/>
              <a:t>    ]</a:t>
            </a:r>
          </a:p>
          <a:p>
            <a:r>
              <a:rPr dirty="0"/>
              <a:t>)</a:t>
            </a:r>
          </a:p>
          <a:p>
            <a:endParaRPr dirty="0"/>
          </a:p>
          <a:p>
            <a:r>
              <a:rPr dirty="0"/>
              <a:t># 19. </a:t>
            </a:r>
            <a:r>
              <a:rPr dirty="0" err="1"/>
              <a:t>LangGraph</a:t>
            </a:r>
            <a:r>
              <a:rPr dirty="0"/>
              <a:t> pipeline</a:t>
            </a:r>
          </a:p>
          <a:p>
            <a:r>
              <a:rPr dirty="0" err="1"/>
              <a:t>add_slide</a:t>
            </a:r>
            <a:r>
              <a:rPr dirty="0"/>
              <a:t>(</a:t>
            </a:r>
          </a:p>
          <a:p>
            <a:r>
              <a:rPr dirty="0"/>
              <a:t>    "</a:t>
            </a:r>
            <a:r>
              <a:rPr dirty="0" err="1"/>
              <a:t>LangGraph</a:t>
            </a:r>
            <a:r>
              <a:rPr dirty="0"/>
              <a:t> Agentic Pipeline",</a:t>
            </a:r>
          </a:p>
          <a:p>
            <a:r>
              <a:rPr dirty="0"/>
              <a:t>    [</a:t>
            </a:r>
          </a:p>
          <a:p>
            <a:r>
              <a:rPr dirty="0"/>
              <a:t>        "Query generation",</a:t>
            </a:r>
          </a:p>
          <a:p>
            <a:r>
              <a:rPr dirty="0"/>
              <a:t>        "Evidence retrieval",</a:t>
            </a:r>
          </a:p>
          <a:p>
            <a:r>
              <a:rPr dirty="0"/>
              <a:t>        "Evidence grading",</a:t>
            </a:r>
          </a:p>
          <a:p>
            <a:r>
              <a:rPr dirty="0"/>
              <a:t>        "Validation decision",</a:t>
            </a:r>
          </a:p>
          <a:p>
            <a:r>
              <a:rPr dirty="0"/>
              <a:t>        "Iterative query refinement"</a:t>
            </a:r>
          </a:p>
          <a:p>
            <a:r>
              <a:rPr dirty="0"/>
              <a:t>    ]</a:t>
            </a:r>
          </a:p>
          <a:p>
            <a:r>
              <a:rPr dirty="0"/>
              <a:t>)</a:t>
            </a:r>
          </a:p>
          <a:p>
            <a:endParaRPr dirty="0"/>
          </a:p>
          <a:p>
            <a:r>
              <a:rPr dirty="0"/>
              <a:t># 20. Knowledge graph</a:t>
            </a:r>
          </a:p>
          <a:p>
            <a:r>
              <a:rPr dirty="0" err="1"/>
              <a:t>add_slide</a:t>
            </a:r>
            <a:r>
              <a:rPr dirty="0"/>
              <a:t>(</a:t>
            </a:r>
          </a:p>
          <a:p>
            <a:r>
              <a:rPr dirty="0"/>
              <a:t>    "Knowledge Graph Layer",</a:t>
            </a:r>
          </a:p>
          <a:p>
            <a:r>
              <a:rPr dirty="0"/>
              <a:t>    [</a:t>
            </a:r>
          </a:p>
          <a:p>
            <a:r>
              <a:rPr dirty="0"/>
              <a:t>        "Nodes: patient, features, observations, evidence",</a:t>
            </a:r>
          </a:p>
          <a:p>
            <a:r>
              <a:rPr dirty="0"/>
              <a:t>        "Edges connect evidence to extracted features",</a:t>
            </a:r>
          </a:p>
          <a:p>
            <a:r>
              <a:rPr dirty="0"/>
              <a:t>        "Used for validation and hallucination detection",</a:t>
            </a:r>
          </a:p>
          <a:p>
            <a:r>
              <a:rPr dirty="0"/>
              <a:t>        "Supports agentic reasoning"</a:t>
            </a:r>
          </a:p>
          <a:p>
            <a:r>
              <a:rPr dirty="0"/>
              <a:t>    ]</a:t>
            </a:r>
          </a:p>
          <a:p>
            <a:r>
              <a:rPr dirty="0"/>
              <a:t>)</a:t>
            </a:r>
          </a:p>
          <a:p>
            <a:endParaRPr dirty="0"/>
          </a:p>
          <a:p>
            <a:r>
              <a:rPr dirty="0"/>
              <a:t># 21. Fabrication detection</a:t>
            </a:r>
          </a:p>
          <a:p>
            <a:r>
              <a:rPr dirty="0" err="1"/>
              <a:t>add_slide</a:t>
            </a:r>
            <a:r>
              <a:rPr dirty="0"/>
              <a:t>(</a:t>
            </a:r>
          </a:p>
          <a:p>
            <a:r>
              <a:rPr dirty="0"/>
              <a:t>    "Fabrication Detection",</a:t>
            </a:r>
          </a:p>
          <a:p>
            <a:r>
              <a:rPr dirty="0"/>
              <a:t>    [</a:t>
            </a:r>
          </a:p>
          <a:p>
            <a:r>
              <a:rPr dirty="0"/>
              <a:t>        "Compare LLM output vs source evidence",</a:t>
            </a:r>
          </a:p>
          <a:p>
            <a:r>
              <a:rPr dirty="0"/>
              <a:t>        "Flag unsupported claims",</a:t>
            </a:r>
          </a:p>
          <a:p>
            <a:r>
              <a:rPr dirty="0"/>
              <a:t>        "Classify: correct, fabrication, omission, uncertain",</a:t>
            </a:r>
          </a:p>
          <a:p>
            <a:r>
              <a:rPr dirty="0"/>
              <a:t>        "Generate corrected outputs"</a:t>
            </a:r>
          </a:p>
          <a:p>
            <a:r>
              <a:rPr dirty="0"/>
              <a:t>    ]</a:t>
            </a:r>
          </a:p>
          <a:p>
            <a:r>
              <a:rPr dirty="0"/>
              <a:t>)</a:t>
            </a:r>
          </a:p>
          <a:p>
            <a:endParaRPr dirty="0"/>
          </a:p>
          <a:p>
            <a:r>
              <a:rPr dirty="0"/>
              <a:t># 22. Self-consistency metric (image slide)</a:t>
            </a:r>
          </a:p>
          <a:p>
            <a:r>
              <a:rPr dirty="0" err="1"/>
              <a:t>slide_layout</a:t>
            </a:r>
            <a:r>
              <a:rPr dirty="0"/>
              <a:t> = </a:t>
            </a:r>
            <a:r>
              <a:rPr dirty="0" err="1"/>
              <a:t>prs.slide_layouts</a:t>
            </a:r>
            <a:r>
              <a:rPr dirty="0"/>
              <a:t>[5]</a:t>
            </a:r>
          </a:p>
          <a:p>
            <a:r>
              <a:rPr dirty="0"/>
              <a:t>slide = </a:t>
            </a:r>
            <a:r>
              <a:rPr dirty="0" err="1"/>
              <a:t>prs.slides.add_slide</a:t>
            </a:r>
            <a:r>
              <a:rPr dirty="0"/>
              <a:t>(</a:t>
            </a:r>
            <a:r>
              <a:rPr dirty="0" err="1"/>
              <a:t>slide_layout</a:t>
            </a:r>
            <a:r>
              <a:rPr dirty="0"/>
              <a:t>)</a:t>
            </a:r>
          </a:p>
          <a:p>
            <a:r>
              <a:rPr dirty="0" err="1"/>
              <a:t>slide.shapes.title.text</a:t>
            </a:r>
            <a:r>
              <a:rPr dirty="0"/>
              <a:t> = "Self-Consistency &amp; Reproducibility"</a:t>
            </a:r>
          </a:p>
          <a:p>
            <a:endParaRPr dirty="0"/>
          </a:p>
          <a:p>
            <a:r>
              <a:rPr dirty="0" err="1"/>
              <a:t>img_path</a:t>
            </a:r>
            <a:r>
              <a:rPr dirty="0"/>
              <a:t> = "/</a:t>
            </a:r>
            <a:r>
              <a:rPr dirty="0" err="1"/>
              <a:t>mnt</a:t>
            </a:r>
            <a:r>
              <a:rPr dirty="0"/>
              <a:t>/data/51ce234e-ae92-4f08-9e2d-9a1f7d769c22.png"</a:t>
            </a:r>
          </a:p>
          <a:p>
            <a:r>
              <a:rPr dirty="0" err="1"/>
              <a:t>slide.shapes.add_picture</a:t>
            </a:r>
            <a:r>
              <a:rPr dirty="0"/>
              <a:t>(</a:t>
            </a:r>
            <a:r>
              <a:rPr dirty="0" err="1"/>
              <a:t>img_path</a:t>
            </a:r>
            <a:r>
              <a:rPr dirty="0"/>
              <a:t>, Inches(1), Inches(1.5), width=Inches(6))</a:t>
            </a:r>
          </a:p>
          <a:p>
            <a:endParaRPr dirty="0"/>
          </a:p>
          <a:p>
            <a:r>
              <a:rPr dirty="0"/>
              <a:t># 23. Explanation slide</a:t>
            </a:r>
          </a:p>
          <a:p>
            <a:r>
              <a:rPr dirty="0" err="1"/>
              <a:t>add_slide</a:t>
            </a:r>
            <a:r>
              <a:rPr dirty="0"/>
              <a:t>(</a:t>
            </a:r>
          </a:p>
          <a:p>
            <a:r>
              <a:rPr dirty="0"/>
              <a:t>    "Why Self-Consistency?",</a:t>
            </a:r>
          </a:p>
          <a:p>
            <a:r>
              <a:rPr dirty="0"/>
              <a:t>    [</a:t>
            </a:r>
          </a:p>
          <a:p>
            <a:r>
              <a:rPr dirty="0"/>
              <a:t>        "LLM outputs vary across runs",</a:t>
            </a:r>
          </a:p>
          <a:p>
            <a:r>
              <a:rPr dirty="0"/>
              <a:t>        "Multiple iterations needed for reliability",</a:t>
            </a:r>
          </a:p>
          <a:p>
            <a:r>
              <a:rPr dirty="0"/>
              <a:t>        "≥5 runs per case improves stability",</a:t>
            </a:r>
          </a:p>
          <a:p>
            <a:r>
              <a:rPr dirty="0"/>
              <a:t>        "Measure agreement across outputs"</a:t>
            </a:r>
          </a:p>
          <a:p>
            <a:r>
              <a:rPr dirty="0"/>
              <a:t>    ]</a:t>
            </a:r>
          </a:p>
          <a:p>
            <a:r>
              <a:rPr dirty="0"/>
              <a:t>)</a:t>
            </a:r>
          </a:p>
          <a:p>
            <a:endParaRPr dirty="0"/>
          </a:p>
          <a:p>
            <a:r>
              <a:rPr dirty="0"/>
              <a:t># 24. HCAT safety metrics</a:t>
            </a:r>
          </a:p>
          <a:p>
            <a:r>
              <a:rPr dirty="0" err="1"/>
              <a:t>add_slide</a:t>
            </a:r>
            <a:r>
              <a:rPr dirty="0"/>
              <a:t>(</a:t>
            </a:r>
          </a:p>
          <a:p>
            <a:r>
              <a:rPr dirty="0"/>
              <a:t>    "HCAT Safety Metrics",</a:t>
            </a:r>
          </a:p>
          <a:p>
            <a:r>
              <a:rPr dirty="0"/>
              <a:t>    [</a:t>
            </a:r>
          </a:p>
          <a:p>
            <a:r>
              <a:rPr dirty="0"/>
              <a:t>        "Measure residual PHI risk after deidentification",</a:t>
            </a:r>
          </a:p>
          <a:p>
            <a:r>
              <a:rPr dirty="0"/>
              <a:t>        "PHI recall, precision, F1",</a:t>
            </a:r>
          </a:p>
          <a:p>
            <a:r>
              <a:rPr dirty="0"/>
              <a:t>        "False negative rate (critical safety metric)",</a:t>
            </a:r>
          </a:p>
          <a:p>
            <a:r>
              <a:rPr dirty="0"/>
              <a:t>        "Residual PHI risk score"</a:t>
            </a:r>
          </a:p>
          <a:p>
            <a:r>
              <a:rPr dirty="0"/>
              <a:t>    ]</a:t>
            </a:r>
          </a:p>
          <a:p>
            <a:r>
              <a:rPr dirty="0"/>
              <a:t>)</a:t>
            </a:r>
          </a:p>
          <a:p>
            <a:endParaRPr dirty="0"/>
          </a:p>
          <a:p>
            <a:r>
              <a:rPr dirty="0"/>
              <a:t># 25. Safety importance</a:t>
            </a:r>
          </a:p>
          <a:p>
            <a:r>
              <a:rPr dirty="0" err="1"/>
              <a:t>add_slide</a:t>
            </a:r>
            <a:r>
              <a:rPr dirty="0"/>
              <a:t>(</a:t>
            </a:r>
          </a:p>
          <a:p>
            <a:r>
              <a:rPr dirty="0"/>
              <a:t>    "Why Safety Matters",</a:t>
            </a:r>
          </a:p>
          <a:p>
            <a:r>
              <a:rPr dirty="0"/>
              <a:t>    [</a:t>
            </a:r>
          </a:p>
          <a:p>
            <a:r>
              <a:rPr dirty="0"/>
              <a:t>        "Clinical data must remain de-identified",</a:t>
            </a:r>
          </a:p>
          <a:p>
            <a:r>
              <a:rPr dirty="0"/>
              <a:t>        "Prevent PHI leakage",</a:t>
            </a:r>
          </a:p>
          <a:p>
            <a:r>
              <a:rPr dirty="0"/>
              <a:t>        "Ensure HIPAA compliance",</a:t>
            </a:r>
          </a:p>
          <a:p>
            <a:r>
              <a:rPr dirty="0"/>
              <a:t>        "Quantify risk using HCAT framework"</a:t>
            </a:r>
          </a:p>
          <a:p>
            <a:r>
              <a:rPr dirty="0"/>
              <a:t>    ]</a:t>
            </a:r>
          </a:p>
          <a:p>
            <a:r>
              <a:rPr dirty="0"/>
              <a:t>)</a:t>
            </a:r>
          </a:p>
          <a:p>
            <a:endParaRPr dirty="0"/>
          </a:p>
          <a:p>
            <a:r>
              <a:rPr dirty="0"/>
              <a:t># 26. Full pipeline</a:t>
            </a:r>
          </a:p>
          <a:p>
            <a:r>
              <a:rPr dirty="0" err="1"/>
              <a:t>add_slide</a:t>
            </a:r>
            <a:r>
              <a:rPr dirty="0"/>
              <a:t>(</a:t>
            </a:r>
          </a:p>
          <a:p>
            <a:r>
              <a:rPr dirty="0"/>
              <a:t>    "End-to-End Pipeline",</a:t>
            </a:r>
          </a:p>
          <a:p>
            <a:r>
              <a:rPr dirty="0"/>
              <a:t>    [</a:t>
            </a:r>
          </a:p>
          <a:p>
            <a:r>
              <a:rPr dirty="0"/>
              <a:t>        "OCR + deidentification",</a:t>
            </a:r>
          </a:p>
          <a:p>
            <a:r>
              <a:rPr dirty="0"/>
              <a:t>        "LLM extraction (prompt variants)",</a:t>
            </a:r>
          </a:p>
          <a:p>
            <a:r>
              <a:rPr dirty="0"/>
              <a:t>        "Human validation",</a:t>
            </a:r>
          </a:p>
          <a:p>
            <a:r>
              <a:rPr dirty="0"/>
              <a:t>        "Metric computation",</a:t>
            </a:r>
          </a:p>
          <a:p>
            <a:r>
              <a:rPr dirty="0"/>
              <a:t>        "RAG-based validation layer"</a:t>
            </a:r>
          </a:p>
          <a:p>
            <a:r>
              <a:rPr dirty="0"/>
              <a:t>    ]</a:t>
            </a:r>
          </a:p>
          <a:p>
            <a:r>
              <a:rPr dirty="0"/>
              <a:t>)</a:t>
            </a:r>
          </a:p>
          <a:p>
            <a:endParaRPr dirty="0"/>
          </a:p>
          <a:p>
            <a:r>
              <a:rPr dirty="0"/>
              <a:t># 27. Contributions</a:t>
            </a:r>
          </a:p>
          <a:p>
            <a:r>
              <a:rPr dirty="0" err="1"/>
              <a:t>add_slide</a:t>
            </a:r>
            <a:r>
              <a:rPr dirty="0"/>
              <a:t>(</a:t>
            </a:r>
          </a:p>
          <a:p>
            <a:r>
              <a:rPr dirty="0"/>
              <a:t>    "Key Contributions",</a:t>
            </a:r>
          </a:p>
          <a:p>
            <a:r>
              <a:rPr dirty="0"/>
              <a:t>    [</a:t>
            </a:r>
          </a:p>
          <a:p>
            <a:r>
              <a:rPr dirty="0"/>
              <a:t>        "Clinical evaluation of LLM summarization",</a:t>
            </a:r>
          </a:p>
          <a:p>
            <a:r>
              <a:rPr dirty="0"/>
              <a:t>        "Fabrication-focused safety analysis",</a:t>
            </a:r>
          </a:p>
          <a:p>
            <a:r>
              <a:rPr dirty="0"/>
              <a:t>        "Prompt optimization framework",</a:t>
            </a:r>
          </a:p>
          <a:p>
            <a:r>
              <a:rPr dirty="0"/>
              <a:t>        "Production monitoring strategy"</a:t>
            </a:r>
          </a:p>
          <a:p>
            <a:r>
              <a:rPr dirty="0"/>
              <a:t>    ]</a:t>
            </a:r>
          </a:p>
          <a:p>
            <a:r>
              <a:rPr dirty="0"/>
              <a:t>)</a:t>
            </a:r>
          </a:p>
          <a:p>
            <a:endParaRPr dirty="0"/>
          </a:p>
          <a:p>
            <a:r>
              <a:rPr dirty="0"/>
              <a:t># Save</a:t>
            </a:r>
          </a:p>
          <a:p>
            <a:r>
              <a:rPr dirty="0" err="1"/>
              <a:t>file_path</a:t>
            </a:r>
            <a:r>
              <a:rPr dirty="0"/>
              <a:t> = "/</a:t>
            </a:r>
            <a:r>
              <a:rPr dirty="0" err="1"/>
              <a:t>mnt</a:t>
            </a:r>
            <a:r>
              <a:rPr dirty="0"/>
              <a:t>/data/llm_prompt_engineering_breast_cancer_v2.pptx"</a:t>
            </a:r>
          </a:p>
          <a:p>
            <a:r>
              <a:rPr dirty="0" err="1"/>
              <a:t>prs.save</a:t>
            </a:r>
            <a:r>
              <a:rPr dirty="0"/>
              <a:t>(</a:t>
            </a:r>
            <a:r>
              <a:rPr dirty="0" err="1"/>
              <a:t>file_path</a:t>
            </a:r>
            <a:r>
              <a:rPr dirty="0"/>
              <a:t>)</a:t>
            </a:r>
          </a:p>
          <a:p>
            <a:endParaRPr dirty="0"/>
          </a:p>
          <a:p>
            <a:r>
              <a:rPr dirty="0" err="1"/>
              <a:t>file_path</a:t>
            </a:r>
            <a:endParaRPr dirty="0"/>
          </a:p>
          <a:p>
            <a:endParaRPr dirty="0"/>
          </a:p>
          <a:p>
            <a:r>
              <a:rPr dirty="0"/>
              <a:t>Meta-prompting: A higher-order prompting strategy where the model is instructed on how to reason, structure outputs, and validate responses.</a:t>
            </a:r>
          </a:p>
          <a:p>
            <a:r>
              <a:rPr dirty="0"/>
              <a:t>Uses task-agnostic scaffolding to generalize across tasks.</a:t>
            </a:r>
          </a:p>
          <a:p>
            <a:r>
              <a:rPr dirty="0"/>
              <a:t>Improves consistency, reasoning reliability, and reduces hallucination.</a:t>
            </a:r>
          </a:p>
          <a:p>
            <a:r>
              <a:rPr dirty="0"/>
              <a:t>In this project: meta-prompts enforce evidence grounding, structured JSON outputs, and anti-fabrication rules.</a:t>
            </a:r>
          </a:p>
          <a:p>
            <a:r>
              <a:rPr dirty="0"/>
              <a:t>Acts as a control layer over base prompts rather than task-specific tuning.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 = ((data[</a:t>
            </a:r>
            <a:r>
              <a:rPr lang="en-US" dirty="0" err="1"/>
              <a:t>source_col</a:t>
            </a:r>
            <a:r>
              <a:rPr lang="en-US" dirty="0"/>
              <a:t>] == 1) &amp; (data[</a:t>
            </a:r>
            <a:r>
              <a:rPr lang="en-US" dirty="0" err="1"/>
              <a:t>annotator_col</a:t>
            </a:r>
            <a:r>
              <a:rPr lang="en-US" dirty="0"/>
              <a:t>] == 1)).sum()FN = ((data[</a:t>
            </a:r>
            <a:r>
              <a:rPr lang="en-US" dirty="0" err="1"/>
              <a:t>source_col</a:t>
            </a:r>
            <a:r>
              <a:rPr lang="en-US" dirty="0"/>
              <a:t>] == 1) &amp; (data[</a:t>
            </a:r>
            <a:r>
              <a:rPr lang="en-US" dirty="0" err="1"/>
              <a:t>annotator_col</a:t>
            </a:r>
            <a:r>
              <a:rPr lang="en-US" dirty="0"/>
              <a:t>] == 2)).sum()FP = ((data[</a:t>
            </a:r>
            <a:r>
              <a:rPr lang="en-US" dirty="0" err="1"/>
              <a:t>source_col</a:t>
            </a:r>
            <a:r>
              <a:rPr lang="en-US" dirty="0"/>
              <a:t>] == 0) &amp; (data[</a:t>
            </a:r>
            <a:r>
              <a:rPr lang="en-US" dirty="0" err="1"/>
              <a:t>annotator_col</a:t>
            </a:r>
            <a:r>
              <a:rPr lang="en-US" dirty="0"/>
              <a:t>] == 3)).sum()TN = ((data[</a:t>
            </a:r>
            <a:r>
              <a:rPr lang="en-US" dirty="0" err="1"/>
              <a:t>source_col</a:t>
            </a:r>
            <a:r>
              <a:rPr lang="en-US" dirty="0"/>
              <a:t>] == 0) &amp; (data[</a:t>
            </a:r>
            <a:r>
              <a:rPr lang="en-US" dirty="0" err="1"/>
              <a:t>annotator_col</a:t>
            </a:r>
            <a:r>
              <a:rPr lang="en-US" dirty="0"/>
              <a:t>] == "N/A")).sum()</a:t>
            </a:r>
            <a:r>
              <a:rPr lang="en-US" dirty="0" err="1"/>
              <a:t>Interpretation:TP</a:t>
            </a:r>
            <a:r>
              <a:rPr lang="en-US" dirty="0"/>
              <a:t> = correctly extracted feature present in </a:t>
            </a:r>
            <a:r>
              <a:rPr lang="en-US" dirty="0" err="1"/>
              <a:t>sourceFN</a:t>
            </a:r>
            <a:r>
              <a:rPr lang="en-US" dirty="0"/>
              <a:t> = omission (source present, not extracted)FP = fabrication (source absent, extracted anyway)TN = correctly not </a:t>
            </a:r>
            <a:r>
              <a:rPr lang="en-US" dirty="0" err="1"/>
              <a:t>extractedPrimary</a:t>
            </a:r>
            <a:r>
              <a:rPr lang="en-US" dirty="0"/>
              <a:t> safety </a:t>
            </a:r>
            <a:r>
              <a:rPr lang="en-US" dirty="0" err="1"/>
              <a:t>outcome:Fabrication</a:t>
            </a:r>
            <a:r>
              <a:rPr lang="en-US" dirty="0"/>
              <a:t> rate = FP / (FP + TN)</a:t>
            </a:r>
          </a:p>
        </p:txBody>
      </p:sp>
      <p:sp>
        <p:nvSpPr>
          <p:cNvPr id="4" name="Slide Number Placeholder 3"/>
          <p:cNvSpPr>
            <a:spLocks noGrp="1"/>
          </p:cNvSpPr>
          <p:nvPr>
            <p:ph type="sldNum" sz="quarter" idx="5"/>
          </p:nvPr>
        </p:nvSpPr>
        <p:spPr/>
        <p:txBody>
          <a:bodyPr/>
          <a:lstStyle/>
          <a:p>
            <a:fld id="{8FA3C7F4-74C8-4BBC-A06B-08B4E1006477}" type="slidenum">
              <a:rPr lang="en-US" smtClean="0"/>
              <a:t>11</a:t>
            </a:fld>
            <a:endParaRPr lang="en-US"/>
          </a:p>
        </p:txBody>
      </p:sp>
    </p:spTree>
    <p:extLst>
      <p:ext uri="{BB962C8B-B14F-4D97-AF65-F5344CB8AC3E}">
        <p14:creationId xmlns:p14="http://schemas.microsoft.com/office/powerpoint/2010/main" val="347342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Create a more comprehensive PowerPoint based on the user's detailed instructions</a:t>
            </a:r>
          </a:p>
          <a:p>
            <a:endParaRPr dirty="0"/>
          </a:p>
          <a:p>
            <a:r>
              <a:rPr dirty="0"/>
              <a:t>from pptx import Presentation</a:t>
            </a:r>
          </a:p>
          <a:p>
            <a:r>
              <a:rPr dirty="0"/>
              <a:t>from </a:t>
            </a:r>
            <a:r>
              <a:rPr dirty="0" err="1"/>
              <a:t>pptx.util</a:t>
            </a:r>
            <a:r>
              <a:rPr dirty="0"/>
              <a:t> import Inches</a:t>
            </a:r>
          </a:p>
          <a:p>
            <a:endParaRPr dirty="0"/>
          </a:p>
          <a:p>
            <a:r>
              <a:rPr dirty="0"/>
              <a:t>prs = Presentation()</a:t>
            </a:r>
          </a:p>
          <a:p>
            <a:endParaRPr dirty="0"/>
          </a:p>
          <a:p>
            <a:r>
              <a:rPr dirty="0"/>
              <a:t>def </a:t>
            </a:r>
            <a:r>
              <a:rPr dirty="0" err="1"/>
              <a:t>add_slide</a:t>
            </a:r>
            <a:r>
              <a:rPr dirty="0"/>
              <a:t>(title, bullets):</a:t>
            </a:r>
          </a:p>
          <a:p>
            <a:r>
              <a:rPr dirty="0"/>
              <a:t>    </a:t>
            </a:r>
            <a:r>
              <a:rPr dirty="0" err="1"/>
              <a:t>slide_layout</a:t>
            </a:r>
            <a:r>
              <a:rPr dirty="0"/>
              <a:t> = </a:t>
            </a:r>
            <a:r>
              <a:rPr dirty="0" err="1"/>
              <a:t>prs.slide_layouts</a:t>
            </a:r>
            <a:r>
              <a:rPr dirty="0"/>
              <a:t>[1]</a:t>
            </a:r>
          </a:p>
          <a:p>
            <a:r>
              <a:rPr dirty="0"/>
              <a:t>    slide = </a:t>
            </a:r>
            <a:r>
              <a:rPr dirty="0" err="1"/>
              <a:t>prs.slides.add_slide</a:t>
            </a:r>
            <a:r>
              <a:rPr dirty="0"/>
              <a:t>(</a:t>
            </a:r>
            <a:r>
              <a:rPr dirty="0" err="1"/>
              <a:t>slide_layout</a:t>
            </a:r>
            <a:r>
              <a:rPr dirty="0"/>
              <a:t>)</a:t>
            </a:r>
          </a:p>
          <a:p>
            <a:r>
              <a:rPr dirty="0"/>
              <a:t>    </a:t>
            </a:r>
            <a:r>
              <a:rPr dirty="0" err="1"/>
              <a:t>slide.shapes.title.text</a:t>
            </a:r>
            <a:r>
              <a:rPr dirty="0"/>
              <a:t> = title</a:t>
            </a:r>
          </a:p>
          <a:p>
            <a:r>
              <a:rPr dirty="0"/>
              <a:t>    </a:t>
            </a:r>
            <a:r>
              <a:rPr dirty="0" err="1"/>
              <a:t>tf</a:t>
            </a:r>
            <a:r>
              <a:rPr dirty="0"/>
              <a:t> = </a:t>
            </a:r>
            <a:r>
              <a:rPr dirty="0" err="1"/>
              <a:t>slide.placeholders</a:t>
            </a:r>
            <a:r>
              <a:rPr dirty="0"/>
              <a:t>[1].</a:t>
            </a:r>
            <a:r>
              <a:rPr dirty="0" err="1"/>
              <a:t>text_frame</a:t>
            </a:r>
            <a:endParaRPr dirty="0"/>
          </a:p>
          <a:p>
            <a:r>
              <a:rPr dirty="0"/>
              <a:t>    </a:t>
            </a:r>
            <a:r>
              <a:rPr dirty="0" err="1"/>
              <a:t>tf.clear</a:t>
            </a:r>
            <a:r>
              <a:rPr dirty="0"/>
              <a:t>()</a:t>
            </a:r>
          </a:p>
          <a:p>
            <a:r>
              <a:rPr dirty="0"/>
              <a:t>    for </a:t>
            </a:r>
            <a:r>
              <a:rPr dirty="0" err="1"/>
              <a:t>i</a:t>
            </a:r>
            <a:r>
              <a:rPr dirty="0"/>
              <a:t>, b in enumerate(bullets):</a:t>
            </a:r>
          </a:p>
          <a:p>
            <a:r>
              <a:rPr dirty="0"/>
              <a:t>        if </a:t>
            </a:r>
            <a:r>
              <a:rPr dirty="0" err="1"/>
              <a:t>i</a:t>
            </a:r>
            <a:r>
              <a:rPr dirty="0"/>
              <a:t> == 0:</a:t>
            </a:r>
          </a:p>
          <a:p>
            <a:r>
              <a:rPr dirty="0"/>
              <a:t>            </a:t>
            </a:r>
            <a:r>
              <a:rPr dirty="0" err="1"/>
              <a:t>tf.text</a:t>
            </a:r>
            <a:r>
              <a:rPr dirty="0"/>
              <a:t> = b</a:t>
            </a:r>
          </a:p>
          <a:p>
            <a:r>
              <a:rPr dirty="0"/>
              <a:t>        else:</a:t>
            </a:r>
          </a:p>
          <a:p>
            <a:r>
              <a:rPr dirty="0"/>
              <a:t>            p = </a:t>
            </a:r>
            <a:r>
              <a:rPr dirty="0" err="1"/>
              <a:t>tf.add_paragraph</a:t>
            </a:r>
            <a:r>
              <a:rPr dirty="0"/>
              <a:t>()</a:t>
            </a:r>
          </a:p>
          <a:p>
            <a:r>
              <a:rPr dirty="0"/>
              <a:t>            </a:t>
            </a:r>
            <a:r>
              <a:rPr dirty="0" err="1"/>
              <a:t>p.text</a:t>
            </a:r>
            <a:r>
              <a:rPr dirty="0"/>
              <a:t> = b</a:t>
            </a:r>
          </a:p>
          <a:p>
            <a:r>
              <a:rPr dirty="0"/>
              <a:t>            </a:t>
            </a:r>
            <a:r>
              <a:rPr dirty="0" err="1"/>
              <a:t>p.level</a:t>
            </a:r>
            <a:r>
              <a:rPr dirty="0"/>
              <a:t> = 0</a:t>
            </a:r>
          </a:p>
          <a:p>
            <a:endParaRPr dirty="0"/>
          </a:p>
          <a:p>
            <a:r>
              <a:rPr dirty="0"/>
              <a:t># 1. Title</a:t>
            </a:r>
          </a:p>
          <a:p>
            <a:r>
              <a:rPr dirty="0" err="1"/>
              <a:t>add_slide</a:t>
            </a:r>
            <a:r>
              <a:rPr dirty="0"/>
              <a:t>(</a:t>
            </a:r>
          </a:p>
          <a:p>
            <a:r>
              <a:rPr dirty="0"/>
              <a:t>    "LLM Prompt Engineering for Breast Cancer Workup Extraction",</a:t>
            </a:r>
          </a:p>
          <a:p>
            <a:r>
              <a:rPr dirty="0"/>
              <a:t>    [</a:t>
            </a:r>
          </a:p>
          <a:p>
            <a:r>
              <a:rPr dirty="0"/>
              <a:t>        "Evaluating accuracy, hallucination, and safety",</a:t>
            </a:r>
          </a:p>
          <a:p>
            <a:r>
              <a:rPr dirty="0"/>
              <a:t>        "Prompt engineering + RAG + </a:t>
            </a:r>
            <a:r>
              <a:rPr dirty="0" err="1"/>
              <a:t>LangGraph</a:t>
            </a:r>
            <a:r>
              <a:rPr dirty="0"/>
              <a:t>",</a:t>
            </a:r>
          </a:p>
          <a:p>
            <a:r>
              <a:rPr dirty="0"/>
              <a:t>        "Memorial Sloan Kettering | Surgical Oncology AI"</a:t>
            </a:r>
          </a:p>
          <a:p>
            <a:r>
              <a:rPr dirty="0"/>
              <a:t>    ]</a:t>
            </a:r>
          </a:p>
          <a:p>
            <a:r>
              <a:rPr dirty="0"/>
              <a:t>)</a:t>
            </a:r>
          </a:p>
          <a:p>
            <a:endParaRPr dirty="0"/>
          </a:p>
          <a:p>
            <a:r>
              <a:rPr dirty="0"/>
              <a:t># 2. Background - LLM basics</a:t>
            </a:r>
          </a:p>
          <a:p>
            <a:r>
              <a:rPr dirty="0" err="1"/>
              <a:t>add_slide</a:t>
            </a:r>
            <a:r>
              <a:rPr dirty="0"/>
              <a:t>(</a:t>
            </a:r>
          </a:p>
          <a:p>
            <a:r>
              <a:rPr dirty="0"/>
              <a:t>    "What is a Large Language Model (LLM)?",</a:t>
            </a:r>
          </a:p>
          <a:p>
            <a:r>
              <a:rPr dirty="0"/>
              <a:t>    [</a:t>
            </a:r>
          </a:p>
          <a:p>
            <a:r>
              <a:rPr dirty="0"/>
              <a:t>        "Neural networks trained on large text corpora",</a:t>
            </a:r>
          </a:p>
          <a:p>
            <a:r>
              <a:rPr dirty="0"/>
              <a:t>        "Based on transformer architecture",</a:t>
            </a:r>
          </a:p>
          <a:p>
            <a:r>
              <a:rPr dirty="0"/>
              <a:t>        "Learn probability distributions over language",</a:t>
            </a:r>
          </a:p>
          <a:p>
            <a:r>
              <a:rPr dirty="0"/>
              <a:t>        "Non-deterministic outputs (same input ≠ same output)"</a:t>
            </a:r>
          </a:p>
          <a:p>
            <a:r>
              <a:rPr dirty="0"/>
              <a:t>    ]</a:t>
            </a:r>
          </a:p>
          <a:p>
            <a:r>
              <a:rPr dirty="0"/>
              <a:t>)</a:t>
            </a:r>
          </a:p>
          <a:p>
            <a:endParaRPr dirty="0"/>
          </a:p>
          <a:p>
            <a:r>
              <a:rPr dirty="0"/>
              <a:t># 3. Transformer basics</a:t>
            </a:r>
          </a:p>
          <a:p>
            <a:r>
              <a:rPr dirty="0" err="1"/>
              <a:t>add_slide</a:t>
            </a:r>
            <a:r>
              <a:rPr dirty="0"/>
              <a:t>(</a:t>
            </a:r>
          </a:p>
          <a:p>
            <a:r>
              <a:rPr dirty="0"/>
              <a:t>    "Transformer Architecture (High-Level)",</a:t>
            </a:r>
          </a:p>
          <a:p>
            <a:r>
              <a:rPr dirty="0"/>
              <a:t>    [</a:t>
            </a:r>
          </a:p>
          <a:p>
            <a:r>
              <a:rPr dirty="0"/>
              <a:t>        "Input tokens → embeddings",</a:t>
            </a:r>
          </a:p>
          <a:p>
            <a:r>
              <a:rPr dirty="0"/>
              <a:t>        "Multi-head self-attention layers",</a:t>
            </a:r>
          </a:p>
          <a:p>
            <a:r>
              <a:rPr dirty="0"/>
              <a:t>        "Feedforward layers",</a:t>
            </a:r>
          </a:p>
          <a:p>
            <a:r>
              <a:rPr dirty="0"/>
              <a:t>        "Stacked layers (depth)",</a:t>
            </a:r>
          </a:p>
          <a:p>
            <a:r>
              <a:rPr dirty="0"/>
              <a:t>        "Output probability distribution over tokens"</a:t>
            </a:r>
          </a:p>
          <a:p>
            <a:r>
              <a:rPr dirty="0"/>
              <a:t>    ]</a:t>
            </a:r>
          </a:p>
          <a:p>
            <a:r>
              <a:rPr dirty="0"/>
              <a:t>)</a:t>
            </a:r>
          </a:p>
          <a:p>
            <a:endParaRPr dirty="0"/>
          </a:p>
          <a:p>
            <a:r>
              <a:rPr dirty="0"/>
              <a:t># 4. Attention intuition</a:t>
            </a:r>
          </a:p>
          <a:p>
            <a:r>
              <a:rPr dirty="0" err="1"/>
              <a:t>add_slide</a:t>
            </a:r>
            <a:r>
              <a:rPr dirty="0"/>
              <a:t>(</a:t>
            </a:r>
          </a:p>
          <a:p>
            <a:r>
              <a:rPr dirty="0"/>
              <a:t>    "Self-Attention Mechanism",</a:t>
            </a:r>
          </a:p>
          <a:p>
            <a:r>
              <a:rPr dirty="0"/>
              <a:t>    [</a:t>
            </a:r>
          </a:p>
          <a:p>
            <a:r>
              <a:rPr dirty="0"/>
              <a:t>        "Model attends to all tokens simultaneously",</a:t>
            </a:r>
          </a:p>
          <a:p>
            <a:r>
              <a:rPr dirty="0"/>
              <a:t>        "Captures long-range dependencies",</a:t>
            </a:r>
          </a:p>
          <a:p>
            <a:r>
              <a:rPr dirty="0"/>
              <a:t>        "Weighted relationships between words",</a:t>
            </a:r>
          </a:p>
          <a:p>
            <a:r>
              <a:rPr dirty="0"/>
              <a:t>        "Key driver of LLM performance"</a:t>
            </a:r>
          </a:p>
          <a:p>
            <a:r>
              <a:rPr dirty="0"/>
              <a:t>    ]</a:t>
            </a:r>
          </a:p>
          <a:p>
            <a:r>
              <a:rPr dirty="0"/>
              <a:t>)</a:t>
            </a:r>
          </a:p>
          <a:p>
            <a:endParaRPr dirty="0"/>
          </a:p>
          <a:p>
            <a:r>
              <a:rPr dirty="0"/>
              <a:t># 5. Model architectures comparison</a:t>
            </a:r>
          </a:p>
          <a:p>
            <a:r>
              <a:rPr dirty="0" err="1"/>
              <a:t>add_slide</a:t>
            </a:r>
            <a:r>
              <a:rPr dirty="0"/>
              <a:t>(</a:t>
            </a:r>
          </a:p>
          <a:p>
            <a:r>
              <a:rPr dirty="0"/>
              <a:t>    "Modern LLM Architectures",</a:t>
            </a:r>
          </a:p>
          <a:p>
            <a:r>
              <a:rPr dirty="0"/>
              <a:t>    [</a:t>
            </a:r>
          </a:p>
          <a:p>
            <a:r>
              <a:rPr dirty="0"/>
              <a:t>        "Encoder (BERT): bidirectional context understanding",</a:t>
            </a:r>
          </a:p>
          <a:p>
            <a:r>
              <a:rPr dirty="0"/>
              <a:t>        "Encoder-decoder (BART/T5): input → output transformation",</a:t>
            </a:r>
          </a:p>
          <a:p>
            <a:r>
              <a:rPr dirty="0"/>
              <a:t>        "Decoder-only (GPT, Claude): autoregressive generation",</a:t>
            </a:r>
          </a:p>
          <a:p>
            <a:r>
              <a:rPr dirty="0"/>
              <a:t>        "Tradeoff: understanding vs generation"</a:t>
            </a:r>
          </a:p>
          <a:p>
            <a:r>
              <a:rPr dirty="0"/>
              <a:t>    ]</a:t>
            </a:r>
          </a:p>
          <a:p>
            <a:r>
              <a:rPr dirty="0"/>
              <a:t>)</a:t>
            </a:r>
          </a:p>
          <a:p>
            <a:endParaRPr dirty="0"/>
          </a:p>
          <a:p>
            <a:r>
              <a:rPr dirty="0"/>
              <a:t># 6. Claude Sonnet 4 &amp; OpenAI GPT-5.2</a:t>
            </a:r>
          </a:p>
          <a:p>
            <a:r>
              <a:rPr dirty="0" err="1"/>
              <a:t>add_slide</a:t>
            </a:r>
            <a:r>
              <a:rPr dirty="0"/>
              <a:t>(</a:t>
            </a:r>
          </a:p>
          <a:p>
            <a:r>
              <a:rPr dirty="0"/>
              <a:t>    "Production LLMs Used",</a:t>
            </a:r>
          </a:p>
          <a:p>
            <a:r>
              <a:rPr dirty="0"/>
              <a:t>    [</a:t>
            </a:r>
          </a:p>
          <a:p>
            <a:r>
              <a:rPr dirty="0"/>
              <a:t>        "Claude Sonnet 4: strong reasoning, low hallucination",</a:t>
            </a:r>
          </a:p>
          <a:p>
            <a:r>
              <a:rPr dirty="0"/>
              <a:t>        "OpenAI GPT-5.2: structured outputs, high controllability",</a:t>
            </a:r>
          </a:p>
          <a:p>
            <a:r>
              <a:rPr dirty="0"/>
              <a:t>        "Both support long context + JSON extraction",</a:t>
            </a:r>
          </a:p>
          <a:p>
            <a:r>
              <a:rPr dirty="0"/>
              <a:t>        "Behavior shaped heavily by prompt design"</a:t>
            </a:r>
          </a:p>
          <a:p>
            <a:r>
              <a:rPr dirty="0"/>
              <a:t>    ]</a:t>
            </a:r>
          </a:p>
          <a:p>
            <a:r>
              <a:rPr dirty="0"/>
              <a:t>)</a:t>
            </a:r>
          </a:p>
          <a:p>
            <a:endParaRPr dirty="0"/>
          </a:p>
          <a:p>
            <a:r>
              <a:rPr dirty="0"/>
              <a:t># 7. Why prompt engineering matters</a:t>
            </a:r>
          </a:p>
          <a:p>
            <a:r>
              <a:rPr dirty="0" err="1"/>
              <a:t>add_slide</a:t>
            </a:r>
            <a:r>
              <a:rPr dirty="0"/>
              <a:t>(</a:t>
            </a:r>
          </a:p>
          <a:p>
            <a:r>
              <a:rPr dirty="0"/>
              <a:t>    "Why Prompt Engineering?",</a:t>
            </a:r>
          </a:p>
          <a:p>
            <a:r>
              <a:rPr dirty="0"/>
              <a:t>    [</a:t>
            </a:r>
          </a:p>
          <a:p>
            <a:r>
              <a:rPr dirty="0"/>
              <a:t>        "LLMs are non-deterministic",</a:t>
            </a:r>
          </a:p>
          <a:p>
            <a:r>
              <a:rPr dirty="0"/>
              <a:t>        "Outputs depend on instruction clarity",</a:t>
            </a:r>
          </a:p>
          <a:p>
            <a:r>
              <a:rPr dirty="0"/>
              <a:t>        "Poor prompts → hallucination + inconsistency",</a:t>
            </a:r>
          </a:p>
          <a:p>
            <a:r>
              <a:rPr dirty="0"/>
              <a:t>        "Goal: maximize accuracy, minimize fabrication"</a:t>
            </a:r>
          </a:p>
          <a:p>
            <a:r>
              <a:rPr dirty="0"/>
              <a:t>    ]</a:t>
            </a:r>
          </a:p>
          <a:p>
            <a:r>
              <a:rPr dirty="0"/>
              <a:t>)</a:t>
            </a:r>
          </a:p>
          <a:p>
            <a:endParaRPr dirty="0"/>
          </a:p>
          <a:p>
            <a:r>
              <a:rPr dirty="0"/>
              <a:t># 8. Prompt engineering definition</a:t>
            </a:r>
          </a:p>
          <a:p>
            <a:r>
              <a:rPr dirty="0" err="1"/>
              <a:t>add_slide</a:t>
            </a:r>
            <a:r>
              <a:rPr dirty="0"/>
              <a:t>(</a:t>
            </a:r>
          </a:p>
          <a:p>
            <a:r>
              <a:rPr dirty="0"/>
              <a:t>    "Prompt Engineering",</a:t>
            </a:r>
          </a:p>
          <a:p>
            <a:r>
              <a:rPr dirty="0"/>
              <a:t>    [</a:t>
            </a:r>
          </a:p>
          <a:p>
            <a:r>
              <a:rPr dirty="0"/>
              <a:t>        "Designing instructions to control model behavior",</a:t>
            </a:r>
          </a:p>
          <a:p>
            <a:r>
              <a:rPr dirty="0"/>
              <a:t>        "Uses roles, constraints, examples, formatting",</a:t>
            </a:r>
          </a:p>
          <a:p>
            <a:r>
              <a:rPr dirty="0"/>
              <a:t>        "Critical for clinical safety applications",</a:t>
            </a:r>
          </a:p>
          <a:p>
            <a:r>
              <a:rPr dirty="0"/>
              <a:t>        "Enables structured extraction without retraining"</a:t>
            </a:r>
          </a:p>
          <a:p>
            <a:r>
              <a:rPr dirty="0"/>
              <a:t>    ]</a:t>
            </a:r>
          </a:p>
          <a:p>
            <a:r>
              <a:rPr dirty="0"/>
              <a:t>)</a:t>
            </a:r>
          </a:p>
          <a:p>
            <a:endParaRPr dirty="0"/>
          </a:p>
          <a:p>
            <a:r>
              <a:rPr dirty="0"/>
              <a:t># 9. Automated prompt engineering</a:t>
            </a:r>
          </a:p>
          <a:p>
            <a:r>
              <a:rPr dirty="0" err="1"/>
              <a:t>add_slide</a:t>
            </a:r>
            <a:r>
              <a:rPr dirty="0"/>
              <a:t>(</a:t>
            </a:r>
          </a:p>
          <a:p>
            <a:r>
              <a:rPr dirty="0"/>
              <a:t>    "Automated Prompt Engineering",</a:t>
            </a:r>
          </a:p>
          <a:p>
            <a:r>
              <a:rPr dirty="0"/>
              <a:t>    [</a:t>
            </a:r>
          </a:p>
          <a:p>
            <a:r>
              <a:rPr dirty="0"/>
              <a:t>        "Systematic testing of prompt variants",</a:t>
            </a:r>
          </a:p>
          <a:p>
            <a:r>
              <a:rPr dirty="0"/>
              <a:t>        "Evaluate performance across multiple runs",</a:t>
            </a:r>
          </a:p>
          <a:p>
            <a:r>
              <a:rPr dirty="0"/>
              <a:t>        "Optimize prompts based on metrics",</a:t>
            </a:r>
          </a:p>
          <a:p>
            <a:r>
              <a:rPr dirty="0"/>
              <a:t>        "Treat prompts as version-controlled artifacts"</a:t>
            </a:r>
          </a:p>
          <a:p>
            <a:r>
              <a:rPr dirty="0"/>
              <a:t>    ]</a:t>
            </a:r>
          </a:p>
          <a:p>
            <a:r>
              <a:rPr dirty="0"/>
              <a:t>)</a:t>
            </a:r>
          </a:p>
          <a:p>
            <a:endParaRPr dirty="0"/>
          </a:p>
          <a:p>
            <a:r>
              <a:rPr dirty="0"/>
              <a:t># 10. Project overview</a:t>
            </a:r>
          </a:p>
          <a:p>
            <a:r>
              <a:rPr dirty="0" err="1"/>
              <a:t>add_slide</a:t>
            </a:r>
            <a:r>
              <a:rPr dirty="0"/>
              <a:t>(</a:t>
            </a:r>
          </a:p>
          <a:p>
            <a:r>
              <a:rPr dirty="0"/>
              <a:t>    "Project Overview",</a:t>
            </a:r>
          </a:p>
          <a:p>
            <a:r>
              <a:rPr dirty="0"/>
              <a:t>    [</a:t>
            </a:r>
          </a:p>
          <a:p>
            <a:r>
              <a:rPr dirty="0"/>
              <a:t>        "Input: breast cancer radiology + pathology PDFs",</a:t>
            </a:r>
          </a:p>
          <a:p>
            <a:r>
              <a:rPr dirty="0"/>
              <a:t>        "Task: extract 14 structured clinical features",</a:t>
            </a:r>
          </a:p>
          <a:p>
            <a:r>
              <a:rPr dirty="0"/>
              <a:t>        "Compare LLM vs human annotations",</a:t>
            </a:r>
          </a:p>
          <a:p>
            <a:r>
              <a:rPr dirty="0"/>
              <a:t>        "Evaluate accuracy, omission, fabrication"</a:t>
            </a:r>
          </a:p>
          <a:p>
            <a:r>
              <a:rPr dirty="0"/>
              <a:t>    ]</a:t>
            </a:r>
          </a:p>
          <a:p>
            <a:r>
              <a:rPr dirty="0"/>
              <a:t>)</a:t>
            </a:r>
          </a:p>
          <a:p>
            <a:endParaRPr dirty="0"/>
          </a:p>
          <a:p>
            <a:r>
              <a:rPr dirty="0"/>
              <a:t># 11. Key metric definitions</a:t>
            </a:r>
          </a:p>
          <a:p>
            <a:r>
              <a:rPr dirty="0" err="1"/>
              <a:t>add_slide</a:t>
            </a:r>
            <a:r>
              <a:rPr dirty="0"/>
              <a:t>(</a:t>
            </a:r>
          </a:p>
          <a:p>
            <a:r>
              <a:rPr dirty="0"/>
              <a:t>    "Evaluation Metrics",</a:t>
            </a:r>
          </a:p>
          <a:p>
            <a:r>
              <a:rPr dirty="0"/>
              <a:t>    [</a:t>
            </a:r>
          </a:p>
          <a:p>
            <a:r>
              <a:rPr dirty="0"/>
              <a:t>        "TP: correct extraction",</a:t>
            </a:r>
          </a:p>
          <a:p>
            <a:r>
              <a:rPr dirty="0"/>
              <a:t>        "FN: omission",</a:t>
            </a:r>
          </a:p>
          <a:p>
            <a:r>
              <a:rPr dirty="0"/>
              <a:t>        "FP: fabrication",</a:t>
            </a:r>
          </a:p>
          <a:p>
            <a:r>
              <a:rPr dirty="0"/>
              <a:t>        "TN: correct absence",</a:t>
            </a:r>
          </a:p>
          <a:p>
            <a:r>
              <a:rPr dirty="0"/>
              <a:t>        "Primary outcome: fabrication rate = FP / (FP + TN)"</a:t>
            </a:r>
          </a:p>
          <a:p>
            <a:r>
              <a:rPr dirty="0"/>
              <a:t>    ]</a:t>
            </a:r>
          </a:p>
          <a:p>
            <a:r>
              <a:rPr dirty="0"/>
              <a:t>)</a:t>
            </a:r>
          </a:p>
          <a:p>
            <a:endParaRPr dirty="0"/>
          </a:p>
          <a:p>
            <a:r>
              <a:rPr dirty="0"/>
              <a:t># 12. Prompt versions</a:t>
            </a:r>
          </a:p>
          <a:p>
            <a:r>
              <a:rPr dirty="0" err="1"/>
              <a:t>add_slide</a:t>
            </a:r>
            <a:r>
              <a:rPr dirty="0"/>
              <a:t>(</a:t>
            </a:r>
          </a:p>
          <a:p>
            <a:r>
              <a:rPr dirty="0"/>
              <a:t>    "Prompt Versions",</a:t>
            </a:r>
          </a:p>
          <a:p>
            <a:r>
              <a:rPr dirty="0"/>
              <a:t>    [</a:t>
            </a:r>
          </a:p>
          <a:p>
            <a:r>
              <a:rPr dirty="0"/>
              <a:t>        "Prompt V1: zero-shot extraction",</a:t>
            </a:r>
          </a:p>
          <a:p>
            <a:r>
              <a:rPr dirty="0"/>
              <a:t>        "Prompt V2: structured developer prompt",</a:t>
            </a:r>
          </a:p>
          <a:p>
            <a:r>
              <a:rPr dirty="0"/>
              <a:t>        "Strict anti-fabrication rules",</a:t>
            </a:r>
          </a:p>
          <a:p>
            <a:r>
              <a:rPr dirty="0"/>
              <a:t>        "JSON output enforcement"</a:t>
            </a:r>
          </a:p>
          <a:p>
            <a:r>
              <a:rPr dirty="0"/>
              <a:t>    ]</a:t>
            </a:r>
          </a:p>
          <a:p>
            <a:r>
              <a:rPr dirty="0"/>
              <a:t>)</a:t>
            </a:r>
          </a:p>
          <a:p>
            <a:endParaRPr dirty="0"/>
          </a:p>
          <a:p>
            <a:r>
              <a:rPr dirty="0"/>
              <a:t># 13. Developer prompt principles</a:t>
            </a:r>
          </a:p>
          <a:p>
            <a:r>
              <a:rPr dirty="0" err="1"/>
              <a:t>add_slide</a:t>
            </a:r>
            <a:r>
              <a:rPr dirty="0"/>
              <a:t>(</a:t>
            </a:r>
          </a:p>
          <a:p>
            <a:r>
              <a:rPr dirty="0"/>
              <a:t>    "Structured Developer Prompt (V2)",</a:t>
            </a:r>
          </a:p>
          <a:p>
            <a:r>
              <a:rPr dirty="0"/>
              <a:t>    [</a:t>
            </a:r>
          </a:p>
          <a:p>
            <a:r>
              <a:rPr dirty="0"/>
              <a:t>        "Hard constraints: no inference allowed",</a:t>
            </a:r>
          </a:p>
          <a:p>
            <a:r>
              <a:rPr dirty="0"/>
              <a:t>        "Return 'Not reported' if missing",</a:t>
            </a:r>
          </a:p>
          <a:p>
            <a:r>
              <a:rPr dirty="0"/>
              <a:t>        "Return 'Indeterminate' if conflicting",</a:t>
            </a:r>
          </a:p>
          <a:p>
            <a:r>
              <a:rPr dirty="0"/>
              <a:t>        "Evidence-based extraction required"</a:t>
            </a:r>
          </a:p>
          <a:p>
            <a:r>
              <a:rPr dirty="0"/>
              <a:t>    ]</a:t>
            </a:r>
          </a:p>
          <a:p>
            <a:r>
              <a:rPr dirty="0"/>
              <a:t>)</a:t>
            </a:r>
          </a:p>
          <a:p>
            <a:endParaRPr dirty="0"/>
          </a:p>
          <a:p>
            <a:r>
              <a:rPr dirty="0"/>
              <a:t># 14. Prompt structure</a:t>
            </a:r>
          </a:p>
          <a:p>
            <a:r>
              <a:rPr dirty="0" err="1"/>
              <a:t>add_slide</a:t>
            </a:r>
            <a:r>
              <a:rPr dirty="0"/>
              <a:t>(</a:t>
            </a:r>
          </a:p>
          <a:p>
            <a:r>
              <a:rPr dirty="0"/>
              <a:t>    "Prompt Structure",</a:t>
            </a:r>
          </a:p>
          <a:p>
            <a:r>
              <a:rPr dirty="0"/>
              <a:t>    [</a:t>
            </a:r>
          </a:p>
          <a:p>
            <a:r>
              <a:rPr dirty="0"/>
              <a:t>        "System / developer message defines rules",</a:t>
            </a:r>
          </a:p>
          <a:p>
            <a:r>
              <a:rPr dirty="0"/>
              <a:t>        "User message provides document",</a:t>
            </a:r>
          </a:p>
          <a:p>
            <a:r>
              <a:rPr dirty="0"/>
              <a:t>        "Assistant outputs structured JSON",</a:t>
            </a:r>
          </a:p>
          <a:p>
            <a:r>
              <a:rPr dirty="0"/>
              <a:t>        "Separation of instructions and data"</a:t>
            </a:r>
          </a:p>
          <a:p>
            <a:r>
              <a:rPr dirty="0"/>
              <a:t>    ]</a:t>
            </a:r>
          </a:p>
          <a:p>
            <a:r>
              <a:rPr dirty="0"/>
              <a:t>)</a:t>
            </a:r>
          </a:p>
          <a:p>
            <a:endParaRPr dirty="0"/>
          </a:p>
          <a:p>
            <a:r>
              <a:rPr dirty="0"/>
              <a:t># 15. Prompting techniques</a:t>
            </a:r>
          </a:p>
          <a:p>
            <a:r>
              <a:rPr dirty="0" err="1"/>
              <a:t>add_slide</a:t>
            </a:r>
            <a:r>
              <a:rPr dirty="0"/>
              <a:t>(</a:t>
            </a:r>
          </a:p>
          <a:p>
            <a:r>
              <a:rPr dirty="0"/>
              <a:t>    "Prompting Techniques Evaluated",</a:t>
            </a:r>
          </a:p>
          <a:p>
            <a:r>
              <a:rPr dirty="0"/>
              <a:t>    [</a:t>
            </a:r>
          </a:p>
          <a:p>
            <a:r>
              <a:rPr dirty="0"/>
              <a:t>        "Zero-shot",</a:t>
            </a:r>
          </a:p>
          <a:p>
            <a:r>
              <a:rPr dirty="0"/>
              <a:t>        "Chain-of-thought",</a:t>
            </a:r>
          </a:p>
          <a:p>
            <a:r>
              <a:rPr dirty="0"/>
              <a:t>        "Few-shot",</a:t>
            </a:r>
          </a:p>
          <a:p>
            <a:r>
              <a:rPr dirty="0"/>
              <a:t>        "RAG (retrieval augmented generation)",</a:t>
            </a:r>
          </a:p>
          <a:p>
            <a:r>
              <a:rPr dirty="0"/>
              <a:t>        "Program-aided prompting",</a:t>
            </a:r>
          </a:p>
          <a:p>
            <a:r>
              <a:rPr dirty="0"/>
              <a:t>        "</a:t>
            </a:r>
            <a:r>
              <a:rPr dirty="0" err="1"/>
              <a:t>ReAct</a:t>
            </a:r>
            <a:r>
              <a:rPr dirty="0"/>
              <a:t> / BFOP"</a:t>
            </a:r>
          </a:p>
          <a:p>
            <a:r>
              <a:rPr dirty="0"/>
              <a:t>    ]</a:t>
            </a:r>
          </a:p>
          <a:p>
            <a:r>
              <a:rPr dirty="0"/>
              <a:t>)</a:t>
            </a:r>
          </a:p>
          <a:p>
            <a:endParaRPr dirty="0"/>
          </a:p>
          <a:p>
            <a:r>
              <a:rPr dirty="0"/>
              <a:t># 16. Why prompting over fine-tuning</a:t>
            </a:r>
          </a:p>
          <a:p>
            <a:r>
              <a:rPr dirty="0" err="1"/>
              <a:t>add_slide</a:t>
            </a:r>
            <a:r>
              <a:rPr dirty="0"/>
              <a:t>(</a:t>
            </a:r>
          </a:p>
          <a:p>
            <a:r>
              <a:rPr dirty="0"/>
              <a:t>    "Prompting vs Fine-Tuning",</a:t>
            </a:r>
          </a:p>
          <a:p>
            <a:r>
              <a:rPr dirty="0"/>
              <a:t>    [</a:t>
            </a:r>
          </a:p>
          <a:p>
            <a:r>
              <a:rPr dirty="0"/>
              <a:t>        "No need for large labeled datasets",</a:t>
            </a:r>
          </a:p>
          <a:p>
            <a:r>
              <a:rPr dirty="0"/>
              <a:t>        "Faster iteration cycle",</a:t>
            </a:r>
          </a:p>
          <a:p>
            <a:r>
              <a:rPr dirty="0"/>
              <a:t>        "Lower cost",</a:t>
            </a:r>
          </a:p>
          <a:p>
            <a:r>
              <a:rPr dirty="0"/>
              <a:t>        "More interpretable and controllable",</a:t>
            </a:r>
          </a:p>
          <a:p>
            <a:r>
              <a:rPr dirty="0"/>
              <a:t>        "Easier safety constraints"</a:t>
            </a:r>
          </a:p>
          <a:p>
            <a:r>
              <a:rPr dirty="0"/>
              <a:t>    ]</a:t>
            </a:r>
          </a:p>
          <a:p>
            <a:r>
              <a:rPr dirty="0"/>
              <a:t>)</a:t>
            </a:r>
          </a:p>
          <a:p>
            <a:endParaRPr dirty="0"/>
          </a:p>
          <a:p>
            <a:r>
              <a:rPr dirty="0"/>
              <a:t># 17. Meta prompting</a:t>
            </a:r>
          </a:p>
          <a:p>
            <a:r>
              <a:rPr dirty="0" err="1"/>
              <a:t>add_slide</a:t>
            </a:r>
            <a:r>
              <a:rPr dirty="0"/>
              <a:t>(</a:t>
            </a:r>
          </a:p>
          <a:p>
            <a:r>
              <a:rPr dirty="0"/>
              <a:t>    "Meta Prompting",</a:t>
            </a:r>
          </a:p>
          <a:p>
            <a:r>
              <a:rPr dirty="0"/>
              <a:t>    [</a:t>
            </a:r>
          </a:p>
          <a:p>
            <a:r>
              <a:rPr dirty="0"/>
              <a:t>        "Prompts that define how prompts should behave",</a:t>
            </a:r>
          </a:p>
          <a:p>
            <a:r>
              <a:rPr dirty="0"/>
              <a:t>        "Controls reasoning, format, and validation",</a:t>
            </a:r>
          </a:p>
          <a:p>
            <a:r>
              <a:rPr dirty="0"/>
              <a:t>        "Used to enforce consistency",</a:t>
            </a:r>
          </a:p>
          <a:p>
            <a:r>
              <a:rPr dirty="0"/>
              <a:t>        "Critical for production systems"</a:t>
            </a:r>
          </a:p>
          <a:p>
            <a:r>
              <a:rPr dirty="0"/>
              <a:t>    ]</a:t>
            </a:r>
          </a:p>
          <a:p>
            <a:r>
              <a:rPr dirty="0"/>
              <a:t>)</a:t>
            </a:r>
          </a:p>
          <a:p>
            <a:endParaRPr dirty="0"/>
          </a:p>
          <a:p>
            <a:r>
              <a:rPr dirty="0"/>
              <a:t># 18. RAG introduction</a:t>
            </a:r>
          </a:p>
          <a:p>
            <a:r>
              <a:rPr dirty="0" err="1"/>
              <a:t>add_slide</a:t>
            </a:r>
            <a:r>
              <a:rPr dirty="0"/>
              <a:t>(</a:t>
            </a:r>
          </a:p>
          <a:p>
            <a:r>
              <a:rPr dirty="0"/>
              <a:t>    "Retrieval-Augmented Generation (RAG)",</a:t>
            </a:r>
          </a:p>
          <a:p>
            <a:r>
              <a:rPr dirty="0"/>
              <a:t>    [</a:t>
            </a:r>
          </a:p>
          <a:p>
            <a:r>
              <a:rPr dirty="0"/>
              <a:t>        "LLM restricted to retrieved document chunks",</a:t>
            </a:r>
          </a:p>
          <a:p>
            <a:r>
              <a:rPr dirty="0"/>
              <a:t>        "Reduces hallucination",</a:t>
            </a:r>
          </a:p>
          <a:p>
            <a:r>
              <a:rPr dirty="0"/>
              <a:t>        "Improves factual grounding",</a:t>
            </a:r>
          </a:p>
          <a:p>
            <a:r>
              <a:rPr dirty="0"/>
              <a:t>        "Core component of pipeline"</a:t>
            </a:r>
          </a:p>
          <a:p>
            <a:r>
              <a:rPr dirty="0"/>
              <a:t>    ]</a:t>
            </a:r>
          </a:p>
          <a:p>
            <a:r>
              <a:rPr dirty="0"/>
              <a:t>)</a:t>
            </a:r>
          </a:p>
          <a:p>
            <a:endParaRPr dirty="0"/>
          </a:p>
          <a:p>
            <a:r>
              <a:rPr dirty="0"/>
              <a:t># 19. </a:t>
            </a:r>
            <a:r>
              <a:rPr dirty="0" err="1"/>
              <a:t>LangGraph</a:t>
            </a:r>
            <a:r>
              <a:rPr dirty="0"/>
              <a:t> pipeline</a:t>
            </a:r>
          </a:p>
          <a:p>
            <a:r>
              <a:rPr dirty="0" err="1"/>
              <a:t>add_slide</a:t>
            </a:r>
            <a:r>
              <a:rPr dirty="0"/>
              <a:t>(</a:t>
            </a:r>
          </a:p>
          <a:p>
            <a:r>
              <a:rPr dirty="0"/>
              <a:t>    "</a:t>
            </a:r>
            <a:r>
              <a:rPr dirty="0" err="1"/>
              <a:t>LangGraph</a:t>
            </a:r>
            <a:r>
              <a:rPr dirty="0"/>
              <a:t> Agentic Pipeline",</a:t>
            </a:r>
          </a:p>
          <a:p>
            <a:r>
              <a:rPr dirty="0"/>
              <a:t>    [</a:t>
            </a:r>
          </a:p>
          <a:p>
            <a:r>
              <a:rPr dirty="0"/>
              <a:t>        "Query generation",</a:t>
            </a:r>
          </a:p>
          <a:p>
            <a:r>
              <a:rPr dirty="0"/>
              <a:t>        "Evidence retrieval",</a:t>
            </a:r>
          </a:p>
          <a:p>
            <a:r>
              <a:rPr dirty="0"/>
              <a:t>        "Evidence grading",</a:t>
            </a:r>
          </a:p>
          <a:p>
            <a:r>
              <a:rPr dirty="0"/>
              <a:t>        "Validation decision",</a:t>
            </a:r>
          </a:p>
          <a:p>
            <a:r>
              <a:rPr dirty="0"/>
              <a:t>        "Iterative query refinement"</a:t>
            </a:r>
          </a:p>
          <a:p>
            <a:r>
              <a:rPr dirty="0"/>
              <a:t>    ]</a:t>
            </a:r>
          </a:p>
          <a:p>
            <a:r>
              <a:rPr dirty="0"/>
              <a:t>)</a:t>
            </a:r>
          </a:p>
          <a:p>
            <a:endParaRPr dirty="0"/>
          </a:p>
          <a:p>
            <a:r>
              <a:rPr dirty="0"/>
              <a:t># 20. Knowledge graph</a:t>
            </a:r>
          </a:p>
          <a:p>
            <a:r>
              <a:rPr dirty="0" err="1"/>
              <a:t>add_slide</a:t>
            </a:r>
            <a:r>
              <a:rPr dirty="0"/>
              <a:t>(</a:t>
            </a:r>
          </a:p>
          <a:p>
            <a:r>
              <a:rPr dirty="0"/>
              <a:t>    "Knowledge Graph Layer",</a:t>
            </a:r>
          </a:p>
          <a:p>
            <a:r>
              <a:rPr dirty="0"/>
              <a:t>    [</a:t>
            </a:r>
          </a:p>
          <a:p>
            <a:r>
              <a:rPr dirty="0"/>
              <a:t>        "Nodes: patient, features, observations, evidence",</a:t>
            </a:r>
          </a:p>
          <a:p>
            <a:r>
              <a:rPr dirty="0"/>
              <a:t>        "Edges connect evidence to extracted features",</a:t>
            </a:r>
          </a:p>
          <a:p>
            <a:r>
              <a:rPr dirty="0"/>
              <a:t>        "Used for validation and hallucination detection",</a:t>
            </a:r>
          </a:p>
          <a:p>
            <a:r>
              <a:rPr dirty="0"/>
              <a:t>        "Supports agentic reasoning"</a:t>
            </a:r>
          </a:p>
          <a:p>
            <a:r>
              <a:rPr dirty="0"/>
              <a:t>    ]</a:t>
            </a:r>
          </a:p>
          <a:p>
            <a:r>
              <a:rPr dirty="0"/>
              <a:t>)</a:t>
            </a:r>
          </a:p>
          <a:p>
            <a:endParaRPr dirty="0"/>
          </a:p>
          <a:p>
            <a:r>
              <a:rPr dirty="0"/>
              <a:t># 21. Fabrication detection</a:t>
            </a:r>
          </a:p>
          <a:p>
            <a:r>
              <a:rPr dirty="0" err="1"/>
              <a:t>add_slide</a:t>
            </a:r>
            <a:r>
              <a:rPr dirty="0"/>
              <a:t>(</a:t>
            </a:r>
          </a:p>
          <a:p>
            <a:r>
              <a:rPr dirty="0"/>
              <a:t>    "Fabrication Detection",</a:t>
            </a:r>
          </a:p>
          <a:p>
            <a:r>
              <a:rPr dirty="0"/>
              <a:t>    [</a:t>
            </a:r>
          </a:p>
          <a:p>
            <a:r>
              <a:rPr dirty="0"/>
              <a:t>        "Compare LLM output vs source evidence",</a:t>
            </a:r>
          </a:p>
          <a:p>
            <a:r>
              <a:rPr dirty="0"/>
              <a:t>        "Flag unsupported claims",</a:t>
            </a:r>
          </a:p>
          <a:p>
            <a:r>
              <a:rPr dirty="0"/>
              <a:t>        "Classify: correct, fabrication, omission, uncertain",</a:t>
            </a:r>
          </a:p>
          <a:p>
            <a:r>
              <a:rPr dirty="0"/>
              <a:t>        "Generate corrected outputs"</a:t>
            </a:r>
          </a:p>
          <a:p>
            <a:r>
              <a:rPr dirty="0"/>
              <a:t>    ]</a:t>
            </a:r>
          </a:p>
          <a:p>
            <a:r>
              <a:rPr dirty="0"/>
              <a:t>)</a:t>
            </a:r>
          </a:p>
          <a:p>
            <a:endParaRPr dirty="0"/>
          </a:p>
          <a:p>
            <a:r>
              <a:rPr dirty="0"/>
              <a:t># 22. Self-consistency metric (image slide)</a:t>
            </a:r>
          </a:p>
          <a:p>
            <a:r>
              <a:rPr dirty="0" err="1"/>
              <a:t>slide_layout</a:t>
            </a:r>
            <a:r>
              <a:rPr dirty="0"/>
              <a:t> = </a:t>
            </a:r>
            <a:r>
              <a:rPr dirty="0" err="1"/>
              <a:t>prs.slide_layouts</a:t>
            </a:r>
            <a:r>
              <a:rPr dirty="0"/>
              <a:t>[5]</a:t>
            </a:r>
          </a:p>
          <a:p>
            <a:r>
              <a:rPr dirty="0"/>
              <a:t>slide = </a:t>
            </a:r>
            <a:r>
              <a:rPr dirty="0" err="1"/>
              <a:t>prs.slides.add_slide</a:t>
            </a:r>
            <a:r>
              <a:rPr dirty="0"/>
              <a:t>(</a:t>
            </a:r>
            <a:r>
              <a:rPr dirty="0" err="1"/>
              <a:t>slide_layout</a:t>
            </a:r>
            <a:r>
              <a:rPr dirty="0"/>
              <a:t>)</a:t>
            </a:r>
          </a:p>
          <a:p>
            <a:r>
              <a:rPr dirty="0" err="1"/>
              <a:t>slide.shapes.title.text</a:t>
            </a:r>
            <a:r>
              <a:rPr dirty="0"/>
              <a:t> = "Self-Consistency &amp; Reproducibility"</a:t>
            </a:r>
          </a:p>
          <a:p>
            <a:endParaRPr dirty="0"/>
          </a:p>
          <a:p>
            <a:r>
              <a:rPr dirty="0" err="1"/>
              <a:t>img_path</a:t>
            </a:r>
            <a:r>
              <a:rPr dirty="0"/>
              <a:t> = "/</a:t>
            </a:r>
            <a:r>
              <a:rPr dirty="0" err="1"/>
              <a:t>mnt</a:t>
            </a:r>
            <a:r>
              <a:rPr dirty="0"/>
              <a:t>/data/51ce234e-ae92-4f08-9e2d-9a1f7d769c22.png"</a:t>
            </a:r>
          </a:p>
          <a:p>
            <a:r>
              <a:rPr dirty="0" err="1"/>
              <a:t>slide.shapes.add_picture</a:t>
            </a:r>
            <a:r>
              <a:rPr dirty="0"/>
              <a:t>(</a:t>
            </a:r>
            <a:r>
              <a:rPr dirty="0" err="1"/>
              <a:t>img_path</a:t>
            </a:r>
            <a:r>
              <a:rPr dirty="0"/>
              <a:t>, Inches(1), Inches(1.5), width=Inches(6))</a:t>
            </a:r>
          </a:p>
          <a:p>
            <a:endParaRPr dirty="0"/>
          </a:p>
          <a:p>
            <a:r>
              <a:rPr dirty="0"/>
              <a:t># 23. Explanation slide</a:t>
            </a:r>
          </a:p>
          <a:p>
            <a:r>
              <a:rPr dirty="0" err="1"/>
              <a:t>add_slide</a:t>
            </a:r>
            <a:r>
              <a:rPr dirty="0"/>
              <a:t>(</a:t>
            </a:r>
          </a:p>
          <a:p>
            <a:r>
              <a:rPr dirty="0"/>
              <a:t>    "Why Self-Consistency?",</a:t>
            </a:r>
          </a:p>
          <a:p>
            <a:r>
              <a:rPr dirty="0"/>
              <a:t>    [</a:t>
            </a:r>
          </a:p>
          <a:p>
            <a:r>
              <a:rPr dirty="0"/>
              <a:t>        "LLM outputs vary across runs",</a:t>
            </a:r>
          </a:p>
          <a:p>
            <a:r>
              <a:rPr dirty="0"/>
              <a:t>        "Multiple iterations needed for reliability",</a:t>
            </a:r>
          </a:p>
          <a:p>
            <a:r>
              <a:rPr dirty="0"/>
              <a:t>        "≥5 runs per case improves stability",</a:t>
            </a:r>
          </a:p>
          <a:p>
            <a:r>
              <a:rPr dirty="0"/>
              <a:t>        "Measure agreement across outputs"</a:t>
            </a:r>
          </a:p>
          <a:p>
            <a:r>
              <a:rPr dirty="0"/>
              <a:t>    ]</a:t>
            </a:r>
          </a:p>
          <a:p>
            <a:r>
              <a:rPr dirty="0"/>
              <a:t>)</a:t>
            </a:r>
          </a:p>
          <a:p>
            <a:endParaRPr dirty="0"/>
          </a:p>
          <a:p>
            <a:r>
              <a:rPr dirty="0"/>
              <a:t># 24. HCAT safety metrics</a:t>
            </a:r>
          </a:p>
          <a:p>
            <a:r>
              <a:rPr dirty="0" err="1"/>
              <a:t>add_slide</a:t>
            </a:r>
            <a:r>
              <a:rPr dirty="0"/>
              <a:t>(</a:t>
            </a:r>
          </a:p>
          <a:p>
            <a:r>
              <a:rPr dirty="0"/>
              <a:t>    "HCAT Safety Metrics",</a:t>
            </a:r>
          </a:p>
          <a:p>
            <a:r>
              <a:rPr dirty="0"/>
              <a:t>    [</a:t>
            </a:r>
          </a:p>
          <a:p>
            <a:r>
              <a:rPr dirty="0"/>
              <a:t>        "Measure residual PHI risk after deidentification",</a:t>
            </a:r>
          </a:p>
          <a:p>
            <a:r>
              <a:rPr dirty="0"/>
              <a:t>        "PHI recall, precision, F1",</a:t>
            </a:r>
          </a:p>
          <a:p>
            <a:r>
              <a:rPr dirty="0"/>
              <a:t>        "False negative rate (critical safety metric)",</a:t>
            </a:r>
          </a:p>
          <a:p>
            <a:r>
              <a:rPr dirty="0"/>
              <a:t>        "Residual PHI risk score"</a:t>
            </a:r>
          </a:p>
          <a:p>
            <a:r>
              <a:rPr dirty="0"/>
              <a:t>    ]</a:t>
            </a:r>
          </a:p>
          <a:p>
            <a:r>
              <a:rPr dirty="0"/>
              <a:t>)</a:t>
            </a:r>
          </a:p>
          <a:p>
            <a:endParaRPr dirty="0"/>
          </a:p>
          <a:p>
            <a:r>
              <a:rPr dirty="0"/>
              <a:t># 25. Safety importance</a:t>
            </a:r>
          </a:p>
          <a:p>
            <a:r>
              <a:rPr dirty="0" err="1"/>
              <a:t>add_slide</a:t>
            </a:r>
            <a:r>
              <a:rPr dirty="0"/>
              <a:t>(</a:t>
            </a:r>
          </a:p>
          <a:p>
            <a:r>
              <a:rPr dirty="0"/>
              <a:t>    "Why Safety Matters",</a:t>
            </a:r>
          </a:p>
          <a:p>
            <a:r>
              <a:rPr dirty="0"/>
              <a:t>    [</a:t>
            </a:r>
          </a:p>
          <a:p>
            <a:r>
              <a:rPr dirty="0"/>
              <a:t>        "Clinical data must remain de-identified",</a:t>
            </a:r>
          </a:p>
          <a:p>
            <a:r>
              <a:rPr dirty="0"/>
              <a:t>        "Prevent PHI leakage",</a:t>
            </a:r>
          </a:p>
          <a:p>
            <a:r>
              <a:rPr dirty="0"/>
              <a:t>        "Ensure HIPAA compliance",</a:t>
            </a:r>
          </a:p>
          <a:p>
            <a:r>
              <a:rPr dirty="0"/>
              <a:t>        "Quantify risk using HCAT framework"</a:t>
            </a:r>
          </a:p>
          <a:p>
            <a:r>
              <a:rPr dirty="0"/>
              <a:t>    ]</a:t>
            </a:r>
          </a:p>
          <a:p>
            <a:r>
              <a:rPr dirty="0"/>
              <a:t>)</a:t>
            </a:r>
          </a:p>
          <a:p>
            <a:endParaRPr dirty="0"/>
          </a:p>
          <a:p>
            <a:r>
              <a:rPr dirty="0"/>
              <a:t># 26. Full pipeline</a:t>
            </a:r>
          </a:p>
          <a:p>
            <a:r>
              <a:rPr dirty="0" err="1"/>
              <a:t>add_slide</a:t>
            </a:r>
            <a:r>
              <a:rPr dirty="0"/>
              <a:t>(</a:t>
            </a:r>
          </a:p>
          <a:p>
            <a:r>
              <a:rPr dirty="0"/>
              <a:t>    "End-to-End Pipeline",</a:t>
            </a:r>
          </a:p>
          <a:p>
            <a:r>
              <a:rPr dirty="0"/>
              <a:t>    [</a:t>
            </a:r>
          </a:p>
          <a:p>
            <a:r>
              <a:rPr dirty="0"/>
              <a:t>        "OCR + deidentification",</a:t>
            </a:r>
          </a:p>
          <a:p>
            <a:r>
              <a:rPr dirty="0"/>
              <a:t>        "LLM extraction (prompt variants)",</a:t>
            </a:r>
          </a:p>
          <a:p>
            <a:r>
              <a:rPr dirty="0"/>
              <a:t>        "Human validation",</a:t>
            </a:r>
          </a:p>
          <a:p>
            <a:r>
              <a:rPr dirty="0"/>
              <a:t>        "Metric computation",</a:t>
            </a:r>
          </a:p>
          <a:p>
            <a:r>
              <a:rPr dirty="0"/>
              <a:t>        "RAG-based validation layer"</a:t>
            </a:r>
          </a:p>
          <a:p>
            <a:r>
              <a:rPr dirty="0"/>
              <a:t>    ]</a:t>
            </a:r>
          </a:p>
          <a:p>
            <a:r>
              <a:rPr dirty="0"/>
              <a:t>)</a:t>
            </a:r>
          </a:p>
          <a:p>
            <a:endParaRPr dirty="0"/>
          </a:p>
          <a:p>
            <a:r>
              <a:rPr dirty="0"/>
              <a:t># 27. Contributions</a:t>
            </a:r>
          </a:p>
          <a:p>
            <a:r>
              <a:rPr dirty="0" err="1"/>
              <a:t>add_slide</a:t>
            </a:r>
            <a:r>
              <a:rPr dirty="0"/>
              <a:t>(</a:t>
            </a:r>
          </a:p>
          <a:p>
            <a:r>
              <a:rPr dirty="0"/>
              <a:t>    "Key Contributions",</a:t>
            </a:r>
          </a:p>
          <a:p>
            <a:r>
              <a:rPr dirty="0"/>
              <a:t>    [</a:t>
            </a:r>
          </a:p>
          <a:p>
            <a:r>
              <a:rPr dirty="0"/>
              <a:t>        "Clinical evaluation of LLM summarization",</a:t>
            </a:r>
          </a:p>
          <a:p>
            <a:r>
              <a:rPr dirty="0"/>
              <a:t>        "Fabrication-focused safety analysis",</a:t>
            </a:r>
          </a:p>
          <a:p>
            <a:r>
              <a:rPr dirty="0"/>
              <a:t>        "Prompt optimization framework",</a:t>
            </a:r>
          </a:p>
          <a:p>
            <a:r>
              <a:rPr dirty="0"/>
              <a:t>        "Production monitoring strategy"</a:t>
            </a:r>
          </a:p>
          <a:p>
            <a:r>
              <a:rPr dirty="0"/>
              <a:t>    ]</a:t>
            </a:r>
          </a:p>
          <a:p>
            <a:r>
              <a:rPr dirty="0"/>
              <a:t>)</a:t>
            </a:r>
          </a:p>
          <a:p>
            <a:endParaRPr dirty="0"/>
          </a:p>
          <a:p>
            <a:r>
              <a:rPr dirty="0"/>
              <a:t># Save</a:t>
            </a:r>
          </a:p>
          <a:p>
            <a:r>
              <a:rPr dirty="0" err="1"/>
              <a:t>file_path</a:t>
            </a:r>
            <a:r>
              <a:rPr dirty="0"/>
              <a:t> = "/</a:t>
            </a:r>
            <a:r>
              <a:rPr dirty="0" err="1"/>
              <a:t>mnt</a:t>
            </a:r>
            <a:r>
              <a:rPr dirty="0"/>
              <a:t>/data/llm_prompt_engineering_breast_cancer_v2.pptx"</a:t>
            </a:r>
          </a:p>
          <a:p>
            <a:r>
              <a:rPr dirty="0" err="1"/>
              <a:t>prs.save</a:t>
            </a:r>
            <a:r>
              <a:rPr dirty="0"/>
              <a:t>(</a:t>
            </a:r>
            <a:r>
              <a:rPr dirty="0" err="1"/>
              <a:t>file_path</a:t>
            </a:r>
            <a:r>
              <a:rPr dirty="0"/>
              <a:t>)</a:t>
            </a:r>
          </a:p>
          <a:p>
            <a:endParaRPr dirty="0"/>
          </a:p>
          <a:p>
            <a:r>
              <a:rPr dirty="0" err="1"/>
              <a:t>file_path</a:t>
            </a:r>
            <a:endParaRPr dirty="0"/>
          </a:p>
          <a:p>
            <a:endParaRPr dirty="0"/>
          </a:p>
          <a:p>
            <a:r>
              <a:rPr dirty="0"/>
              <a:t>Meta-prompting: A higher-order prompting strategy where the model is instructed on how to reason, structure outputs, and validate responses.</a:t>
            </a:r>
          </a:p>
          <a:p>
            <a:r>
              <a:rPr dirty="0"/>
              <a:t>Uses task-agnostic scaffolding to generalize across tasks.</a:t>
            </a:r>
          </a:p>
          <a:p>
            <a:r>
              <a:rPr dirty="0"/>
              <a:t>Improves consistency, reasoning reliability, and reduces hallucination.</a:t>
            </a:r>
          </a:p>
          <a:p>
            <a:r>
              <a:rPr dirty="0"/>
              <a:t>In this project: meta-prompts enforce evidence grounding, structured JSON outputs, and anti-fabrication rules.</a:t>
            </a:r>
          </a:p>
          <a:p>
            <a:r>
              <a:rPr dirty="0"/>
              <a:t>Acts as a control layer over base prompts rather than task-specific tuning.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F9CB4-3302-0D59-3416-238190F8D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B03FE-261B-C16B-434E-F645283CA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71129-6952-95B5-8ABF-5B3AD6FE00F9}"/>
              </a:ext>
            </a:extLst>
          </p:cNvPr>
          <p:cNvSpPr>
            <a:spLocks noGrp="1"/>
          </p:cNvSpPr>
          <p:nvPr>
            <p:ph type="body" idx="1"/>
          </p:nvPr>
        </p:nvSpPr>
        <p:spPr/>
        <p:txBody>
          <a:bodyPr/>
          <a:lstStyle/>
          <a:p>
            <a:r>
              <a:rPr lang="en-US" dirty="0"/>
              <a:t>While automated metrics such as BLEU and ROUGE provide reproducible comparisons, they do not fully capture clinically meaningful correctness or completeness. This limitation reflects a broader challenge in clinical NLP, where gold standards for summarization quality remain an active area of research.</a:t>
            </a:r>
          </a:p>
        </p:txBody>
      </p:sp>
      <p:sp>
        <p:nvSpPr>
          <p:cNvPr id="4" name="Slide Number Placeholder 3">
            <a:extLst>
              <a:ext uri="{FF2B5EF4-FFF2-40B4-BE49-F238E27FC236}">
                <a16:creationId xmlns:a16="http://schemas.microsoft.com/office/drawing/2014/main" id="{FDC96D7F-BD78-7B9B-2078-06CEA1855CFE}"/>
              </a:ext>
            </a:extLst>
          </p:cNvPr>
          <p:cNvSpPr>
            <a:spLocks noGrp="1"/>
          </p:cNvSpPr>
          <p:nvPr>
            <p:ph type="sldNum" sz="quarter" idx="5"/>
          </p:nvPr>
        </p:nvSpPr>
        <p:spPr/>
        <p:txBody>
          <a:bodyPr/>
          <a:lstStyle/>
          <a:p>
            <a:fld id="{B2635306-B3B1-A944-A64E-0A77BF937900}" type="slidenum">
              <a:rPr lang="en-US" smtClean="0"/>
              <a:t>20</a:t>
            </a:fld>
            <a:endParaRPr lang="en-US"/>
          </a:p>
        </p:txBody>
      </p:sp>
    </p:spTree>
    <p:extLst>
      <p:ext uri="{BB962C8B-B14F-4D97-AF65-F5344CB8AC3E}">
        <p14:creationId xmlns:p14="http://schemas.microsoft.com/office/powerpoint/2010/main" val="2943963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8F26E-8926-7BBF-D924-A315C81D9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0B80B-A04C-2E30-C7D2-ED9D8474D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28B00-8D26-C1AE-5825-8127EC55E864}"/>
              </a:ext>
            </a:extLst>
          </p:cNvPr>
          <p:cNvSpPr>
            <a:spLocks noGrp="1"/>
          </p:cNvSpPr>
          <p:nvPr>
            <p:ph type="body" idx="1"/>
          </p:nvPr>
        </p:nvSpPr>
        <p:spPr/>
        <p:txBody>
          <a:bodyPr/>
          <a:lstStyle/>
          <a:p>
            <a:r>
              <a:rPr lang="en-US" dirty="0"/>
              <a:t>This tool is intended as a clinical support system. Even with validation, it does not replace provider review, and key oncologic details must always be verified. Importantly, we view preservation of staff competency and workflow resilience as ethical requirements, not optional safeguards</a:t>
            </a:r>
          </a:p>
        </p:txBody>
      </p:sp>
      <p:sp>
        <p:nvSpPr>
          <p:cNvPr id="4" name="Slide Number Placeholder 3">
            <a:extLst>
              <a:ext uri="{FF2B5EF4-FFF2-40B4-BE49-F238E27FC236}">
                <a16:creationId xmlns:a16="http://schemas.microsoft.com/office/drawing/2014/main" id="{5EB4A030-AC72-137F-7A91-B38545CB0553}"/>
              </a:ext>
            </a:extLst>
          </p:cNvPr>
          <p:cNvSpPr>
            <a:spLocks noGrp="1"/>
          </p:cNvSpPr>
          <p:nvPr>
            <p:ph type="sldNum" sz="quarter" idx="5"/>
          </p:nvPr>
        </p:nvSpPr>
        <p:spPr/>
        <p:txBody>
          <a:bodyPr/>
          <a:lstStyle/>
          <a:p>
            <a:fld id="{B2635306-B3B1-A944-A64E-0A77BF937900}" type="slidenum">
              <a:rPr lang="en-US" smtClean="0"/>
              <a:t>21</a:t>
            </a:fld>
            <a:endParaRPr lang="en-US"/>
          </a:p>
        </p:txBody>
      </p:sp>
    </p:spTree>
    <p:extLst>
      <p:ext uri="{BB962C8B-B14F-4D97-AF65-F5344CB8AC3E}">
        <p14:creationId xmlns:p14="http://schemas.microsoft.com/office/powerpoint/2010/main" val="2352500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00417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1/2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10238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Blue">
    <p:bg>
      <p:bgPr>
        <a:solidFill>
          <a:schemeClr val="tx1"/>
        </a:solidFill>
        <a:effectLst/>
      </p:bgPr>
    </p:bg>
    <p:spTree>
      <p:nvGrpSpPr>
        <p:cNvPr id="1" name=""/>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855136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endParaRPr lang="en-US" dirty="0"/>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478799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Blue 1/2 Image">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171739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ODL">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C5E47407-2EC8-524C-85CD-E0BC1A1C8F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7" name="Footer Placeholder 6">
            <a:extLst>
              <a:ext uri="{FF2B5EF4-FFF2-40B4-BE49-F238E27FC236}">
                <a16:creationId xmlns:a16="http://schemas.microsoft.com/office/drawing/2014/main" id="{739AB803-A532-384B-A53A-B6D4C36E506C}"/>
              </a:ext>
            </a:extLst>
          </p:cNvPr>
          <p:cNvSpPr>
            <a:spLocks noGrp="1"/>
          </p:cNvSpPr>
          <p:nvPr>
            <p:ph type="ftr" sz="quarter" idx="14"/>
          </p:nvPr>
        </p:nvSpPr>
        <p:spPr/>
        <p:txBody>
          <a:bodyPr/>
          <a:lstStyle/>
          <a:p>
            <a:r>
              <a:rPr lang="en-US"/>
              <a:t>MSK Confidential — do not distribute</a:t>
            </a:r>
          </a:p>
        </p:txBody>
      </p:sp>
      <p:sp>
        <p:nvSpPr>
          <p:cNvPr id="2" name="Title 1"/>
          <p:cNvSpPr>
            <a:spLocks noGrp="1"/>
          </p:cNvSpPr>
          <p:nvPr>
            <p:ph type="ctrTitle" hasCustomPrompt="1"/>
          </p:nvPr>
        </p:nvSpPr>
        <p:spPr>
          <a:xfrm>
            <a:off x="504825" y="1920241"/>
            <a:ext cx="7419975"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5A9A0FEB-2318-1E41-A04B-A702497639C9}"/>
              </a:ext>
            </a:extLst>
          </p:cNvPr>
          <p:cNvSpPr>
            <a:spLocks noGrp="1"/>
          </p:cNvSpPr>
          <p:nvPr>
            <p:ph type="body" sz="quarter" idx="13" hasCustomPrompt="1"/>
          </p:nvPr>
        </p:nvSpPr>
        <p:spPr>
          <a:xfrm>
            <a:off x="504823" y="3566160"/>
            <a:ext cx="7419975"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123501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1/2 Image ODL">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708A9BD9-B4C1-F761-F29D-1A29B1DDDC1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04825" y="5582378"/>
            <a:ext cx="3505199" cy="738781"/>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tx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1" name="Text Placeholder 5">
            <a:extLst>
              <a:ext uri="{FF2B5EF4-FFF2-40B4-BE49-F238E27FC236}">
                <a16:creationId xmlns:a16="http://schemas.microsoft.com/office/drawing/2014/main" id="{31B503BD-4158-2C40-9E38-005D18DF3C41}"/>
              </a:ext>
            </a:extLst>
          </p:cNvPr>
          <p:cNvSpPr>
            <a:spLocks noGrp="1"/>
          </p:cNvSpPr>
          <p:nvPr>
            <p:ph type="body" sz="quarter" idx="13" hasCustomPrompt="1"/>
          </p:nvPr>
        </p:nvSpPr>
        <p:spPr>
          <a:xfrm>
            <a:off x="504823" y="3566160"/>
            <a:ext cx="5131971" cy="549249"/>
          </a:xfrm>
        </p:spPr>
        <p:txBody>
          <a:bodyPr/>
          <a:lstStyle>
            <a:lvl1pPr>
              <a:defRPr sz="3200">
                <a:solidFill>
                  <a:schemeClr val="accent1"/>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4035123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Blue ODL">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latin typeface="+mn-lt"/>
              </a:defRPr>
            </a:lvl1pPr>
          </a:lstStyle>
          <a:p>
            <a:r>
              <a:rPr lang="en-US"/>
              <a:t>MSK Confidential — do not distribute</a:t>
            </a:r>
          </a:p>
        </p:txBody>
      </p:sp>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261641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p:nvPr>
        </p:nvSpPr>
        <p:spPr>
          <a:xfrm>
            <a:off x="0" y="0"/>
            <a:ext cx="12192000" cy="6858000"/>
          </a:xfrm>
          <a:noFill/>
        </p:spPr>
        <p:txBody>
          <a:bodyPr/>
          <a:lstStyle>
            <a:lvl1pPr algn="l">
              <a:defRPr sz="1200">
                <a:solidFill>
                  <a:schemeClr val="bg1"/>
                </a:solidFill>
              </a:defRPr>
            </a:lvl1pPr>
          </a:lstStyle>
          <a:p>
            <a:r>
              <a:rPr lang="en-US"/>
              <a:t>Click icon to add picture</a:t>
            </a:r>
            <a:endParaRPr lang="en-US" dirty="0"/>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7" name="Graphic 6">
            <a:extLst>
              <a:ext uri="{FF2B5EF4-FFF2-40B4-BE49-F238E27FC236}">
                <a16:creationId xmlns:a16="http://schemas.microsoft.com/office/drawing/2014/main" id="{83797639-85AF-C0C6-DA9C-14EA9296F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5" y="1920240"/>
            <a:ext cx="7419975"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5" y="1371600"/>
            <a:ext cx="7419975"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2" name="Text Placeholder 5">
            <a:extLst>
              <a:ext uri="{FF2B5EF4-FFF2-40B4-BE49-F238E27FC236}">
                <a16:creationId xmlns:a16="http://schemas.microsoft.com/office/drawing/2014/main" id="{E99B368D-17E0-1440-9448-41A42D5E6456}"/>
              </a:ext>
            </a:extLst>
          </p:cNvPr>
          <p:cNvSpPr>
            <a:spLocks noGrp="1"/>
          </p:cNvSpPr>
          <p:nvPr>
            <p:ph type="body" sz="quarter" idx="13" hasCustomPrompt="1"/>
          </p:nvPr>
        </p:nvSpPr>
        <p:spPr>
          <a:xfrm>
            <a:off x="504823" y="3566160"/>
            <a:ext cx="7419975"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3549959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Blue 1/2 Image ODL">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A598385-0BD4-9F42-BC78-15B2A6F6CFA4}"/>
              </a:ext>
            </a:extLst>
          </p:cNvPr>
          <p:cNvSpPr>
            <a:spLocks noGrp="1"/>
          </p:cNvSpPr>
          <p:nvPr>
            <p:ph type="pic" sz="quarter" idx="11" hasCustomPrompt="1"/>
          </p:nvPr>
        </p:nvSpPr>
        <p:spPr>
          <a:xfrm>
            <a:off x="6096000" y="0"/>
            <a:ext cx="6096000" cy="6858000"/>
          </a:xfrm>
          <a:solidFill>
            <a:schemeClr val="bg1">
              <a:lumMod val="95000"/>
            </a:schemeClr>
          </a:solidFill>
        </p:spPr>
        <p:txBody>
          <a:bodyPr/>
          <a:lstStyle>
            <a:lvl1pPr algn="l">
              <a:defRPr sz="1200">
                <a:solidFill>
                  <a:srgbClr val="FF0000"/>
                </a:solidFill>
              </a:defRPr>
            </a:lvl1pPr>
          </a:lstStyle>
          <a:p>
            <a:r>
              <a:rPr lang="en-US" dirty="0"/>
              <a:t>Drag picture to placeholder or click icon to add</a:t>
            </a:r>
          </a:p>
        </p:txBody>
      </p:sp>
      <p:sp>
        <p:nvSpPr>
          <p:cNvPr id="22" name="Footer Placeholder 21">
            <a:extLst>
              <a:ext uri="{FF2B5EF4-FFF2-40B4-BE49-F238E27FC236}">
                <a16:creationId xmlns:a16="http://schemas.microsoft.com/office/drawing/2014/main" id="{7362EA3A-E7C3-1643-B148-AADECEDF26E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pic>
        <p:nvPicPr>
          <p:cNvPr id="12" name="Graphic 11">
            <a:extLst>
              <a:ext uri="{FF2B5EF4-FFF2-40B4-BE49-F238E27FC236}">
                <a16:creationId xmlns:a16="http://schemas.microsoft.com/office/drawing/2014/main" id="{E176EC07-7590-9014-296C-172578C5C04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4825" y="5580496"/>
            <a:ext cx="3514129" cy="740664"/>
          </a:xfrm>
          <a:prstGeom prst="rect">
            <a:avLst/>
          </a:prstGeom>
        </p:spPr>
      </p:pic>
      <p:sp>
        <p:nvSpPr>
          <p:cNvPr id="2" name="Title 1"/>
          <p:cNvSpPr>
            <a:spLocks noGrp="1"/>
          </p:cNvSpPr>
          <p:nvPr>
            <p:ph type="ctrTitle" hasCustomPrompt="1"/>
          </p:nvPr>
        </p:nvSpPr>
        <p:spPr>
          <a:xfrm>
            <a:off x="504826" y="1920240"/>
            <a:ext cx="5131970" cy="1508760"/>
          </a:xfrm>
        </p:spPr>
        <p:txBody>
          <a:bodyPr vert="horz" anchor="t"/>
          <a:lstStyle>
            <a:lvl1pPr algn="l">
              <a:defRPr sz="4800" b="1">
                <a:solidFill>
                  <a:schemeClr val="bg1"/>
                </a:solidFill>
              </a:defRPr>
            </a:lvl1pPr>
          </a:lstStyle>
          <a:p>
            <a:r>
              <a:rPr lang="en-US" dirty="0"/>
              <a:t>Click to add </a:t>
            </a:r>
            <a:br>
              <a:rPr lang="en-US" dirty="0"/>
            </a:br>
            <a:r>
              <a:rPr lang="en-US" dirty="0"/>
              <a:t>presentation title</a:t>
            </a:r>
          </a:p>
        </p:txBody>
      </p:sp>
      <p:sp>
        <p:nvSpPr>
          <p:cNvPr id="3" name="Subtitle 2"/>
          <p:cNvSpPr>
            <a:spLocks noGrp="1"/>
          </p:cNvSpPr>
          <p:nvPr>
            <p:ph type="subTitle" idx="1" hasCustomPrompt="1"/>
          </p:nvPr>
        </p:nvSpPr>
        <p:spPr>
          <a:xfrm>
            <a:off x="504826" y="1371600"/>
            <a:ext cx="5131970" cy="530693"/>
          </a:xfrm>
        </p:spPr>
        <p:txBody>
          <a:bodyPr anchor="t"/>
          <a:lstStyle>
            <a:lvl1pPr marL="0" indent="0" algn="l">
              <a:buNone/>
              <a:defRPr sz="32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Org/Dept/Lab name</a:t>
            </a:r>
          </a:p>
        </p:txBody>
      </p:sp>
      <p:sp>
        <p:nvSpPr>
          <p:cNvPr id="6" name="Text Placeholder 5">
            <a:extLst>
              <a:ext uri="{FF2B5EF4-FFF2-40B4-BE49-F238E27FC236}">
                <a16:creationId xmlns:a16="http://schemas.microsoft.com/office/drawing/2014/main" id="{1DA2E778-C602-5B40-8E0C-1BAE808E3694}"/>
              </a:ext>
            </a:extLst>
          </p:cNvPr>
          <p:cNvSpPr>
            <a:spLocks noGrp="1"/>
          </p:cNvSpPr>
          <p:nvPr>
            <p:ph type="body" sz="quarter" idx="12" hasCustomPrompt="1"/>
          </p:nvPr>
        </p:nvSpPr>
        <p:spPr>
          <a:xfrm>
            <a:off x="504825" y="4389120"/>
            <a:ext cx="3505201" cy="457200"/>
          </a:xfrm>
        </p:spPr>
        <p:txBody>
          <a:bodyPr/>
          <a:lstStyle>
            <a:lvl1pPr>
              <a:defRPr sz="14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Month 00, 20XX</a:t>
            </a:r>
          </a:p>
        </p:txBody>
      </p:sp>
      <p:sp>
        <p:nvSpPr>
          <p:cNvPr id="10" name="Text Placeholder 5">
            <a:extLst>
              <a:ext uri="{FF2B5EF4-FFF2-40B4-BE49-F238E27FC236}">
                <a16:creationId xmlns:a16="http://schemas.microsoft.com/office/drawing/2014/main" id="{E8ECE2AD-E262-0244-A779-32BC5B97C660}"/>
              </a:ext>
            </a:extLst>
          </p:cNvPr>
          <p:cNvSpPr>
            <a:spLocks noGrp="1"/>
          </p:cNvSpPr>
          <p:nvPr>
            <p:ph type="body" sz="quarter" idx="13" hasCustomPrompt="1"/>
          </p:nvPr>
        </p:nvSpPr>
        <p:spPr>
          <a:xfrm>
            <a:off x="504823" y="3566160"/>
            <a:ext cx="5131971" cy="549249"/>
          </a:xfrm>
        </p:spPr>
        <p:txBody>
          <a:bodyPr/>
          <a:lstStyle>
            <a:lvl1pPr>
              <a:defRPr sz="3200">
                <a:solidFill>
                  <a:schemeClr val="accent2"/>
                </a:solidFill>
              </a:defRPr>
            </a:lvl1pPr>
            <a:lvl2pPr marL="0" indent="0">
              <a:buNone/>
              <a:defRPr sz="1800">
                <a:solidFill>
                  <a:schemeClr val="accent2"/>
                </a:solidFill>
              </a:defRPr>
            </a:lvl2pPr>
            <a:lvl3pPr>
              <a:defRPr sz="1800">
                <a:solidFill>
                  <a:schemeClr val="accent2"/>
                </a:solidFill>
              </a:defRPr>
            </a:lvl3pPr>
            <a:lvl4pPr>
              <a:defRPr sz="1800">
                <a:solidFill>
                  <a:schemeClr val="accent2"/>
                </a:solidFill>
              </a:defRPr>
            </a:lvl4pPr>
            <a:lvl5pPr>
              <a:defRPr sz="1800">
                <a:solidFill>
                  <a:schemeClr val="accent2"/>
                </a:solidFill>
              </a:defRPr>
            </a:lvl5pPr>
          </a:lstStyle>
          <a:p>
            <a:pPr lvl="0"/>
            <a:r>
              <a:rPr lang="en-US" dirty="0"/>
              <a:t>Click to add subtitle</a:t>
            </a:r>
          </a:p>
        </p:txBody>
      </p:sp>
    </p:spTree>
    <p:extLst>
      <p:ext uri="{BB962C8B-B14F-4D97-AF65-F5344CB8AC3E}">
        <p14:creationId xmlns:p14="http://schemas.microsoft.com/office/powerpoint/2010/main" val="2297257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ivider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5"/>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Divider layouts</a:t>
            </a:r>
          </a:p>
        </p:txBody>
      </p:sp>
    </p:spTree>
    <p:extLst>
      <p:ext uri="{BB962C8B-B14F-4D97-AF65-F5344CB8AC3E}">
        <p14:creationId xmlns:p14="http://schemas.microsoft.com/office/powerpoint/2010/main" val="1695282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6D86FA2C-F8A6-90E8-5782-DF29638FC6C0}"/>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2">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tx1"/>
                </a:solidFill>
              </a:defRPr>
            </a:lvl1pPr>
          </a:lstStyle>
          <a:p>
            <a:r>
              <a:rPr lang="en-US" dirty="0"/>
              <a:t>This slide is for a divider, statement or takeaway.</a:t>
            </a:r>
          </a:p>
        </p:txBody>
      </p:sp>
    </p:spTree>
    <p:extLst>
      <p:ext uri="{BB962C8B-B14F-4D97-AF65-F5344CB8AC3E}">
        <p14:creationId xmlns:p14="http://schemas.microsoft.com/office/powerpoint/2010/main" val="4039597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Blue">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66FADEA-3B1D-38EC-A06D-527B0A9E3ADB}"/>
              </a:ext>
            </a:extLst>
          </p:cNvPr>
          <p:cNvSpPr/>
          <p:nvPr/>
        </p:nvSpPr>
        <p:spPr>
          <a:xfrm>
            <a:off x="6428802" y="483936"/>
            <a:ext cx="5763198" cy="6374064"/>
          </a:xfrm>
          <a:custGeom>
            <a:avLst/>
            <a:gdLst>
              <a:gd name="connsiteX0" fmla="*/ 3554522 w 5763198"/>
              <a:gd name="connsiteY0" fmla="*/ 1277148 h 6374064"/>
              <a:gd name="connsiteX1" fmla="*/ 4965198 w 5763198"/>
              <a:gd name="connsiteY1" fmla="*/ 2685220 h 6374064"/>
              <a:gd name="connsiteX2" fmla="*/ 4638987 w 5763198"/>
              <a:gd name="connsiteY2" fmla="*/ 3010816 h 6374064"/>
              <a:gd name="connsiteX3" fmla="*/ 3785164 w 5763198"/>
              <a:gd name="connsiteY3" fmla="*/ 2158571 h 6374064"/>
              <a:gd name="connsiteX4" fmla="*/ 3785164 w 5763198"/>
              <a:gd name="connsiteY4" fmla="*/ 3610576 h 6374064"/>
              <a:gd name="connsiteX5" fmla="*/ 4797652 w 5763198"/>
              <a:gd name="connsiteY5" fmla="*/ 3610576 h 6374064"/>
              <a:gd name="connsiteX6" fmla="*/ 4797652 w 5763198"/>
              <a:gd name="connsiteY6" fmla="*/ 4071018 h 6374064"/>
              <a:gd name="connsiteX7" fmla="*/ 3785164 w 5763198"/>
              <a:gd name="connsiteY7" fmla="*/ 4071018 h 6374064"/>
              <a:gd name="connsiteX8" fmla="*/ 3785164 w 5763198"/>
              <a:gd name="connsiteY8" fmla="*/ 4427325 h 6374064"/>
              <a:gd name="connsiteX9" fmla="*/ 4797652 w 5763198"/>
              <a:gd name="connsiteY9" fmla="*/ 4427325 h 6374064"/>
              <a:gd name="connsiteX10" fmla="*/ 4797652 w 5763198"/>
              <a:gd name="connsiteY10" fmla="*/ 4887800 h 6374064"/>
              <a:gd name="connsiteX11" fmla="*/ 3785164 w 5763198"/>
              <a:gd name="connsiteY11" fmla="*/ 4887800 h 6374064"/>
              <a:gd name="connsiteX12" fmla="*/ 3785164 w 5763198"/>
              <a:gd name="connsiteY12" fmla="*/ 5244106 h 6374064"/>
              <a:gd name="connsiteX13" fmla="*/ 4797652 w 5763198"/>
              <a:gd name="connsiteY13" fmla="*/ 5244106 h 6374064"/>
              <a:gd name="connsiteX14" fmla="*/ 4797652 w 5763198"/>
              <a:gd name="connsiteY14" fmla="*/ 5704548 h 6374064"/>
              <a:gd name="connsiteX15" fmla="*/ 3785164 w 5763198"/>
              <a:gd name="connsiteY15" fmla="*/ 5704548 h 6374064"/>
              <a:gd name="connsiteX16" fmla="*/ 3785164 w 5763198"/>
              <a:gd name="connsiteY16" fmla="*/ 6374064 h 6374064"/>
              <a:gd name="connsiteX17" fmla="*/ 3323858 w 5763198"/>
              <a:gd name="connsiteY17" fmla="*/ 6374064 h 6374064"/>
              <a:gd name="connsiteX18" fmla="*/ 3323858 w 5763198"/>
              <a:gd name="connsiteY18" fmla="*/ 5704548 h 6374064"/>
              <a:gd name="connsiteX19" fmla="*/ 2311348 w 5763198"/>
              <a:gd name="connsiteY19" fmla="*/ 5704548 h 6374064"/>
              <a:gd name="connsiteX20" fmla="*/ 2311348 w 5763198"/>
              <a:gd name="connsiteY20" fmla="*/ 5244106 h 6374064"/>
              <a:gd name="connsiteX21" fmla="*/ 3323858 w 5763198"/>
              <a:gd name="connsiteY21" fmla="*/ 5244106 h 6374064"/>
              <a:gd name="connsiteX22" fmla="*/ 3323858 w 5763198"/>
              <a:gd name="connsiteY22" fmla="*/ 4887800 h 6374064"/>
              <a:gd name="connsiteX23" fmla="*/ 2311348 w 5763198"/>
              <a:gd name="connsiteY23" fmla="*/ 4887800 h 6374064"/>
              <a:gd name="connsiteX24" fmla="*/ 2311348 w 5763198"/>
              <a:gd name="connsiteY24" fmla="*/ 4427325 h 6374064"/>
              <a:gd name="connsiteX25" fmla="*/ 3323858 w 5763198"/>
              <a:gd name="connsiteY25" fmla="*/ 4427325 h 6374064"/>
              <a:gd name="connsiteX26" fmla="*/ 3323858 w 5763198"/>
              <a:gd name="connsiteY26" fmla="*/ 4071018 h 6374064"/>
              <a:gd name="connsiteX27" fmla="*/ 2311348 w 5763198"/>
              <a:gd name="connsiteY27" fmla="*/ 4071018 h 6374064"/>
              <a:gd name="connsiteX28" fmla="*/ 2311348 w 5763198"/>
              <a:gd name="connsiteY28" fmla="*/ 3610576 h 6374064"/>
              <a:gd name="connsiteX29" fmla="*/ 3323858 w 5763198"/>
              <a:gd name="connsiteY29" fmla="*/ 3610576 h 6374064"/>
              <a:gd name="connsiteX30" fmla="*/ 3323858 w 5763198"/>
              <a:gd name="connsiteY30" fmla="*/ 2158603 h 6374064"/>
              <a:gd name="connsiteX31" fmla="*/ 2470036 w 5763198"/>
              <a:gd name="connsiteY31" fmla="*/ 3010816 h 6374064"/>
              <a:gd name="connsiteX32" fmla="*/ 2143825 w 5763198"/>
              <a:gd name="connsiteY32" fmla="*/ 2685220 h 6374064"/>
              <a:gd name="connsiteX33" fmla="*/ 3554490 w 5763198"/>
              <a:gd name="connsiteY33" fmla="*/ 0 h 6374064"/>
              <a:gd name="connsiteX34" fmla="*/ 5714575 w 5763198"/>
              <a:gd name="connsiteY34" fmla="*/ 582998 h 6374064"/>
              <a:gd name="connsiteX35" fmla="*/ 5763198 w 5763198"/>
              <a:gd name="connsiteY35" fmla="*/ 618804 h 6374064"/>
              <a:gd name="connsiteX36" fmla="*/ 5763198 w 5763198"/>
              <a:gd name="connsiteY36" fmla="*/ 1232611 h 6374064"/>
              <a:gd name="connsiteX37" fmla="*/ 5668108 w 5763198"/>
              <a:gd name="connsiteY37" fmla="*/ 1136723 h 6374064"/>
              <a:gd name="connsiteX38" fmla="*/ 3554490 w 5763198"/>
              <a:gd name="connsiteY38" fmla="*/ 460367 h 6374064"/>
              <a:gd name="connsiteX39" fmla="*/ 462581 w 5763198"/>
              <a:gd name="connsiteY39" fmla="*/ 3993976 h 6374064"/>
              <a:gd name="connsiteX40" fmla="*/ 897378 w 5763198"/>
              <a:gd name="connsiteY40" fmla="*/ 6147274 h 6374064"/>
              <a:gd name="connsiteX41" fmla="*/ 1033153 w 5763198"/>
              <a:gd name="connsiteY41" fmla="*/ 6374064 h 6374064"/>
              <a:gd name="connsiteX42" fmla="*/ 493028 w 5763198"/>
              <a:gd name="connsiteY42" fmla="*/ 6374064 h 6374064"/>
              <a:gd name="connsiteX43" fmla="*/ 348006 w 5763198"/>
              <a:gd name="connsiteY43" fmla="*/ 6063412 h 6374064"/>
              <a:gd name="connsiteX44" fmla="*/ 0 w 5763198"/>
              <a:gd name="connsiteY44" fmla="*/ 3993976 h 6374064"/>
              <a:gd name="connsiteX45" fmla="*/ 887775 w 5763198"/>
              <a:gd name="connsiteY45" fmla="*/ 1034018 h 6374064"/>
              <a:gd name="connsiteX46" fmla="*/ 3554490 w 5763198"/>
              <a:gd name="connsiteY46" fmla="*/ 0 h 637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63198" h="6374064">
                <a:moveTo>
                  <a:pt x="3554522" y="1277148"/>
                </a:moveTo>
                <a:lnTo>
                  <a:pt x="4965198" y="2685220"/>
                </a:lnTo>
                <a:lnTo>
                  <a:pt x="4638987" y="3010816"/>
                </a:lnTo>
                <a:lnTo>
                  <a:pt x="3785164" y="2158571"/>
                </a:lnTo>
                <a:lnTo>
                  <a:pt x="3785164" y="3610576"/>
                </a:lnTo>
                <a:lnTo>
                  <a:pt x="4797652" y="3610576"/>
                </a:lnTo>
                <a:lnTo>
                  <a:pt x="4797652" y="4071018"/>
                </a:lnTo>
                <a:lnTo>
                  <a:pt x="3785164" y="4071018"/>
                </a:lnTo>
                <a:lnTo>
                  <a:pt x="3785164" y="4427325"/>
                </a:lnTo>
                <a:lnTo>
                  <a:pt x="4797652" y="4427325"/>
                </a:lnTo>
                <a:lnTo>
                  <a:pt x="4797652" y="4887800"/>
                </a:lnTo>
                <a:lnTo>
                  <a:pt x="3785164" y="4887800"/>
                </a:lnTo>
                <a:lnTo>
                  <a:pt x="3785164" y="5244106"/>
                </a:lnTo>
                <a:lnTo>
                  <a:pt x="4797652" y="5244106"/>
                </a:lnTo>
                <a:lnTo>
                  <a:pt x="4797652" y="5704548"/>
                </a:lnTo>
                <a:lnTo>
                  <a:pt x="3785164" y="5704548"/>
                </a:lnTo>
                <a:lnTo>
                  <a:pt x="3785164" y="6374064"/>
                </a:lnTo>
                <a:lnTo>
                  <a:pt x="3323858" y="6374064"/>
                </a:lnTo>
                <a:lnTo>
                  <a:pt x="3323858" y="5704548"/>
                </a:lnTo>
                <a:lnTo>
                  <a:pt x="2311348" y="5704548"/>
                </a:lnTo>
                <a:lnTo>
                  <a:pt x="2311348" y="5244106"/>
                </a:lnTo>
                <a:lnTo>
                  <a:pt x="3323858" y="5244106"/>
                </a:lnTo>
                <a:lnTo>
                  <a:pt x="3323858" y="4887800"/>
                </a:lnTo>
                <a:lnTo>
                  <a:pt x="2311348" y="4887800"/>
                </a:lnTo>
                <a:lnTo>
                  <a:pt x="2311348" y="4427325"/>
                </a:lnTo>
                <a:lnTo>
                  <a:pt x="3323858" y="4427325"/>
                </a:lnTo>
                <a:lnTo>
                  <a:pt x="3323858" y="4071018"/>
                </a:lnTo>
                <a:lnTo>
                  <a:pt x="2311348" y="4071018"/>
                </a:lnTo>
                <a:lnTo>
                  <a:pt x="2311348" y="3610576"/>
                </a:lnTo>
                <a:lnTo>
                  <a:pt x="3323858" y="3610576"/>
                </a:lnTo>
                <a:lnTo>
                  <a:pt x="3323858" y="2158603"/>
                </a:lnTo>
                <a:lnTo>
                  <a:pt x="2470036" y="3010816"/>
                </a:lnTo>
                <a:lnTo>
                  <a:pt x="2143825" y="2685220"/>
                </a:lnTo>
                <a:close/>
                <a:moveTo>
                  <a:pt x="3554490" y="0"/>
                </a:moveTo>
                <a:cubicBezTo>
                  <a:pt x="4429874" y="0"/>
                  <a:pt x="5153422" y="195695"/>
                  <a:pt x="5714575" y="582998"/>
                </a:cubicBezTo>
                <a:lnTo>
                  <a:pt x="5763198" y="618804"/>
                </a:lnTo>
                <a:lnTo>
                  <a:pt x="5763198" y="1232611"/>
                </a:lnTo>
                <a:lnTo>
                  <a:pt x="5668108" y="1136723"/>
                </a:lnTo>
                <a:cubicBezTo>
                  <a:pt x="5160837" y="685819"/>
                  <a:pt x="4456297" y="460367"/>
                  <a:pt x="3554490" y="460367"/>
                </a:cubicBezTo>
                <a:cubicBezTo>
                  <a:pt x="1493207" y="460367"/>
                  <a:pt x="462581" y="1638240"/>
                  <a:pt x="462581" y="3993976"/>
                </a:cubicBezTo>
                <a:cubicBezTo>
                  <a:pt x="462581" y="4877377"/>
                  <a:pt x="607513" y="5595144"/>
                  <a:pt x="897378" y="6147274"/>
                </a:cubicBezTo>
                <a:lnTo>
                  <a:pt x="1033153" y="6374064"/>
                </a:lnTo>
                <a:lnTo>
                  <a:pt x="493028" y="6374064"/>
                </a:lnTo>
                <a:lnTo>
                  <a:pt x="348006" y="6063412"/>
                </a:lnTo>
                <a:cubicBezTo>
                  <a:pt x="116679" y="5494171"/>
                  <a:pt x="0" y="4802111"/>
                  <a:pt x="0" y="3993976"/>
                </a:cubicBezTo>
                <a:cubicBezTo>
                  <a:pt x="0" y="2700970"/>
                  <a:pt x="298698" y="1705096"/>
                  <a:pt x="887775" y="1034018"/>
                </a:cubicBezTo>
                <a:cubicBezTo>
                  <a:pt x="1490095" y="347903"/>
                  <a:pt x="2387300" y="0"/>
                  <a:pt x="3554490" y="0"/>
                </a:cubicBezTo>
                <a:close/>
              </a:path>
            </a:pathLst>
          </a:custGeom>
          <a:solidFill>
            <a:schemeClr val="accent1">
              <a:alpha val="25000"/>
            </a:schemeClr>
          </a:solidFill>
          <a:ln w="3001"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990CE4FF-62C5-5C44-AE4A-3D38634FF8CF}"/>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3278743C-5E55-7D4C-9CFF-3A25EB7EE36F}"/>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504825" y="1371600"/>
            <a:ext cx="7419975" cy="4718050"/>
          </a:xfrm>
        </p:spPr>
        <p:txBody>
          <a:bodyPr vert="horz" anchor="ctr"/>
          <a:lstStyle>
            <a:lvl1pPr>
              <a:defRPr sz="4800" b="1">
                <a:solidFill>
                  <a:schemeClr val="bg1"/>
                </a:solidFill>
              </a:defRPr>
            </a:lvl1pPr>
          </a:lstStyle>
          <a:p>
            <a:r>
              <a:rPr lang="en-US" dirty="0"/>
              <a:t>This slide is for a divider, statement or takeaway.</a:t>
            </a:r>
          </a:p>
        </p:txBody>
      </p:sp>
    </p:spTree>
    <p:extLst>
      <p:ext uri="{BB962C8B-B14F-4D97-AF65-F5344CB8AC3E}">
        <p14:creationId xmlns:p14="http://schemas.microsoft.com/office/powerpoint/2010/main" val="74695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Only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Only + Content layouts</a:t>
            </a:r>
          </a:p>
        </p:txBody>
      </p:sp>
    </p:spTree>
    <p:extLst>
      <p:ext uri="{BB962C8B-B14F-4D97-AF65-F5344CB8AC3E}">
        <p14:creationId xmlns:p14="http://schemas.microsoft.com/office/powerpoint/2010/main" val="4166939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58550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747819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272651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7551346"/>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our Charts">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1"/>
            <a:ext cx="11184423" cy="545670"/>
          </a:xfrm>
        </p:spPr>
        <p:txBody>
          <a:bodyPr vert="horz"/>
          <a:lstStyle/>
          <a:p>
            <a:r>
              <a:rPr lang="en-US" dirty="0"/>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lvl1pPr>
          </a:lstStyle>
          <a:p>
            <a:pPr lvl="0"/>
            <a:r>
              <a:rPr lang="en-US" dirty="0"/>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lvl1pPr>
          </a:lstStyle>
          <a:p>
            <a:pPr lvl="0"/>
            <a:r>
              <a:rPr lang="en-US" dirty="0"/>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lvl1pPr>
          </a:lstStyle>
          <a:p>
            <a:pPr lvl="0"/>
            <a:r>
              <a:rPr lang="en-US" dirty="0"/>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lvl1pPr>
          </a:lstStyle>
          <a:p>
            <a:pPr lvl="0"/>
            <a:r>
              <a:rPr lang="en-US" dirty="0"/>
              <a:t>Chart title</a:t>
            </a:r>
          </a:p>
        </p:txBody>
      </p:sp>
    </p:spTree>
    <p:extLst>
      <p:ext uri="{BB962C8B-B14F-4D97-AF65-F5344CB8AC3E}">
        <p14:creationId xmlns:p14="http://schemas.microsoft.com/office/powerpoint/2010/main" val="206540901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p>
            <a:r>
              <a:rPr lang="en-US" dirty="0"/>
              <a:t>Slide title; Arial 32pt bold, sentence case. This layout accommodates a title that extends downward to a 2nd line.</a:t>
            </a:r>
          </a:p>
        </p:txBody>
      </p:sp>
    </p:spTree>
    <p:extLst>
      <p:ext uri="{BB962C8B-B14F-4D97-AF65-F5344CB8AC3E}">
        <p14:creationId xmlns:p14="http://schemas.microsoft.com/office/powerpoint/2010/main" val="1288333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Tree>
    <p:extLst>
      <p:ext uri="{BB962C8B-B14F-4D97-AF65-F5344CB8AC3E}">
        <p14:creationId xmlns:p14="http://schemas.microsoft.com/office/powerpoint/2010/main" val="648396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3971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331454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6239877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2172272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Charts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1"/>
            <a:ext cx="11184423" cy="545670"/>
          </a:xfrm>
        </p:spPr>
        <p:txBody>
          <a:bodyPr vert="horz"/>
          <a:lstStyle>
            <a:lvl1pPr>
              <a:defRPr>
                <a:solidFill>
                  <a:schemeClr val="bg1"/>
                </a:solidFill>
              </a:defRPr>
            </a:lvl1pPr>
          </a:lstStyle>
          <a:p>
            <a:r>
              <a:rPr lang="en-US" dirty="0"/>
              <a:t>Slide title; Arial 32pt bold, sentence case (1 line)</a:t>
            </a:r>
          </a:p>
        </p:txBody>
      </p:sp>
      <p:cxnSp>
        <p:nvCxnSpPr>
          <p:cNvPr id="11" name="Straight Connector 10">
            <a:extLst>
              <a:ext uri="{FF2B5EF4-FFF2-40B4-BE49-F238E27FC236}">
                <a16:creationId xmlns:a16="http://schemas.microsoft.com/office/drawing/2014/main" id="{869F89A7-422D-6E43-B01B-1C31D8C92DF7}"/>
              </a:ext>
            </a:extLst>
          </p:cNvPr>
          <p:cNvCxnSpPr>
            <a:cxnSpLocks/>
          </p:cNvCxnSpPr>
          <p:nvPr/>
        </p:nvCxnSpPr>
        <p:spPr>
          <a:xfrm>
            <a:off x="6096000" y="1245991"/>
            <a:ext cx="0" cy="503722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854DB1-6F60-374F-85D1-2078301A4756}"/>
              </a:ext>
            </a:extLst>
          </p:cNvPr>
          <p:cNvCxnSpPr>
            <a:cxnSpLocks/>
          </p:cNvCxnSpPr>
          <p:nvPr/>
        </p:nvCxnSpPr>
        <p:spPr>
          <a:xfrm>
            <a:off x="514662" y="3672114"/>
            <a:ext cx="111626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Chart Placeholder 5">
            <a:extLst>
              <a:ext uri="{FF2B5EF4-FFF2-40B4-BE49-F238E27FC236}">
                <a16:creationId xmlns:a16="http://schemas.microsoft.com/office/drawing/2014/main" id="{2EECEB55-4129-C142-B378-69A5542D932F}"/>
              </a:ext>
            </a:extLst>
          </p:cNvPr>
          <p:cNvSpPr>
            <a:spLocks noGrp="1"/>
          </p:cNvSpPr>
          <p:nvPr>
            <p:ph type="chart" sz="quarter" idx="13"/>
          </p:nvPr>
        </p:nvSpPr>
        <p:spPr>
          <a:xfrm>
            <a:off x="1965882" y="1245991"/>
            <a:ext cx="3772813" cy="2286388"/>
          </a:xfrm>
        </p:spPr>
        <p:txBody>
          <a:bodyPr/>
          <a:lstStyle>
            <a:lvl1pPr>
              <a:defRPr sz="1200">
                <a:solidFill>
                  <a:srgbClr val="FF0000"/>
                </a:solidFill>
              </a:defRPr>
            </a:lvl1pPr>
          </a:lstStyle>
          <a:p>
            <a:r>
              <a:rPr lang="en-US"/>
              <a:t>Click icon to add chart</a:t>
            </a:r>
          </a:p>
        </p:txBody>
      </p:sp>
      <p:sp>
        <p:nvSpPr>
          <p:cNvPr id="16" name="Text Placeholder 15">
            <a:extLst>
              <a:ext uri="{FF2B5EF4-FFF2-40B4-BE49-F238E27FC236}">
                <a16:creationId xmlns:a16="http://schemas.microsoft.com/office/drawing/2014/main" id="{88A2C02F-6913-2B43-A60C-B20E91E2B847}"/>
              </a:ext>
            </a:extLst>
          </p:cNvPr>
          <p:cNvSpPr>
            <a:spLocks noGrp="1"/>
          </p:cNvSpPr>
          <p:nvPr>
            <p:ph type="body" sz="quarter" idx="14" hasCustomPrompt="1"/>
          </p:nvPr>
        </p:nvSpPr>
        <p:spPr>
          <a:xfrm>
            <a:off x="512063" y="1246188"/>
            <a:ext cx="1103106" cy="1073920"/>
          </a:xfrm>
        </p:spPr>
        <p:txBody>
          <a:bodyPr/>
          <a:lstStyle>
            <a:lvl1pPr>
              <a:defRPr b="1">
                <a:solidFill>
                  <a:schemeClr val="bg1"/>
                </a:solidFill>
              </a:defRPr>
            </a:lvl1pPr>
          </a:lstStyle>
          <a:p>
            <a:pPr lvl="0"/>
            <a:r>
              <a:rPr lang="en-US" dirty="0"/>
              <a:t>Chart title</a:t>
            </a:r>
          </a:p>
        </p:txBody>
      </p:sp>
      <p:sp>
        <p:nvSpPr>
          <p:cNvPr id="19" name="Chart Placeholder 5">
            <a:extLst>
              <a:ext uri="{FF2B5EF4-FFF2-40B4-BE49-F238E27FC236}">
                <a16:creationId xmlns:a16="http://schemas.microsoft.com/office/drawing/2014/main" id="{FBED512D-1416-8241-B26E-2C62760A3337}"/>
              </a:ext>
            </a:extLst>
          </p:cNvPr>
          <p:cNvSpPr>
            <a:spLocks noGrp="1"/>
          </p:cNvSpPr>
          <p:nvPr>
            <p:ph type="chart" sz="quarter" idx="15"/>
          </p:nvPr>
        </p:nvSpPr>
        <p:spPr>
          <a:xfrm>
            <a:off x="7900534" y="1245991"/>
            <a:ext cx="3772813" cy="2286388"/>
          </a:xfrm>
        </p:spPr>
        <p:txBody>
          <a:bodyPr/>
          <a:lstStyle>
            <a:lvl1pPr>
              <a:defRPr sz="1200">
                <a:solidFill>
                  <a:srgbClr val="FF0000"/>
                </a:solidFill>
              </a:defRPr>
            </a:lvl1pPr>
          </a:lstStyle>
          <a:p>
            <a:r>
              <a:rPr lang="en-US"/>
              <a:t>Click icon to add chart</a:t>
            </a:r>
          </a:p>
        </p:txBody>
      </p:sp>
      <p:sp>
        <p:nvSpPr>
          <p:cNvPr id="20" name="Text Placeholder 15">
            <a:extLst>
              <a:ext uri="{FF2B5EF4-FFF2-40B4-BE49-F238E27FC236}">
                <a16:creationId xmlns:a16="http://schemas.microsoft.com/office/drawing/2014/main" id="{AA19A0ED-BA56-C641-9FF8-E82F9484CB2A}"/>
              </a:ext>
            </a:extLst>
          </p:cNvPr>
          <p:cNvSpPr>
            <a:spLocks noGrp="1"/>
          </p:cNvSpPr>
          <p:nvPr>
            <p:ph type="body" sz="quarter" idx="16" hasCustomPrompt="1"/>
          </p:nvPr>
        </p:nvSpPr>
        <p:spPr>
          <a:xfrm>
            <a:off x="6446715" y="1246188"/>
            <a:ext cx="1103106" cy="1073920"/>
          </a:xfrm>
        </p:spPr>
        <p:txBody>
          <a:bodyPr/>
          <a:lstStyle>
            <a:lvl1pPr>
              <a:defRPr b="1">
                <a:solidFill>
                  <a:schemeClr val="bg1"/>
                </a:solidFill>
              </a:defRPr>
            </a:lvl1pPr>
          </a:lstStyle>
          <a:p>
            <a:pPr lvl="0"/>
            <a:r>
              <a:rPr lang="en-US" dirty="0"/>
              <a:t>Chart title</a:t>
            </a:r>
          </a:p>
        </p:txBody>
      </p:sp>
      <p:sp>
        <p:nvSpPr>
          <p:cNvPr id="21" name="Chart Placeholder 5">
            <a:extLst>
              <a:ext uri="{FF2B5EF4-FFF2-40B4-BE49-F238E27FC236}">
                <a16:creationId xmlns:a16="http://schemas.microsoft.com/office/drawing/2014/main" id="{411CA850-8503-9541-BEA4-672B310F90A7}"/>
              </a:ext>
            </a:extLst>
          </p:cNvPr>
          <p:cNvSpPr>
            <a:spLocks noGrp="1"/>
          </p:cNvSpPr>
          <p:nvPr>
            <p:ph type="chart" sz="quarter" idx="17"/>
          </p:nvPr>
        </p:nvSpPr>
        <p:spPr>
          <a:xfrm>
            <a:off x="1965882" y="3996819"/>
            <a:ext cx="3772813" cy="2286388"/>
          </a:xfrm>
        </p:spPr>
        <p:txBody>
          <a:bodyPr/>
          <a:lstStyle>
            <a:lvl1pPr>
              <a:defRPr sz="1200">
                <a:solidFill>
                  <a:srgbClr val="FF0000"/>
                </a:solidFill>
              </a:defRPr>
            </a:lvl1pPr>
          </a:lstStyle>
          <a:p>
            <a:r>
              <a:rPr lang="en-US"/>
              <a:t>Click icon to add chart</a:t>
            </a:r>
          </a:p>
        </p:txBody>
      </p:sp>
      <p:sp>
        <p:nvSpPr>
          <p:cNvPr id="22" name="Text Placeholder 15">
            <a:extLst>
              <a:ext uri="{FF2B5EF4-FFF2-40B4-BE49-F238E27FC236}">
                <a16:creationId xmlns:a16="http://schemas.microsoft.com/office/drawing/2014/main" id="{9DAD6729-5DDE-B249-8CA6-D07213AF42CF}"/>
              </a:ext>
            </a:extLst>
          </p:cNvPr>
          <p:cNvSpPr>
            <a:spLocks noGrp="1"/>
          </p:cNvSpPr>
          <p:nvPr>
            <p:ph type="body" sz="quarter" idx="18" hasCustomPrompt="1"/>
          </p:nvPr>
        </p:nvSpPr>
        <p:spPr>
          <a:xfrm>
            <a:off x="512063" y="3997016"/>
            <a:ext cx="1103106" cy="1073920"/>
          </a:xfrm>
        </p:spPr>
        <p:txBody>
          <a:bodyPr/>
          <a:lstStyle>
            <a:lvl1pPr>
              <a:defRPr b="1">
                <a:solidFill>
                  <a:schemeClr val="bg1"/>
                </a:solidFill>
              </a:defRPr>
            </a:lvl1pPr>
          </a:lstStyle>
          <a:p>
            <a:pPr lvl="0"/>
            <a:r>
              <a:rPr lang="en-US" dirty="0"/>
              <a:t>Chart title</a:t>
            </a:r>
          </a:p>
        </p:txBody>
      </p:sp>
      <p:sp>
        <p:nvSpPr>
          <p:cNvPr id="23" name="Chart Placeholder 5">
            <a:extLst>
              <a:ext uri="{FF2B5EF4-FFF2-40B4-BE49-F238E27FC236}">
                <a16:creationId xmlns:a16="http://schemas.microsoft.com/office/drawing/2014/main" id="{CE4A6E97-2092-E146-9440-ACDFA4D9DC57}"/>
              </a:ext>
            </a:extLst>
          </p:cNvPr>
          <p:cNvSpPr>
            <a:spLocks noGrp="1"/>
          </p:cNvSpPr>
          <p:nvPr>
            <p:ph type="chart" sz="quarter" idx="19"/>
          </p:nvPr>
        </p:nvSpPr>
        <p:spPr>
          <a:xfrm>
            <a:off x="7900534" y="3996819"/>
            <a:ext cx="3772813" cy="2286388"/>
          </a:xfrm>
        </p:spPr>
        <p:txBody>
          <a:bodyPr/>
          <a:lstStyle>
            <a:lvl1pPr>
              <a:defRPr sz="1200">
                <a:solidFill>
                  <a:srgbClr val="FF0000"/>
                </a:solidFill>
              </a:defRPr>
            </a:lvl1pPr>
          </a:lstStyle>
          <a:p>
            <a:r>
              <a:rPr lang="en-US"/>
              <a:t>Click icon to add chart</a:t>
            </a:r>
          </a:p>
        </p:txBody>
      </p:sp>
      <p:sp>
        <p:nvSpPr>
          <p:cNvPr id="24" name="Text Placeholder 15">
            <a:extLst>
              <a:ext uri="{FF2B5EF4-FFF2-40B4-BE49-F238E27FC236}">
                <a16:creationId xmlns:a16="http://schemas.microsoft.com/office/drawing/2014/main" id="{D8573F34-F275-3047-800C-0AE4F271C6B8}"/>
              </a:ext>
            </a:extLst>
          </p:cNvPr>
          <p:cNvSpPr>
            <a:spLocks noGrp="1"/>
          </p:cNvSpPr>
          <p:nvPr>
            <p:ph type="body" sz="quarter" idx="20" hasCustomPrompt="1"/>
          </p:nvPr>
        </p:nvSpPr>
        <p:spPr>
          <a:xfrm>
            <a:off x="6446715" y="3997016"/>
            <a:ext cx="1103106" cy="1073920"/>
          </a:xfrm>
        </p:spPr>
        <p:txBody>
          <a:bodyPr/>
          <a:lstStyle>
            <a:lvl1pPr>
              <a:defRPr b="1">
                <a:solidFill>
                  <a:schemeClr val="bg1"/>
                </a:solidFill>
              </a:defRPr>
            </a:lvl1pPr>
          </a:lstStyle>
          <a:p>
            <a:pPr lvl="0"/>
            <a:r>
              <a:rPr lang="en-US" dirty="0"/>
              <a:t>Chart title</a:t>
            </a:r>
          </a:p>
        </p:txBody>
      </p:sp>
    </p:spTree>
    <p:extLst>
      <p:ext uri="{BB962C8B-B14F-4D97-AF65-F5344CB8AC3E}">
        <p14:creationId xmlns:p14="http://schemas.microsoft.com/office/powerpoint/2010/main" val="4239586380"/>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p:txBody>
          <a:bodyPr vert="horz"/>
          <a:lstStyle>
            <a:lvl1pPr>
              <a:defRPr>
                <a:solidFill>
                  <a:schemeClr val="bg1"/>
                </a:solidFill>
              </a:defRPr>
            </a:lvl1pPr>
          </a:lstStyle>
          <a:p>
            <a:r>
              <a:rPr lang="en-US" dirty="0"/>
              <a:t>Slide title; Arial 32pt bold, sentence case. This layout accommodates a title that extends downward to a 2nd line.</a:t>
            </a:r>
          </a:p>
        </p:txBody>
      </p:sp>
    </p:spTree>
    <p:extLst>
      <p:ext uri="{BB962C8B-B14F-4D97-AF65-F5344CB8AC3E}">
        <p14:creationId xmlns:p14="http://schemas.microsoft.com/office/powerpoint/2010/main" val="29838077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Blue">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128E978-662F-C447-A394-0BFDCC3348A4}"/>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6" name="Slide Number Placeholder 5">
            <a:extLst>
              <a:ext uri="{FF2B5EF4-FFF2-40B4-BE49-F238E27FC236}">
                <a16:creationId xmlns:a16="http://schemas.microsoft.com/office/drawing/2014/main" id="{BE1BF1AE-67E6-D446-9A89-2B8C3A9901F5}"/>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note Placeholder">
            <a:extLst>
              <a:ext uri="{FF2B5EF4-FFF2-40B4-BE49-F238E27FC236}">
                <a16:creationId xmlns:a16="http://schemas.microsoft.com/office/drawing/2014/main" id="{900719BC-444F-1F41-A58F-CF38F8649706}"/>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Tree>
    <p:extLst>
      <p:ext uri="{BB962C8B-B14F-4D97-AF65-F5344CB8AC3E}">
        <p14:creationId xmlns:p14="http://schemas.microsoft.com/office/powerpoint/2010/main" val="2837257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Title Eyebrow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and Subtitle-Above layouts</a:t>
            </a:r>
          </a:p>
        </p:txBody>
      </p:sp>
    </p:spTree>
    <p:extLst>
      <p:ext uri="{BB962C8B-B14F-4D97-AF65-F5344CB8AC3E}">
        <p14:creationId xmlns:p14="http://schemas.microsoft.com/office/powerpoint/2010/main" val="17607441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btitle-A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89571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ubtitle-A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77533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Subtitle-A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7"/>
            <a:ext cx="5126736" cy="555813"/>
          </a:xfrm>
        </p:spPr>
        <p:txBody>
          <a:bodyPr vert="horz"/>
          <a:lstStyle/>
          <a:p>
            <a:r>
              <a:rPr lang="en-US" dirty="0"/>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42134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26601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ubtitle-A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615372"/>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ubtitle-A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4481441"/>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ubtitle-A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32092329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ubtitle-A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1750535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ubtitle-A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8965"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bg1"/>
                </a:solidFill>
              </a:defRPr>
            </a:lvl1pPr>
          </a:lstStyle>
          <a:p>
            <a:r>
              <a:rPr lang="en-US" dirty="0"/>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0911363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ubtitle-A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815786"/>
            <a:ext cx="3412236" cy="1429677"/>
          </a:xfrm>
        </p:spPr>
        <p:txBody>
          <a:bodyPr vert="horz"/>
          <a:lstStyle>
            <a:lvl1pPr>
              <a:defRPr>
                <a:solidFill>
                  <a:schemeClr val="tx1"/>
                </a:solidFill>
              </a:defRPr>
            </a:lvl1pPr>
          </a:lstStyle>
          <a:p>
            <a:r>
              <a:rPr lang="en-US" dirty="0"/>
              <a:t>Short slide title; Arial 32pt bold</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42134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0171857"/>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ubtitle-A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421340"/>
            <a:ext cx="11184422" cy="295276"/>
          </a:xfrm>
        </p:spPr>
        <p:txBody>
          <a:bodyPr anchor="b"/>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83358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ubtitle-A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75479859"/>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ubtitle-A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485263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ubtitle-A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51650005"/>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ubtitle-A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31007870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ntent Title and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1997839"/>
            <a:ext cx="12191999" cy="2862322"/>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Title and Subtitle-Below layouts</a:t>
            </a:r>
          </a:p>
        </p:txBody>
      </p:sp>
    </p:spTree>
    <p:extLst>
      <p:ext uri="{BB962C8B-B14F-4D97-AF65-F5344CB8AC3E}">
        <p14:creationId xmlns:p14="http://schemas.microsoft.com/office/powerpoint/2010/main" val="4931743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ubtitle-B + Conten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5" name="Title 4">
            <a:extLst>
              <a:ext uri="{FF2B5EF4-FFF2-40B4-BE49-F238E27FC236}">
                <a16:creationId xmlns:a16="http://schemas.microsoft.com/office/drawing/2014/main" id="{39313C93-2B4C-9844-9284-03EC104B15BA}"/>
              </a:ext>
            </a:extLst>
          </p:cNvPr>
          <p:cNvSpPr>
            <a:spLocks noGrp="1"/>
          </p:cNvSpPr>
          <p:nvPr>
            <p:ph type="title" hasCustomPrompt="1"/>
          </p:nvPr>
        </p:nvSpPr>
        <p:spPr>
          <a:xfrm>
            <a:off x="512063" y="457201"/>
            <a:ext cx="11184423" cy="557784"/>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6C7144E-2BC5-BB49-A627-9076B48806A8}"/>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06467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ubtitle-B + Two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2582284"/>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ubtitle-B + Content Half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256062-B5BB-6048-9E24-6C230ACEACFF}"/>
              </a:ext>
            </a:extLst>
          </p:cNvPr>
          <p:cNvSpPr/>
          <p:nvPr/>
        </p:nvSpPr>
        <p:spPr>
          <a:xfrm>
            <a:off x="6096001"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CD4D23E9-F985-964A-8260-25166ABD836C}"/>
              </a:ext>
            </a:extLst>
          </p:cNvPr>
          <p:cNvSpPr/>
          <p:nvPr/>
        </p:nvSpPr>
        <p:spPr>
          <a:xfrm rot="5400000">
            <a:off x="5899286" y="3271798"/>
            <a:ext cx="685800" cy="31440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5143286"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0"/>
            <a:ext cx="5126736" cy="555813"/>
          </a:xfrm>
        </p:spPr>
        <p:txBody>
          <a:bodyPr vert="horz"/>
          <a:lstStyle/>
          <a:p>
            <a:r>
              <a:rPr lang="en-US" dirty="0"/>
              <a:t>Slide title; short (1 line)</a:t>
            </a:r>
          </a:p>
        </p:txBody>
      </p:sp>
      <p:sp>
        <p:nvSpPr>
          <p:cNvPr id="11" name="Text Placeholder 2">
            <a:extLst>
              <a:ext uri="{FF2B5EF4-FFF2-40B4-BE49-F238E27FC236}">
                <a16:creationId xmlns:a16="http://schemas.microsoft.com/office/drawing/2014/main" id="{D75F0135-B47D-BE40-8017-A3CF8C838B58}"/>
              </a:ext>
            </a:extLst>
          </p:cNvPr>
          <p:cNvSpPr>
            <a:spLocks noGrp="1"/>
          </p:cNvSpPr>
          <p:nvPr>
            <p:ph type="body" idx="13" hasCustomPrompt="1"/>
          </p:nvPr>
        </p:nvSpPr>
        <p:spPr>
          <a:xfrm>
            <a:off x="512064" y="1051560"/>
            <a:ext cx="51267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short (1 line)</a:t>
            </a:r>
          </a:p>
        </p:txBody>
      </p:sp>
      <p:sp>
        <p:nvSpPr>
          <p:cNvPr id="3" name="Content Placeholder 2"/>
          <p:cNvSpPr>
            <a:spLocks noGrp="1"/>
          </p:cNvSpPr>
          <p:nvPr>
            <p:ph sz="half" idx="1" hasCustomPrompt="1"/>
          </p:nvPr>
        </p:nvSpPr>
        <p:spPr>
          <a:xfrm>
            <a:off x="512064" y="1698625"/>
            <a:ext cx="5126736"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41739946"/>
      </p:ext>
    </p:extLst>
  </p:cSld>
  <p:clrMapOvr>
    <a:masterClrMapping/>
  </p:clrMapOvr>
  <p:extLst>
    <p:ext uri="{DCECCB84-F9BA-43D5-87BE-67443E8EF086}">
      <p15:sldGuideLst xmlns:p15="http://schemas.microsoft.com/office/powerpoint/2012/main">
        <p15:guide id="1" pos="3552">
          <p15:clr>
            <a:srgbClr val="FBAE40"/>
          </p15:clr>
        </p15:guide>
        <p15:guide id="2" pos="42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btitle-B + Three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0558265"/>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ubtitle-B + Four Content">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3" name="Text Placeholder 2">
            <a:extLst>
              <a:ext uri="{FF2B5EF4-FFF2-40B4-BE49-F238E27FC236}">
                <a16:creationId xmlns:a16="http://schemas.microsoft.com/office/drawing/2014/main" id="{8F05DDA7-2CBD-E44C-A62E-E1C57509DCA3}"/>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lvl1pPr>
            <a:lvl2pPr>
              <a:defRPr sz="1400"/>
            </a:lvl2pPr>
            <a:lvl3pPr>
              <a:defRPr sz="1400"/>
            </a:lvl3pPr>
            <a:lvl4pPr>
              <a:defRPr sz="1400"/>
            </a:lvl4pPr>
            <a:lvl5pPr>
              <a:defRPr sz="1400"/>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8535582"/>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ubtitle-B + 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42512222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ubtitle-B + Title Only Light Blue">
    <p:bg>
      <p:bgPr>
        <a:solidFill>
          <a:srgbClr val="F0F7FF"/>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p>
            <a:r>
              <a:rPr lang="en-US" dirty="0"/>
              <a:t>Slide title; Arial 32pt bold, sentence case (1 line)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6932621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ubtitle-B + Content on Blue Lef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0" y="0"/>
            <a:ext cx="4382814"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bg1"/>
                </a:solidFill>
              </a:defRPr>
            </a:lvl1pPr>
          </a:lstStyle>
          <a:p>
            <a:r>
              <a:rPr lang="en-US" dirty="0"/>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slide subtitle</a:t>
            </a:r>
          </a:p>
        </p:txBody>
      </p:sp>
      <p:sp>
        <p:nvSpPr>
          <p:cNvPr id="20" name="Text Placeholder 19">
            <a:extLst>
              <a:ext uri="{FF2B5EF4-FFF2-40B4-BE49-F238E27FC236}">
                <a16:creationId xmlns:a16="http://schemas.microsoft.com/office/drawing/2014/main" id="{FA4A34C6-AA67-B74C-9387-5C2077CE6A33}"/>
              </a:ext>
            </a:extLst>
          </p:cNvPr>
          <p:cNvSpPr>
            <a:spLocks noGrp="1"/>
          </p:cNvSpPr>
          <p:nvPr>
            <p:ph type="body" sz="quarter" idx="15" hasCustomPrompt="1"/>
          </p:nvPr>
        </p:nvSpPr>
        <p:spPr>
          <a:xfrm>
            <a:off x="512064" y="2514590"/>
            <a:ext cx="3411537" cy="35909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sz="half" idx="1" hasCustomPrompt="1"/>
          </p:nvPr>
        </p:nvSpPr>
        <p:spPr>
          <a:xfrm>
            <a:off x="4838700" y="470636"/>
            <a:ext cx="6861175" cy="5634889"/>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8289368"/>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ubtitle-B + Content on Blue Righ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73B866B-F8DF-9344-BC29-1D15C9490777}"/>
              </a:ext>
            </a:extLst>
          </p:cNvPr>
          <p:cNvSpPr/>
          <p:nvPr/>
        </p:nvSpPr>
        <p:spPr>
          <a:xfrm>
            <a:off x="4381500" y="0"/>
            <a:ext cx="7810500" cy="6858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4838700" y="6374651"/>
            <a:ext cx="3839134"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2236" cy="594360"/>
          </a:xfrm>
        </p:spPr>
        <p:txBody>
          <a:bodyPr vert="horz"/>
          <a:lstStyle>
            <a:lvl1pPr>
              <a:defRPr>
                <a:solidFill>
                  <a:schemeClr val="tx1"/>
                </a:solidFill>
              </a:defRPr>
            </a:lvl1pPr>
          </a:lstStyle>
          <a:p>
            <a:r>
              <a:rPr lang="en-US" dirty="0"/>
              <a:t>Short slide title</a:t>
            </a:r>
          </a:p>
        </p:txBody>
      </p:sp>
      <p:sp>
        <p:nvSpPr>
          <p:cNvPr id="11" name="Text Placeholder 2">
            <a:extLst>
              <a:ext uri="{FF2B5EF4-FFF2-40B4-BE49-F238E27FC236}">
                <a16:creationId xmlns:a16="http://schemas.microsoft.com/office/drawing/2014/main" id="{09B89761-8DE0-C74E-8229-82DCFB7CCA0E}"/>
              </a:ext>
            </a:extLst>
          </p:cNvPr>
          <p:cNvSpPr>
            <a:spLocks noGrp="1"/>
          </p:cNvSpPr>
          <p:nvPr>
            <p:ph type="body" idx="14" hasCustomPrompt="1"/>
          </p:nvPr>
        </p:nvSpPr>
        <p:spPr>
          <a:xfrm>
            <a:off x="512064" y="1051560"/>
            <a:ext cx="3412236"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Short slide subtitle</a:t>
            </a:r>
          </a:p>
        </p:txBody>
      </p:sp>
      <p:sp>
        <p:nvSpPr>
          <p:cNvPr id="14" name="Text Placeholder 19">
            <a:extLst>
              <a:ext uri="{FF2B5EF4-FFF2-40B4-BE49-F238E27FC236}">
                <a16:creationId xmlns:a16="http://schemas.microsoft.com/office/drawing/2014/main" id="{063F2128-9DD7-7445-8E1E-1AA47BED6A54}"/>
              </a:ext>
            </a:extLst>
          </p:cNvPr>
          <p:cNvSpPr>
            <a:spLocks noGrp="1"/>
          </p:cNvSpPr>
          <p:nvPr>
            <p:ph type="body" sz="quarter" idx="15" hasCustomPrompt="1"/>
          </p:nvPr>
        </p:nvSpPr>
        <p:spPr>
          <a:xfrm>
            <a:off x="512064" y="2514590"/>
            <a:ext cx="3411537" cy="3590935"/>
          </a:xfrm>
        </p:spPr>
        <p:txBody>
          <a:bodyPr/>
          <a:lstStyle>
            <a:lvl1pPr>
              <a:defRPr>
                <a:solidFill>
                  <a:srgbClr val="272524"/>
                </a:solidFill>
              </a:defRPr>
            </a:lvl1pPr>
            <a:lvl2pPr>
              <a:defRPr>
                <a:solidFill>
                  <a:srgbClr val="272524"/>
                </a:solidFill>
              </a:defRPr>
            </a:lvl2pPr>
            <a:lvl3pPr>
              <a:defRPr>
                <a:solidFill>
                  <a:srgbClr val="272524"/>
                </a:solidFill>
              </a:defRPr>
            </a:lvl3pPr>
            <a:lvl4pPr>
              <a:defRPr>
                <a:solidFill>
                  <a:srgbClr val="272524"/>
                </a:solidFill>
              </a:defRPr>
            </a:lvl4pPr>
            <a:lvl5pPr>
              <a:defRPr>
                <a:solidFill>
                  <a:srgbClr val="272524"/>
                </a:solidFill>
              </a:defRPr>
            </a:lvl5pPr>
          </a:lstStyle>
          <a:p>
            <a:pPr lvl="0"/>
            <a:r>
              <a:rPr lang="en-US" dirty="0"/>
              <a:t>Click to type text. To activate sub-level formatting, place cursor at beginning of text/line and hit tab or shift tab.</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05BA47CF-4C75-114D-925E-3DEE36B0B108}"/>
              </a:ext>
            </a:extLst>
          </p:cNvPr>
          <p:cNvSpPr>
            <a:spLocks noGrp="1"/>
          </p:cNvSpPr>
          <p:nvPr>
            <p:ph sz="half" idx="1" hasCustomPrompt="1"/>
          </p:nvPr>
        </p:nvSpPr>
        <p:spPr>
          <a:xfrm>
            <a:off x="4838700" y="470636"/>
            <a:ext cx="6861175" cy="56348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4259784"/>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4" pos="3048">
          <p15:clr>
            <a:srgbClr val="FBAE40"/>
          </p15:clr>
        </p15:guide>
        <p15:guide id="5" orient="horz" pos="15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ubtitle-B +  Content Blue">
    <p:bg>
      <p:bgPr>
        <a:solidFill>
          <a:schemeClr val="tx1"/>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00755A1-263A-3047-860B-B811081C9CD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7" name="Footer Placeholder 6">
            <a:extLst>
              <a:ext uri="{FF2B5EF4-FFF2-40B4-BE49-F238E27FC236}">
                <a16:creationId xmlns:a16="http://schemas.microsoft.com/office/drawing/2014/main" id="{AF8D8092-2468-D648-A089-3B1A9527298B}"/>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3" name="Footnote Placeholder">
            <a:extLst>
              <a:ext uri="{FF2B5EF4-FFF2-40B4-BE49-F238E27FC236}">
                <a16:creationId xmlns:a16="http://schemas.microsoft.com/office/drawing/2014/main" id="{5157959E-651B-B14F-BA5B-24DA1DB08587}"/>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F29F3FD6-A58A-E748-A11A-7D0F672AD0A7}"/>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92705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btitle-B + Two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4F286C39-0E82-734F-AB13-0063DC613DC8}"/>
              </a:ext>
            </a:extLst>
          </p:cNvPr>
          <p:cNvSpPr>
            <a:spLocks noGrp="1"/>
          </p:cNvSpPr>
          <p:nvPr>
            <p:ph type="body" idx="13"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9019" y="1698625"/>
            <a:ext cx="5350855"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8693906"/>
      </p:ext>
    </p:extLst>
  </p:cSld>
  <p:clrMapOvr>
    <a:masterClrMapping/>
  </p:clrMapOvr>
  <p:extLst>
    <p:ext uri="{DCECCB84-F9BA-43D5-87BE-67443E8EF086}">
      <p15:sldGuideLst xmlns:p15="http://schemas.microsoft.com/office/powerpoint/2012/main">
        <p15:guide id="1" pos="3696">
          <p15:clr>
            <a:srgbClr val="FBAE40"/>
          </p15:clr>
        </p15:guide>
        <p15:guide id="2" pos="399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ubtitle-B + Three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1" name="Text Placeholder 2">
            <a:extLst>
              <a:ext uri="{FF2B5EF4-FFF2-40B4-BE49-F238E27FC236}">
                <a16:creationId xmlns:a16="http://schemas.microsoft.com/office/drawing/2014/main" id="{6474099B-156D-7348-B7A4-5FB85DB30944}"/>
              </a:ext>
            </a:extLst>
          </p:cNvPr>
          <p:cNvSpPr>
            <a:spLocks noGrp="1"/>
          </p:cNvSpPr>
          <p:nvPr>
            <p:ph type="body" idx="14"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3411513"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390247"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8278396" y="1698625"/>
            <a:ext cx="3421479" cy="4406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26091"/>
      </p:ext>
    </p:extLst>
  </p:cSld>
  <p:clrMapOvr>
    <a:masterClrMapping/>
  </p:clrMapOvr>
  <p:extLst>
    <p:ext uri="{DCECCB84-F9BA-43D5-87BE-67443E8EF086}">
      <p15:sldGuideLst xmlns:p15="http://schemas.microsoft.com/office/powerpoint/2012/main">
        <p15:guide id="1" pos="2472">
          <p15:clr>
            <a:srgbClr val="FBAE40"/>
          </p15:clr>
        </p15:guide>
        <p15:guide id="2" pos="2760">
          <p15:clr>
            <a:srgbClr val="FBAE40"/>
          </p15:clr>
        </p15:guide>
        <p15:guide id="3" pos="4920">
          <p15:clr>
            <a:srgbClr val="FBAE40"/>
          </p15:clr>
        </p15:guide>
        <p15:guide id="4" pos="520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ubtitle-B + Four Content Blue">
    <p:bg>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2" name="Footnote Placeholder">
            <a:extLst>
              <a:ext uri="{FF2B5EF4-FFF2-40B4-BE49-F238E27FC236}">
                <a16:creationId xmlns:a16="http://schemas.microsoft.com/office/drawing/2014/main" id="{C2251F80-6554-A742-BC8C-483CBBFD6C91}"/>
              </a:ext>
            </a:extLst>
          </p:cNvPr>
          <p:cNvSpPr>
            <a:spLocks noGrp="1"/>
          </p:cNvSpPr>
          <p:nvPr>
            <p:ph type="body" sz="half" idx="1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3" name="Text Placeholder 2">
            <a:extLst>
              <a:ext uri="{FF2B5EF4-FFF2-40B4-BE49-F238E27FC236}">
                <a16:creationId xmlns:a16="http://schemas.microsoft.com/office/drawing/2014/main" id="{804B53DC-1086-544D-9442-160B5564CE8C}"/>
              </a:ext>
            </a:extLst>
          </p:cNvPr>
          <p:cNvSpPr>
            <a:spLocks noGrp="1"/>
          </p:cNvSpPr>
          <p:nvPr>
            <p:ph type="body" idx="15"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
        <p:nvSpPr>
          <p:cNvPr id="3" name="Content Placeholder 2"/>
          <p:cNvSpPr>
            <a:spLocks noGrp="1"/>
          </p:cNvSpPr>
          <p:nvPr>
            <p:ph sz="half" idx="1" hasCustomPrompt="1"/>
          </p:nvPr>
        </p:nvSpPr>
        <p:spPr>
          <a:xfrm>
            <a:off x="512063" y="1698625"/>
            <a:ext cx="2512665"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3394922" y="1698625"/>
            <a:ext cx="2522219"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E0497FFB-B6FA-9D4E-B0A9-2B64230540B2}"/>
              </a:ext>
            </a:extLst>
          </p:cNvPr>
          <p:cNvSpPr>
            <a:spLocks noGrp="1"/>
          </p:cNvSpPr>
          <p:nvPr>
            <p:ph sz="half" idx="13" hasCustomPrompt="1"/>
          </p:nvPr>
        </p:nvSpPr>
        <p:spPr>
          <a:xfrm>
            <a:off x="6287335"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3">
            <a:extLst>
              <a:ext uri="{FF2B5EF4-FFF2-40B4-BE49-F238E27FC236}">
                <a16:creationId xmlns:a16="http://schemas.microsoft.com/office/drawing/2014/main" id="{5723D646-D659-4940-866D-282EF0E20D7A}"/>
              </a:ext>
            </a:extLst>
          </p:cNvPr>
          <p:cNvSpPr>
            <a:spLocks noGrp="1"/>
          </p:cNvSpPr>
          <p:nvPr>
            <p:ph sz="half" idx="14" hasCustomPrompt="1"/>
          </p:nvPr>
        </p:nvSpPr>
        <p:spPr>
          <a:xfrm>
            <a:off x="9173716" y="1698625"/>
            <a:ext cx="2516188" cy="4406900"/>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9534253"/>
      </p:ext>
    </p:extLst>
  </p:cSld>
  <p:clrMapOvr>
    <a:masterClrMapping/>
  </p:clrMapOvr>
  <p:extLst>
    <p:ext uri="{DCECCB84-F9BA-43D5-87BE-67443E8EF086}">
      <p15:sldGuideLst xmlns:p15="http://schemas.microsoft.com/office/powerpoint/2012/main">
        <p15:guide id="1" pos="1896">
          <p15:clr>
            <a:srgbClr val="FBAE40"/>
          </p15:clr>
        </p15:guide>
        <p15:guide id="2" pos="2136">
          <p15:clr>
            <a:srgbClr val="FBAE40"/>
          </p15:clr>
        </p15:guide>
        <p15:guide id="3" pos="5545">
          <p15:clr>
            <a:srgbClr val="FBAE40"/>
          </p15:clr>
        </p15:guide>
        <p15:guide id="4" pos="5777">
          <p15:clr>
            <a:srgbClr val="FBAE40"/>
          </p15:clr>
        </p15:guide>
        <p15:guide id="5" pos="3720">
          <p15:clr>
            <a:srgbClr val="FBAE40"/>
          </p15:clr>
        </p15:guide>
        <p15:guide id="6" pos="39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ubtitle-B + Title Only Blue">
    <p:bg>
      <p:bgPr>
        <a:solidFill>
          <a:schemeClr val="tx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457200"/>
            <a:ext cx="11184423" cy="555813"/>
          </a:xfrm>
        </p:spPr>
        <p:txBody>
          <a:bodyPr vert="horz"/>
          <a:lstStyle>
            <a:lvl1pPr>
              <a:defRPr>
                <a:solidFill>
                  <a:schemeClr val="bg1"/>
                </a:solidFill>
              </a:defRPr>
            </a:lvl1pPr>
          </a:lstStyle>
          <a:p>
            <a:r>
              <a:rPr lang="en-US" dirty="0"/>
              <a:t>Slide title; Arial 32pt bold, sentence case (1 line)</a:t>
            </a:r>
          </a:p>
        </p:txBody>
      </p:sp>
      <p:sp>
        <p:nvSpPr>
          <p:cNvPr id="10" name="Text Placeholder 2">
            <a:extLst>
              <a:ext uri="{FF2B5EF4-FFF2-40B4-BE49-F238E27FC236}">
                <a16:creationId xmlns:a16="http://schemas.microsoft.com/office/drawing/2014/main" id="{4E3BD865-48DE-664B-B59C-69BE9486EDEB}"/>
              </a:ext>
            </a:extLst>
          </p:cNvPr>
          <p:cNvSpPr>
            <a:spLocks noGrp="1"/>
          </p:cNvSpPr>
          <p:nvPr>
            <p:ph type="body" idx="12" hasCustomPrompt="1"/>
          </p:nvPr>
        </p:nvSpPr>
        <p:spPr>
          <a:xfrm>
            <a:off x="512064" y="1051560"/>
            <a:ext cx="11184422" cy="295276"/>
          </a:xfrm>
        </p:spPr>
        <p:txBody>
          <a:bodyPr anchor="b"/>
          <a:lstStyle>
            <a:lvl1pPr marL="0" indent="0">
              <a:buNone/>
              <a:defRPr sz="20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4414612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pecial layou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Special layouts</a:t>
            </a:r>
          </a:p>
        </p:txBody>
      </p:sp>
    </p:spTree>
    <p:extLst>
      <p:ext uri="{BB962C8B-B14F-4D97-AF65-F5344CB8AC3E}">
        <p14:creationId xmlns:p14="http://schemas.microsoft.com/office/powerpoint/2010/main" val="9578300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ntro 2 Presenter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AEAF8F1-C826-6F47-BE7A-44717A37D861}"/>
              </a:ext>
            </a:extLst>
          </p:cNvPr>
          <p:cNvSpPr/>
          <p:nvPr/>
        </p:nvSpPr>
        <p:spPr>
          <a:xfrm>
            <a:off x="0" y="3666565"/>
            <a:ext cx="12192000" cy="3191436"/>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b"/>
          <a:lstStyle/>
          <a:p>
            <a:pPr algn="ctr"/>
            <a:endParaRPr lang="en-US">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lumMod val="7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11184422" cy="295276"/>
          </a:xfrm>
        </p:spPr>
        <p:txBody>
          <a:bodyPr anchor="b"/>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title; Arial 20pt bold, sentence case (1 line)</a:t>
            </a:r>
          </a:p>
        </p:txBody>
      </p:sp>
      <p:sp>
        <p:nvSpPr>
          <p:cNvPr id="21" name="Text Placeholder 20">
            <a:extLst>
              <a:ext uri="{FF2B5EF4-FFF2-40B4-BE49-F238E27FC236}">
                <a16:creationId xmlns:a16="http://schemas.microsoft.com/office/drawing/2014/main" id="{83520AB0-B15D-4644-8232-A1DA7A34C60E}"/>
              </a:ext>
            </a:extLst>
          </p:cNvPr>
          <p:cNvSpPr>
            <a:spLocks noGrp="1"/>
          </p:cNvSpPr>
          <p:nvPr>
            <p:ph type="body" sz="quarter" idx="15" hasCustomPrompt="1"/>
          </p:nvPr>
        </p:nvSpPr>
        <p:spPr>
          <a:xfrm>
            <a:off x="2549141" y="1909334"/>
            <a:ext cx="2740035" cy="1102154"/>
          </a:xfrm>
        </p:spPr>
        <p:txBody>
          <a:bodyPr/>
          <a:lstStyle>
            <a:lvl1pPr>
              <a:defRPr sz="2400" b="1"/>
            </a:lvl1pPr>
            <a:lvl2pPr marL="0" indent="0">
              <a:buNone/>
              <a:defRPr sz="1400">
                <a:solidFill>
                  <a:schemeClr val="accent1"/>
                </a:solidFill>
              </a:defRPr>
            </a:lvl2pPr>
          </a:lstStyle>
          <a:p>
            <a:pPr lvl="0"/>
            <a:r>
              <a:rPr lang="en-US" dirty="0"/>
              <a:t>First </a:t>
            </a:r>
            <a:r>
              <a:rPr lang="en-US" dirty="0" err="1"/>
              <a:t>Lastname</a:t>
            </a:r>
            <a:endParaRPr lang="en-US" dirty="0"/>
          </a:p>
          <a:p>
            <a:pPr lvl="1"/>
            <a:r>
              <a:rPr lang="en-US" dirty="0"/>
              <a:t>Add title</a:t>
            </a:r>
          </a:p>
        </p:txBody>
      </p:sp>
      <p:sp>
        <p:nvSpPr>
          <p:cNvPr id="23" name="Text Placeholder 20">
            <a:extLst>
              <a:ext uri="{FF2B5EF4-FFF2-40B4-BE49-F238E27FC236}">
                <a16:creationId xmlns:a16="http://schemas.microsoft.com/office/drawing/2014/main" id="{A186D89A-9D30-6C4F-925D-4091D0F3D93A}"/>
              </a:ext>
            </a:extLst>
          </p:cNvPr>
          <p:cNvSpPr>
            <a:spLocks noGrp="1"/>
          </p:cNvSpPr>
          <p:nvPr>
            <p:ph type="body" sz="quarter" idx="17" hasCustomPrompt="1"/>
          </p:nvPr>
        </p:nvSpPr>
        <p:spPr>
          <a:xfrm>
            <a:off x="8501706" y="1909334"/>
            <a:ext cx="2740035" cy="1102154"/>
          </a:xfrm>
        </p:spPr>
        <p:txBody>
          <a:bodyPr/>
          <a:lstStyle>
            <a:lvl1pPr>
              <a:defRPr sz="2400" b="1"/>
            </a:lvl1pPr>
            <a:lvl2pPr marL="0" indent="0">
              <a:buNone/>
              <a:defRPr sz="1400">
                <a:solidFill>
                  <a:schemeClr val="accent1"/>
                </a:solidFill>
              </a:defRPr>
            </a:lvl2pPr>
          </a:lstStyle>
          <a:p>
            <a:pPr lvl="0"/>
            <a:r>
              <a:rPr lang="en-US" dirty="0"/>
              <a:t>First </a:t>
            </a:r>
            <a:r>
              <a:rPr lang="en-US" dirty="0" err="1"/>
              <a:t>Lastname</a:t>
            </a:r>
            <a:endParaRPr lang="en-US" dirty="0"/>
          </a:p>
          <a:p>
            <a:pPr lvl="1"/>
            <a:r>
              <a:rPr lang="en-US" dirty="0"/>
              <a:t>Add title</a:t>
            </a:r>
          </a:p>
        </p:txBody>
      </p:sp>
      <p:sp>
        <p:nvSpPr>
          <p:cNvPr id="18" name="Picture Placeholder 17">
            <a:extLst>
              <a:ext uri="{FF2B5EF4-FFF2-40B4-BE49-F238E27FC236}">
                <a16:creationId xmlns:a16="http://schemas.microsoft.com/office/drawing/2014/main" id="{E68A2CBF-6F30-2D4C-BD65-7D6157EA8B3A}"/>
              </a:ext>
            </a:extLst>
          </p:cNvPr>
          <p:cNvSpPr>
            <a:spLocks noGrp="1"/>
          </p:cNvSpPr>
          <p:nvPr>
            <p:ph type="pic" sz="quarter" idx="13" hasCustomPrompt="1"/>
          </p:nvPr>
        </p:nvSpPr>
        <p:spPr>
          <a:xfrm>
            <a:off x="471702"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lIns="0" tIns="457200" anchor="t">
            <a:noAutofit/>
          </a:bodyPr>
          <a:lstStyle>
            <a:lvl1pPr algn="ctr">
              <a:defRPr sz="1200">
                <a:solidFill>
                  <a:srgbClr val="FF0000"/>
                </a:solidFill>
              </a:defRPr>
            </a:lvl1pPr>
          </a:lstStyle>
          <a:p>
            <a:r>
              <a:rPr lang="en-US" dirty="0"/>
              <a:t>Insert person’s photo</a:t>
            </a:r>
          </a:p>
        </p:txBody>
      </p:sp>
      <p:sp>
        <p:nvSpPr>
          <p:cNvPr id="19" name="Picture Placeholder 18">
            <a:extLst>
              <a:ext uri="{FF2B5EF4-FFF2-40B4-BE49-F238E27FC236}">
                <a16:creationId xmlns:a16="http://schemas.microsoft.com/office/drawing/2014/main" id="{1AA6058B-210D-DD48-8898-100F31B78D58}"/>
              </a:ext>
            </a:extLst>
          </p:cNvPr>
          <p:cNvSpPr>
            <a:spLocks noGrp="1"/>
          </p:cNvSpPr>
          <p:nvPr>
            <p:ph type="pic" sz="quarter" idx="14" hasCustomPrompt="1"/>
          </p:nvPr>
        </p:nvSpPr>
        <p:spPr>
          <a:xfrm>
            <a:off x="6447798" y="1255958"/>
            <a:ext cx="1793168" cy="2014784"/>
          </a:xfrm>
          <a:custGeom>
            <a:avLst/>
            <a:gdLst>
              <a:gd name="connsiteX0" fmla="*/ 896584 w 1793168"/>
              <a:gd name="connsiteY0" fmla="*/ 0 h 2014784"/>
              <a:gd name="connsiteX1" fmla="*/ 1569239 w 1793168"/>
              <a:gd name="connsiteY1" fmla="*/ 261487 h 2014784"/>
              <a:gd name="connsiteX2" fmla="*/ 1793168 w 1793168"/>
              <a:gd name="connsiteY2" fmla="*/ 1007392 h 2014784"/>
              <a:gd name="connsiteX3" fmla="*/ 1569239 w 1793168"/>
              <a:gd name="connsiteY3" fmla="*/ 1753297 h 2014784"/>
              <a:gd name="connsiteX4" fmla="*/ 896584 w 1793168"/>
              <a:gd name="connsiteY4" fmla="*/ 2014784 h 2014784"/>
              <a:gd name="connsiteX5" fmla="*/ 223928 w 1793168"/>
              <a:gd name="connsiteY5" fmla="*/ 1753297 h 2014784"/>
              <a:gd name="connsiteX6" fmla="*/ 0 w 1793168"/>
              <a:gd name="connsiteY6" fmla="*/ 1007392 h 2014784"/>
              <a:gd name="connsiteX7" fmla="*/ 223928 w 1793168"/>
              <a:gd name="connsiteY7" fmla="*/ 261487 h 2014784"/>
              <a:gd name="connsiteX8" fmla="*/ 896584 w 1793168"/>
              <a:gd name="connsiteY8" fmla="*/ 0 h 20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3168" h="2014784">
                <a:moveTo>
                  <a:pt x="896584" y="0"/>
                </a:moveTo>
                <a:cubicBezTo>
                  <a:pt x="1190802" y="0"/>
                  <a:pt x="1417125" y="87983"/>
                  <a:pt x="1569239" y="261487"/>
                </a:cubicBezTo>
                <a:cubicBezTo>
                  <a:pt x="1717872" y="430859"/>
                  <a:pt x="1793168" y="681837"/>
                  <a:pt x="1793168" y="1007392"/>
                </a:cubicBezTo>
                <a:cubicBezTo>
                  <a:pt x="1793168" y="1332946"/>
                  <a:pt x="1717799" y="1583925"/>
                  <a:pt x="1569239" y="1753297"/>
                </a:cubicBezTo>
                <a:cubicBezTo>
                  <a:pt x="1417052" y="1926800"/>
                  <a:pt x="1191093" y="2014784"/>
                  <a:pt x="896584" y="2014784"/>
                </a:cubicBezTo>
                <a:cubicBezTo>
                  <a:pt x="602075" y="2014784"/>
                  <a:pt x="376043" y="1926800"/>
                  <a:pt x="223928" y="1753297"/>
                </a:cubicBezTo>
                <a:cubicBezTo>
                  <a:pt x="75295" y="1583852"/>
                  <a:pt x="0" y="1332946"/>
                  <a:pt x="0" y="1007392"/>
                </a:cubicBezTo>
                <a:cubicBezTo>
                  <a:pt x="0" y="681837"/>
                  <a:pt x="75368" y="430859"/>
                  <a:pt x="223928" y="261487"/>
                </a:cubicBezTo>
                <a:cubicBezTo>
                  <a:pt x="376115" y="87983"/>
                  <a:pt x="602365" y="0"/>
                  <a:pt x="896584" y="0"/>
                </a:cubicBezTo>
                <a:close/>
              </a:path>
            </a:pathLst>
          </a:custGeom>
          <a:solidFill>
            <a:schemeClr val="bg1">
              <a:lumMod val="95000"/>
            </a:schemeClr>
          </a:solidFill>
        </p:spPr>
        <p:txBody>
          <a:bodyPr wrap="square" tIns="457200" anchor="t">
            <a:noAutofit/>
          </a:bodyPr>
          <a:lstStyle>
            <a:lvl1pPr algn="ctr">
              <a:defRPr sz="1200">
                <a:solidFill>
                  <a:srgbClr val="FF0000"/>
                </a:solidFill>
              </a:defRPr>
            </a:lvl1pPr>
          </a:lstStyle>
          <a:p>
            <a:r>
              <a:rPr lang="en-US" dirty="0"/>
              <a:t>Insert person’s photo</a:t>
            </a:r>
          </a:p>
        </p:txBody>
      </p:sp>
      <p:sp>
        <p:nvSpPr>
          <p:cNvPr id="25" name="Text Placeholder 24">
            <a:extLst>
              <a:ext uri="{FF2B5EF4-FFF2-40B4-BE49-F238E27FC236}">
                <a16:creationId xmlns:a16="http://schemas.microsoft.com/office/drawing/2014/main" id="{67ECDB41-474A-6442-AFDC-C46B467A134A}"/>
              </a:ext>
            </a:extLst>
          </p:cNvPr>
          <p:cNvSpPr>
            <a:spLocks noGrp="1"/>
          </p:cNvSpPr>
          <p:nvPr>
            <p:ph type="body" sz="quarter" idx="18" hasCustomPrompt="1"/>
          </p:nvPr>
        </p:nvSpPr>
        <p:spPr>
          <a:xfrm>
            <a:off x="512763" y="4016187"/>
            <a:ext cx="11187112" cy="2089337"/>
          </a:xfrm>
        </p:spPr>
        <p:txBody>
          <a:bodyPr/>
          <a:lstStyle>
            <a:lvl1pPr marL="231775" indent="-231775">
              <a:spcBef>
                <a:spcPts val="1000"/>
              </a:spcBef>
              <a:buFont typeface="Arial" panose="020B0604020202020204" pitchFamily="34" charset="0"/>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bullet points</a:t>
            </a:r>
          </a:p>
        </p:txBody>
      </p:sp>
    </p:spTree>
    <p:extLst>
      <p:ext uri="{BB962C8B-B14F-4D97-AF65-F5344CB8AC3E}">
        <p14:creationId xmlns:p14="http://schemas.microsoft.com/office/powerpoint/2010/main" val="25374408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tatement with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B008058-B9DB-5E41-ADFA-69BE9568002B}"/>
              </a:ext>
            </a:extLst>
          </p:cNvPr>
          <p:cNvSpPr>
            <a:spLocks noGrp="1"/>
          </p:cNvSpPr>
          <p:nvPr>
            <p:ph type="pic" sz="quarter" idx="13"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dirty="0"/>
              <a:t>Bring placeholder to front. Drag picture to placeholder or click icon to add. Send placeholder to back. </a:t>
            </a:r>
            <a:br>
              <a:rPr lang="en-US" dirty="0"/>
            </a:br>
            <a:r>
              <a:rPr lang="en-US" dirty="0"/>
              <a:t>Note that the overlay sits on top of the slide; it will need to be pasted onto any new slide using this layout.</a:t>
            </a:r>
          </a:p>
        </p:txBody>
      </p:sp>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9" name="Footnote Placeholder">
            <a:extLst>
              <a:ext uri="{FF2B5EF4-FFF2-40B4-BE49-F238E27FC236}">
                <a16:creationId xmlns:a16="http://schemas.microsoft.com/office/drawing/2014/main" id="{180F6E86-A27A-FE40-B016-EB59307BF3CC}"/>
              </a:ext>
            </a:extLst>
          </p:cNvPr>
          <p:cNvSpPr>
            <a:spLocks noGrp="1"/>
          </p:cNvSpPr>
          <p:nvPr>
            <p:ph type="body" sz="half" idx="2" hasCustomPrompt="1"/>
          </p:nvPr>
        </p:nvSpPr>
        <p:spPr>
          <a:xfrm>
            <a:off x="512064" y="6374651"/>
            <a:ext cx="4434840" cy="245223"/>
          </a:xfrm>
        </p:spPr>
        <p:txBody>
          <a:bodyPr anchor="b"/>
          <a:lstStyle>
            <a:lvl1pPr marL="0" indent="0">
              <a:buNone/>
              <a:defRPr sz="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3" y="815787"/>
            <a:ext cx="6961399" cy="2519084"/>
          </a:xfrm>
        </p:spPr>
        <p:txBody>
          <a:bodyPr vert="horz"/>
          <a:lstStyle>
            <a:lvl1pPr>
              <a:defRPr>
                <a:solidFill>
                  <a:schemeClr val="bg1"/>
                </a:solidFill>
              </a:defRPr>
            </a:lvl1pPr>
          </a:lstStyle>
          <a:p>
            <a:r>
              <a:rPr lang="en-US" dirty="0"/>
              <a:t>Large statement; Arial 32pt bold, sentence case</a:t>
            </a:r>
          </a:p>
        </p:txBody>
      </p:sp>
      <p:sp>
        <p:nvSpPr>
          <p:cNvPr id="10" name="Text Placeholder 2">
            <a:extLst>
              <a:ext uri="{FF2B5EF4-FFF2-40B4-BE49-F238E27FC236}">
                <a16:creationId xmlns:a16="http://schemas.microsoft.com/office/drawing/2014/main" id="{A96AF473-C2CF-6B47-84F7-6E0E41A10BCD}"/>
              </a:ext>
            </a:extLst>
          </p:cNvPr>
          <p:cNvSpPr>
            <a:spLocks noGrp="1"/>
          </p:cNvSpPr>
          <p:nvPr>
            <p:ph type="body" idx="12" hasCustomPrompt="1"/>
          </p:nvPr>
        </p:nvSpPr>
        <p:spPr>
          <a:xfrm>
            <a:off x="512064" y="421340"/>
            <a:ext cx="6961398" cy="295276"/>
          </a:xfrm>
        </p:spPr>
        <p:txBody>
          <a:bodyPr anchor="b"/>
          <a:lstStyle>
            <a:lvl1pPr marL="0" inden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Slide subtitle; Arial 20pt bold, sentence case (1 line)</a:t>
            </a:r>
          </a:p>
        </p:txBody>
      </p:sp>
    </p:spTree>
    <p:extLst>
      <p:ext uri="{BB962C8B-B14F-4D97-AF65-F5344CB8AC3E}">
        <p14:creationId xmlns:p14="http://schemas.microsoft.com/office/powerpoint/2010/main" val="26112492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64D66BA-EC5A-D945-99FE-DA74D720C612}"/>
              </a:ext>
            </a:extLst>
          </p:cNvPr>
          <p:cNvSpPr>
            <a:spLocks noGrp="1"/>
          </p:cNvSpPr>
          <p:nvPr>
            <p:ph type="pic" sz="quarter" idx="12" hasCustomPrompt="1"/>
          </p:nvPr>
        </p:nvSpPr>
        <p:spPr>
          <a:xfrm>
            <a:off x="0" y="0"/>
            <a:ext cx="12192000" cy="6858000"/>
          </a:xfrm>
          <a:solidFill>
            <a:schemeClr val="bg1">
              <a:lumMod val="95000"/>
            </a:schemeClr>
          </a:solidFill>
        </p:spPr>
        <p:txBody>
          <a:bodyPr/>
          <a:lstStyle>
            <a:lvl1pPr>
              <a:defRPr sz="1200">
                <a:solidFill>
                  <a:srgbClr val="FF0000"/>
                </a:solidFill>
              </a:defRPr>
            </a:lvl1pPr>
          </a:lstStyle>
          <a:p>
            <a:r>
              <a:rPr lang="en-US" dirty="0"/>
              <a:t>Drag picture to placeholder or click icon to add. Send placeholder to back.</a:t>
            </a:r>
          </a:p>
        </p:txBody>
      </p:sp>
      <p:sp>
        <p:nvSpPr>
          <p:cNvPr id="4" name="Slide Number Placeholder 3">
            <a:extLst>
              <a:ext uri="{FF2B5EF4-FFF2-40B4-BE49-F238E27FC236}">
                <a16:creationId xmlns:a16="http://schemas.microsoft.com/office/drawing/2014/main" id="{E044F558-9BFF-B14B-8BE9-C6BBD3865858}"/>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3" name="Footer Placeholder 2">
            <a:extLst>
              <a:ext uri="{FF2B5EF4-FFF2-40B4-BE49-F238E27FC236}">
                <a16:creationId xmlns:a16="http://schemas.microsoft.com/office/drawing/2014/main" id="{E3BBCD08-FF08-374A-9A06-80B682368766}"/>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3" name="Text Placeholder 12">
            <a:extLst>
              <a:ext uri="{FF2B5EF4-FFF2-40B4-BE49-F238E27FC236}">
                <a16:creationId xmlns:a16="http://schemas.microsoft.com/office/drawing/2014/main" id="{04CC9F91-EFE4-A54B-B9C5-6BBAE3D75CC2}"/>
              </a:ext>
            </a:extLst>
          </p:cNvPr>
          <p:cNvSpPr>
            <a:spLocks noGrp="1"/>
          </p:cNvSpPr>
          <p:nvPr>
            <p:ph type="body" sz="quarter" idx="13" hasCustomPrompt="1"/>
          </p:nvPr>
        </p:nvSpPr>
        <p:spPr>
          <a:xfrm>
            <a:off x="0" y="1039089"/>
            <a:ext cx="5029200" cy="5029200"/>
          </a:xfrm>
          <a:solidFill>
            <a:schemeClr val="bg1"/>
          </a:solidFill>
        </p:spPr>
        <p:txBody>
          <a:bodyPr lIns="457200" tIns="1097280" rIns="457200"/>
          <a:lstStyle>
            <a:lvl1pPr>
              <a:defRPr sz="2400"/>
            </a:lvl1pPr>
            <a:lvl2pPr marL="0" indent="0">
              <a:buNone/>
              <a:defRPr>
                <a:solidFill>
                  <a:schemeClr val="accent1"/>
                </a:solidFill>
              </a:defRPr>
            </a:lvl2pPr>
          </a:lstStyle>
          <a:p>
            <a:pPr lvl="0"/>
            <a:r>
              <a:rPr lang="en-US" dirty="0"/>
              <a:t>Use this box to include quote. To activate sub-level formatting of attribution, place cursor at beginning of text/line and hit tab or shift tab. Do not modify size or placement of textbox.</a:t>
            </a:r>
          </a:p>
          <a:p>
            <a:pPr lvl="1"/>
            <a:r>
              <a:rPr lang="en-US" dirty="0"/>
              <a:t>Attribution name</a:t>
            </a:r>
          </a:p>
        </p:txBody>
      </p:sp>
    </p:spTree>
    <p:extLst>
      <p:ext uri="{BB962C8B-B14F-4D97-AF65-F5344CB8AC3E}">
        <p14:creationId xmlns:p14="http://schemas.microsoft.com/office/powerpoint/2010/main" val="107610015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nd Large Quo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2389133-8F79-AF42-B505-8A150931C3C6}"/>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6" name="Footer Placeholder 5">
            <a:extLst>
              <a:ext uri="{FF2B5EF4-FFF2-40B4-BE49-F238E27FC236}">
                <a16:creationId xmlns:a16="http://schemas.microsoft.com/office/drawing/2014/main" id="{31269DCA-0308-5E4B-8136-84AD580937A8}"/>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17" name="Freeform 16">
            <a:extLst>
              <a:ext uri="{FF2B5EF4-FFF2-40B4-BE49-F238E27FC236}">
                <a16:creationId xmlns:a16="http://schemas.microsoft.com/office/drawing/2014/main" id="{2A7B38F7-2661-CE4A-817E-73C2E2DCC1FB}"/>
              </a:ext>
            </a:extLst>
          </p:cNvPr>
          <p:cNvSpPr/>
          <p:nvPr/>
        </p:nvSpPr>
        <p:spPr>
          <a:xfrm>
            <a:off x="502080" y="1067823"/>
            <a:ext cx="553045" cy="409575"/>
          </a:xfrm>
          <a:custGeom>
            <a:avLst/>
            <a:gdLst/>
            <a:ahLst/>
            <a:cxnLst/>
            <a:rect l="l" t="t" r="r" b="b"/>
            <a:pathLst>
              <a:path w="553045" h="409575">
                <a:moveTo>
                  <a:pt x="530423" y="0"/>
                </a:moveTo>
                <a:lnTo>
                  <a:pt x="544711" y="26789"/>
                </a:lnTo>
                <a:cubicBezTo>
                  <a:pt x="508992" y="51792"/>
                  <a:pt x="481607" y="73819"/>
                  <a:pt x="462557" y="92869"/>
                </a:cubicBezTo>
                <a:cubicBezTo>
                  <a:pt x="428823" y="126603"/>
                  <a:pt x="411956" y="157956"/>
                  <a:pt x="411956" y="186928"/>
                </a:cubicBezTo>
                <a:cubicBezTo>
                  <a:pt x="411956" y="195262"/>
                  <a:pt x="414139" y="202009"/>
                  <a:pt x="418504" y="207169"/>
                </a:cubicBezTo>
                <a:cubicBezTo>
                  <a:pt x="422870" y="212328"/>
                  <a:pt x="428823" y="214908"/>
                  <a:pt x="436364" y="214908"/>
                </a:cubicBezTo>
                <a:cubicBezTo>
                  <a:pt x="451445" y="212923"/>
                  <a:pt x="461367" y="211931"/>
                  <a:pt x="466129" y="211931"/>
                </a:cubicBezTo>
                <a:cubicBezTo>
                  <a:pt x="491132" y="211931"/>
                  <a:pt x="511869" y="221059"/>
                  <a:pt x="528339" y="239316"/>
                </a:cubicBezTo>
                <a:cubicBezTo>
                  <a:pt x="544810" y="257572"/>
                  <a:pt x="553045" y="279995"/>
                  <a:pt x="553045" y="306586"/>
                </a:cubicBezTo>
                <a:cubicBezTo>
                  <a:pt x="553045" y="337542"/>
                  <a:pt x="543917" y="362446"/>
                  <a:pt x="525661" y="381298"/>
                </a:cubicBezTo>
                <a:cubicBezTo>
                  <a:pt x="507404" y="400149"/>
                  <a:pt x="482600" y="409575"/>
                  <a:pt x="451247" y="409575"/>
                </a:cubicBezTo>
                <a:cubicBezTo>
                  <a:pt x="415528" y="409575"/>
                  <a:pt x="386159" y="396379"/>
                  <a:pt x="363140" y="369987"/>
                </a:cubicBezTo>
                <a:cubicBezTo>
                  <a:pt x="340122" y="343594"/>
                  <a:pt x="328612" y="308372"/>
                  <a:pt x="328612" y="264319"/>
                </a:cubicBezTo>
                <a:cubicBezTo>
                  <a:pt x="328612" y="219869"/>
                  <a:pt x="344090" y="174030"/>
                  <a:pt x="375047" y="126801"/>
                </a:cubicBezTo>
                <a:cubicBezTo>
                  <a:pt x="406003" y="79573"/>
                  <a:pt x="457795" y="37306"/>
                  <a:pt x="530423" y="0"/>
                </a:cubicBezTo>
                <a:close/>
                <a:moveTo>
                  <a:pt x="201811" y="0"/>
                </a:moveTo>
                <a:lnTo>
                  <a:pt x="216098" y="26789"/>
                </a:lnTo>
                <a:cubicBezTo>
                  <a:pt x="177998" y="53776"/>
                  <a:pt x="149820" y="76398"/>
                  <a:pt x="131564" y="94655"/>
                </a:cubicBezTo>
                <a:cubicBezTo>
                  <a:pt x="99417" y="127595"/>
                  <a:pt x="83343" y="159147"/>
                  <a:pt x="83343" y="189309"/>
                </a:cubicBezTo>
                <a:cubicBezTo>
                  <a:pt x="83343" y="199628"/>
                  <a:pt x="86320" y="206375"/>
                  <a:pt x="92273" y="209550"/>
                </a:cubicBezTo>
                <a:cubicBezTo>
                  <a:pt x="98226" y="213122"/>
                  <a:pt x="103386" y="214908"/>
                  <a:pt x="107751" y="214908"/>
                </a:cubicBezTo>
                <a:cubicBezTo>
                  <a:pt x="122832" y="212923"/>
                  <a:pt x="132754" y="211931"/>
                  <a:pt x="137517" y="211931"/>
                </a:cubicBezTo>
                <a:cubicBezTo>
                  <a:pt x="162917" y="211931"/>
                  <a:pt x="183753" y="221158"/>
                  <a:pt x="200025" y="239613"/>
                </a:cubicBezTo>
                <a:cubicBezTo>
                  <a:pt x="216297" y="258068"/>
                  <a:pt x="224433" y="280392"/>
                  <a:pt x="224433" y="306586"/>
                </a:cubicBezTo>
                <a:cubicBezTo>
                  <a:pt x="224433" y="335955"/>
                  <a:pt x="215503" y="360462"/>
                  <a:pt x="197643" y="380107"/>
                </a:cubicBezTo>
                <a:cubicBezTo>
                  <a:pt x="179784" y="399752"/>
                  <a:pt x="155178" y="409575"/>
                  <a:pt x="123825" y="409575"/>
                </a:cubicBezTo>
                <a:cubicBezTo>
                  <a:pt x="86915" y="409575"/>
                  <a:pt x="57050" y="396379"/>
                  <a:pt x="34230" y="369987"/>
                </a:cubicBezTo>
                <a:cubicBezTo>
                  <a:pt x="11410" y="343594"/>
                  <a:pt x="0" y="308372"/>
                  <a:pt x="0" y="264319"/>
                </a:cubicBezTo>
                <a:cubicBezTo>
                  <a:pt x="0" y="222250"/>
                  <a:pt x="14585" y="177502"/>
                  <a:pt x="43755" y="130076"/>
                </a:cubicBezTo>
                <a:cubicBezTo>
                  <a:pt x="72925" y="82649"/>
                  <a:pt x="125611" y="39291"/>
                  <a:pt x="201811"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600" b="1" i="0" u="none" strike="noStrike" kern="1200" cap="none" spc="0" normalizeH="0" baseline="0" noProof="0" dirty="0">
              <a:ln>
                <a:noFill/>
              </a:ln>
              <a:solidFill>
                <a:srgbClr val="2E5FF4"/>
              </a:solidFill>
              <a:effectLst/>
              <a:uLnTx/>
              <a:uFillTx/>
              <a:latin typeface="Times" pitchFamily="2" charset="0"/>
              <a:ea typeface="+mn-ea"/>
              <a:cs typeface="Arial" panose="020B0604020202020204" pitchFamily="34" charset="0"/>
            </a:endParaRPr>
          </a:p>
        </p:txBody>
      </p:sp>
      <p:sp>
        <p:nvSpPr>
          <p:cNvPr id="2" name="Title 1"/>
          <p:cNvSpPr>
            <a:spLocks noGrp="1"/>
          </p:cNvSpPr>
          <p:nvPr>
            <p:ph type="title" hasCustomPrompt="1"/>
          </p:nvPr>
        </p:nvSpPr>
        <p:spPr>
          <a:xfrm>
            <a:off x="512063" y="405743"/>
            <a:ext cx="11184423" cy="307226"/>
          </a:xfrm>
        </p:spPr>
        <p:txBody>
          <a:bodyPr vert="horz" lIns="0" tIns="0" rIns="0" bIns="0" rtlCol="0" anchor="b">
            <a:noAutofit/>
          </a:bodyPr>
          <a:lstStyle>
            <a:lvl1pPr>
              <a:defRPr lang="en-US" sz="2000" b="1" dirty="0">
                <a:solidFill>
                  <a:schemeClr val="accent1"/>
                </a:solidFill>
                <a:latin typeface="+mn-lt"/>
                <a:ea typeface="+mn-ea"/>
                <a:cs typeface="+mn-cs"/>
              </a:defRPr>
            </a:lvl1pPr>
          </a:lstStyle>
          <a:p>
            <a:pPr lvl="0"/>
            <a:r>
              <a:rPr lang="en-US" dirty="0"/>
              <a:t>Slide title; Arial 20pt bold, sentence case (1 line)</a:t>
            </a:r>
          </a:p>
        </p:txBody>
      </p:sp>
      <p:sp>
        <p:nvSpPr>
          <p:cNvPr id="19" name="Text Placeholder 18">
            <a:extLst>
              <a:ext uri="{FF2B5EF4-FFF2-40B4-BE49-F238E27FC236}">
                <a16:creationId xmlns:a16="http://schemas.microsoft.com/office/drawing/2014/main" id="{1CEC1C1C-7C15-B146-89D1-4673F3599949}"/>
              </a:ext>
            </a:extLst>
          </p:cNvPr>
          <p:cNvSpPr>
            <a:spLocks noGrp="1"/>
          </p:cNvSpPr>
          <p:nvPr>
            <p:ph type="body" sz="quarter" idx="12" hasCustomPrompt="1"/>
          </p:nvPr>
        </p:nvSpPr>
        <p:spPr>
          <a:xfrm>
            <a:off x="1312863" y="1175491"/>
            <a:ext cx="8928100" cy="3870325"/>
          </a:xfrm>
        </p:spPr>
        <p:txBody>
          <a:bodyPr/>
          <a:lstStyle>
            <a:lvl1pPr>
              <a:defRPr sz="2800" b="1"/>
            </a:lvl1pPr>
            <a:lvl2pPr marL="285750" indent="-285750">
              <a:buFont typeface="System Font Regular"/>
              <a:buChar char="–"/>
              <a:defRPr i="1"/>
            </a:lvl2pPr>
          </a:lstStyle>
          <a:p>
            <a:pPr lvl="0"/>
            <a:r>
              <a:rPr lang="en-US" dirty="0"/>
              <a:t>Use this box to include quote. To activate sub-level formatting of attribution, place cursor at beginning of text/line and hit tab or shift tab. Do not modify size or placement of textbox.</a:t>
            </a:r>
          </a:p>
          <a:p>
            <a:pPr lvl="1"/>
            <a:r>
              <a:rPr lang="en-US" dirty="0"/>
              <a:t>Attribution name</a:t>
            </a:r>
          </a:p>
        </p:txBody>
      </p:sp>
    </p:spTree>
    <p:extLst>
      <p:ext uri="{BB962C8B-B14F-4D97-AF65-F5344CB8AC3E}">
        <p14:creationId xmlns:p14="http://schemas.microsoft.com/office/powerpoint/2010/main" val="29458957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 1/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4847761" y="457201"/>
            <a:ext cx="6848725" cy="324444"/>
          </a:xfrm>
          <a:noFill/>
        </p:spPr>
        <p:txBody>
          <a:bodyPr vert="horz"/>
          <a:lstStyle>
            <a:lvl1pPr>
              <a:defRPr sz="2000" b="1">
                <a:solidFill>
                  <a:schemeClr val="accent1"/>
                </a:solidFill>
              </a:defRPr>
            </a:lvl1pPr>
          </a:lstStyle>
          <a:p>
            <a:pPr lvl="0"/>
            <a:r>
              <a:rPr lang="en-US" dirty="0"/>
              <a:t>Slide title; Arial 20pt bold, sentence case (1 line)</a:t>
            </a:r>
          </a:p>
        </p:txBody>
      </p:sp>
      <p:sp>
        <p:nvSpPr>
          <p:cNvPr id="4" name="Content Placeholder 3"/>
          <p:cNvSpPr>
            <a:spLocks noGrp="1"/>
          </p:cNvSpPr>
          <p:nvPr>
            <p:ph sz="half" idx="2" hasCustomPrompt="1"/>
          </p:nvPr>
        </p:nvSpPr>
        <p:spPr>
          <a:xfrm>
            <a:off x="4846638" y="1011250"/>
            <a:ext cx="6853236"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2234672"/>
      </p:ext>
    </p:extLst>
  </p:cSld>
  <p:clrMapOvr>
    <a:masterClrMapping/>
  </p:clrMapOvr>
  <p:extLst>
    <p:ext uri="{DCECCB84-F9BA-43D5-87BE-67443E8EF086}">
      <p15:sldGuideLst xmlns:p15="http://schemas.microsoft.com/office/powerpoint/2012/main">
        <p15:guide id="1" pos="2763">
          <p15:clr>
            <a:srgbClr val="FBAE40"/>
          </p15:clr>
        </p15:guide>
        <p15:guide id="2" pos="3053">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ontent + 1/2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6553200" y="457201"/>
            <a:ext cx="5143286" cy="324444"/>
          </a:xfrm>
        </p:spPr>
        <p:txBody>
          <a:bodyPr vert="horz"/>
          <a:lstStyle>
            <a:lvl1pPr>
              <a:defRPr sz="2000" b="1">
                <a:solidFill>
                  <a:schemeClr val="accent1"/>
                </a:solidFill>
              </a:defRPr>
            </a:lvl1pPr>
          </a:lstStyle>
          <a:p>
            <a:pPr lvl="0"/>
            <a:r>
              <a:rPr lang="en-US" dirty="0"/>
              <a:t>Slide title; Arial 20pt bold, short (1 line)</a:t>
            </a:r>
          </a:p>
        </p:txBody>
      </p:sp>
      <p:sp>
        <p:nvSpPr>
          <p:cNvPr id="4" name="Content Placeholder 3"/>
          <p:cNvSpPr>
            <a:spLocks noGrp="1"/>
          </p:cNvSpPr>
          <p:nvPr>
            <p:ph sz="half" idx="2" hasCustomPrompt="1"/>
          </p:nvPr>
        </p:nvSpPr>
        <p:spPr>
          <a:xfrm>
            <a:off x="6553200" y="1011250"/>
            <a:ext cx="5146674"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9097546"/>
      </p:ext>
    </p:extLst>
  </p:cSld>
  <p:clrMapOvr>
    <a:masterClrMapping/>
  </p:clrMapOvr>
  <p:extLst>
    <p:ext uri="{DCECCB84-F9BA-43D5-87BE-67443E8EF086}">
      <p15:sldGuideLst xmlns:p15="http://schemas.microsoft.com/office/powerpoint/2012/main">
        <p15:guide id="1" pos="3840">
          <p15:clr>
            <a:srgbClr val="FBAE40"/>
          </p15:clr>
        </p15:guide>
        <p15:guide id="2" pos="412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 2/3 Image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lumMod val="75000"/>
                  </a:schemeClr>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lumMod val="75000"/>
                  </a:schemeClr>
                </a:solidFill>
              </a:defRPr>
            </a:lvl1pPr>
          </a:lstStyle>
          <a:p>
            <a:r>
              <a:rPr lang="en-US"/>
              <a:t>MSK Confidential — do not distribute</a:t>
            </a:r>
          </a:p>
        </p:txBody>
      </p:sp>
      <p:sp>
        <p:nvSpPr>
          <p:cNvPr id="2" name="Title 1"/>
          <p:cNvSpPr>
            <a:spLocks noGrp="1"/>
          </p:cNvSpPr>
          <p:nvPr>
            <p:ph type="title" hasCustomPrompt="1"/>
          </p:nvPr>
        </p:nvSpPr>
        <p:spPr>
          <a:xfrm>
            <a:off x="8284948" y="457201"/>
            <a:ext cx="3411538" cy="324444"/>
          </a:xfrm>
        </p:spPr>
        <p:txBody>
          <a:bodyPr vert="horz"/>
          <a:lstStyle>
            <a:lvl1pPr>
              <a:defRPr sz="2000" b="1">
                <a:solidFill>
                  <a:schemeClr val="accent1"/>
                </a:solidFill>
              </a:defRPr>
            </a:lvl1pPr>
          </a:lstStyle>
          <a:p>
            <a:pPr lvl="0"/>
            <a:r>
              <a:rPr lang="en-US" dirty="0"/>
              <a:t>Slide title; short (1 line)</a:t>
            </a:r>
          </a:p>
        </p:txBody>
      </p:sp>
      <p:sp>
        <p:nvSpPr>
          <p:cNvPr id="4" name="Content Placeholder 3"/>
          <p:cNvSpPr>
            <a:spLocks noGrp="1"/>
          </p:cNvSpPr>
          <p:nvPr>
            <p:ph sz="half" idx="2" hasCustomPrompt="1"/>
          </p:nvPr>
        </p:nvSpPr>
        <p:spPr>
          <a:xfrm>
            <a:off x="8284948" y="1011250"/>
            <a:ext cx="341153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02875700"/>
      </p:ext>
    </p:extLst>
  </p:cSld>
  <p:clrMapOvr>
    <a:masterClrMapping/>
  </p:clrMapOvr>
  <p:extLst>
    <p:ext uri="{DCECCB84-F9BA-43D5-87BE-67443E8EF086}">
      <p15:sldGuideLst xmlns:p15="http://schemas.microsoft.com/office/powerpoint/2012/main">
        <p15:guide id="1" pos="5209">
          <p15:clr>
            <a:srgbClr val="FBAE40"/>
          </p15:clr>
        </p15:guide>
        <p15:guide id="2" pos="492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 +1/3 Image Right">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D5400A53-EBCB-4C45-958D-0060F4E1C0AE}"/>
              </a:ext>
            </a:extLst>
          </p:cNvPr>
          <p:cNvSpPr>
            <a:spLocks noGrp="1"/>
          </p:cNvSpPr>
          <p:nvPr>
            <p:ph type="pic" sz="quarter" idx="14"/>
          </p:nvPr>
        </p:nvSpPr>
        <p:spPr>
          <a:xfrm>
            <a:off x="7810500" y="0"/>
            <a:ext cx="4381500" cy="6858000"/>
          </a:xfrm>
          <a:solidFill>
            <a:schemeClr val="bg1">
              <a:lumMod val="95000"/>
            </a:schemeClr>
          </a:solidFill>
        </p:spPr>
        <p:txBody>
          <a:bodyPr/>
          <a:lstStyle>
            <a:lvl1pPr>
              <a:defRPr sz="1200">
                <a:solidFill>
                  <a:srgbClr val="FF0000"/>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4434840"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6829689" cy="324444"/>
          </a:xfrm>
        </p:spPr>
        <p:txBody>
          <a:bodyPr vert="horz"/>
          <a:lstStyle>
            <a:lvl1pPr>
              <a:defRPr sz="2000" b="1">
                <a:solidFill>
                  <a:schemeClr val="accent1"/>
                </a:solidFill>
              </a:defRPr>
            </a:lvl1pPr>
          </a:lstStyle>
          <a:p>
            <a:pPr lvl="0"/>
            <a:r>
              <a:rPr lang="en-US" dirty="0"/>
              <a:t>Slide title; Arial 20pt bold, sentence case (1 line)</a:t>
            </a:r>
          </a:p>
        </p:txBody>
      </p:sp>
      <p:sp>
        <p:nvSpPr>
          <p:cNvPr id="4" name="Content Placeholder 3"/>
          <p:cNvSpPr>
            <a:spLocks noGrp="1"/>
          </p:cNvSpPr>
          <p:nvPr>
            <p:ph sz="half" idx="2" hasCustomPrompt="1"/>
          </p:nvPr>
        </p:nvSpPr>
        <p:spPr>
          <a:xfrm>
            <a:off x="512064" y="1011250"/>
            <a:ext cx="683418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49587521"/>
      </p:ext>
    </p:extLst>
  </p:cSld>
  <p:clrMapOvr>
    <a:masterClrMapping/>
  </p:clrMapOvr>
  <p:extLst>
    <p:ext uri="{DCECCB84-F9BA-43D5-87BE-67443E8EF086}">
      <p15:sldGuideLst xmlns:p15="http://schemas.microsoft.com/office/powerpoint/2012/main">
        <p15:guide id="1" pos="4914">
          <p15:clr>
            <a:srgbClr val="FBAE40"/>
          </p15:clr>
        </p15:guide>
        <p15:guide id="2" pos="462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Content + 1/2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6096000" y="0"/>
            <a:ext cx="60960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5152597"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5143286" cy="324444"/>
          </a:xfrm>
        </p:spPr>
        <p:txBody>
          <a:bodyPr vert="horz"/>
          <a:lstStyle>
            <a:lvl1pPr>
              <a:defRPr sz="2000" b="1">
                <a:solidFill>
                  <a:schemeClr val="accent1"/>
                </a:solidFill>
              </a:defRPr>
            </a:lvl1pPr>
          </a:lstStyle>
          <a:p>
            <a:pPr lvl="0"/>
            <a:r>
              <a:rPr lang="en-US" dirty="0"/>
              <a:t>Slide title; Arial 20pt bold, short (1 line)</a:t>
            </a:r>
          </a:p>
        </p:txBody>
      </p:sp>
      <p:sp>
        <p:nvSpPr>
          <p:cNvPr id="4" name="Content Placeholder 3"/>
          <p:cNvSpPr>
            <a:spLocks noGrp="1"/>
          </p:cNvSpPr>
          <p:nvPr>
            <p:ph sz="half" idx="2" hasCustomPrompt="1"/>
          </p:nvPr>
        </p:nvSpPr>
        <p:spPr>
          <a:xfrm>
            <a:off x="512064" y="1011250"/>
            <a:ext cx="5146674"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4022555"/>
      </p:ext>
    </p:extLst>
  </p:cSld>
  <p:clrMapOvr>
    <a:masterClrMapping/>
  </p:clrMapOvr>
  <p:extLst>
    <p:ext uri="{DCECCB84-F9BA-43D5-87BE-67443E8EF086}">
      <p15:sldGuideLst xmlns:p15="http://schemas.microsoft.com/office/powerpoint/2012/main">
        <p15:guide id="1" pos="3840">
          <p15:clr>
            <a:srgbClr val="FBAE40"/>
          </p15:clr>
        </p15:guide>
        <p15:guide id="2" pos="355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 + 2/3 Image R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B5636C5-BFB6-2342-91CC-8DC10C4A16DD}"/>
              </a:ext>
            </a:extLst>
          </p:cNvPr>
          <p:cNvSpPr>
            <a:spLocks noGrp="1"/>
          </p:cNvSpPr>
          <p:nvPr>
            <p:ph type="pic" sz="quarter" idx="12"/>
          </p:nvPr>
        </p:nvSpPr>
        <p:spPr>
          <a:xfrm>
            <a:off x="4381500" y="0"/>
            <a:ext cx="7810500" cy="6858000"/>
          </a:xfrm>
          <a:solidFill>
            <a:schemeClr val="bg1">
              <a:lumMod val="95000"/>
            </a:schemeClr>
          </a:solidFill>
        </p:spPr>
        <p:txBody>
          <a:bodyPr/>
          <a:lstStyle>
            <a:lvl1pPr>
              <a:defRPr sz="1200">
                <a:solidFill>
                  <a:srgbClr val="FF0000"/>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67A3A9BC-C48A-B640-9981-56B68FE2E241}"/>
              </a:ext>
            </a:extLst>
          </p:cNvPr>
          <p:cNvSpPr>
            <a:spLocks noGrp="1"/>
          </p:cNvSpPr>
          <p:nvPr>
            <p:ph type="sldNum" sz="quarter" idx="11"/>
          </p:nvPr>
        </p:nvSpPr>
        <p:spPr/>
        <p:txBody>
          <a:bodyPr/>
          <a:lstStyle>
            <a:lvl1pPr>
              <a:defRPr>
                <a:solidFill>
                  <a:schemeClr val="bg1"/>
                </a:solidFill>
              </a:defRPr>
            </a:lvl1pPr>
          </a:lstStyle>
          <a:p>
            <a:fld id="{523A240F-EAFE-E84F-B44C-6D7A08E0E409}" type="slidenum">
              <a:rPr lang="en-US" smtClean="0"/>
              <a:t>‹#›</a:t>
            </a:fld>
            <a:endParaRPr lang="en-US"/>
          </a:p>
        </p:txBody>
      </p:sp>
      <p:sp>
        <p:nvSpPr>
          <p:cNvPr id="8" name="Footer Placeholder 7">
            <a:extLst>
              <a:ext uri="{FF2B5EF4-FFF2-40B4-BE49-F238E27FC236}">
                <a16:creationId xmlns:a16="http://schemas.microsoft.com/office/drawing/2014/main" id="{31BF9A46-99FC-774E-98CA-CB47B58C9F81}"/>
              </a:ext>
            </a:extLst>
          </p:cNvPr>
          <p:cNvSpPr>
            <a:spLocks noGrp="1"/>
          </p:cNvSpPr>
          <p:nvPr>
            <p:ph type="ftr" sz="quarter" idx="10"/>
          </p:nvPr>
        </p:nvSpPr>
        <p:spPr/>
        <p:txBody>
          <a:bodyPr/>
          <a:lstStyle>
            <a:lvl1pPr>
              <a:defRPr>
                <a:solidFill>
                  <a:schemeClr val="bg1"/>
                </a:solidFill>
              </a:defRPr>
            </a:lvl1pPr>
          </a:lstStyle>
          <a:p>
            <a:r>
              <a:rPr lang="en-US"/>
              <a:t>MSK Confidential — do not distribute</a:t>
            </a:r>
          </a:p>
        </p:txBody>
      </p:sp>
      <p:sp>
        <p:nvSpPr>
          <p:cNvPr id="11" name="Footnote Placeholder">
            <a:extLst>
              <a:ext uri="{FF2B5EF4-FFF2-40B4-BE49-F238E27FC236}">
                <a16:creationId xmlns:a16="http://schemas.microsoft.com/office/drawing/2014/main" id="{F20ACA8E-6072-8043-8EC3-B4E2FDB9B091}"/>
              </a:ext>
            </a:extLst>
          </p:cNvPr>
          <p:cNvSpPr>
            <a:spLocks noGrp="1"/>
          </p:cNvSpPr>
          <p:nvPr>
            <p:ph type="body" sz="half" idx="13" hasCustomPrompt="1"/>
          </p:nvPr>
        </p:nvSpPr>
        <p:spPr>
          <a:xfrm>
            <a:off x="512064" y="6374651"/>
            <a:ext cx="3411539" cy="245223"/>
          </a:xfrm>
        </p:spPr>
        <p:txBody>
          <a:bodyPr anchor="b"/>
          <a:lstStyle>
            <a:lvl1pPr marL="0" indent="0">
              <a:buNone/>
              <a:defRPr sz="8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a footnote</a:t>
            </a:r>
          </a:p>
        </p:txBody>
      </p:sp>
      <p:sp>
        <p:nvSpPr>
          <p:cNvPr id="2" name="Title 1"/>
          <p:cNvSpPr>
            <a:spLocks noGrp="1"/>
          </p:cNvSpPr>
          <p:nvPr>
            <p:ph type="title" hasCustomPrompt="1"/>
          </p:nvPr>
        </p:nvSpPr>
        <p:spPr>
          <a:xfrm>
            <a:off x="512064" y="457201"/>
            <a:ext cx="3411538" cy="324444"/>
          </a:xfrm>
        </p:spPr>
        <p:txBody>
          <a:bodyPr vert="horz"/>
          <a:lstStyle>
            <a:lvl1pPr>
              <a:defRPr sz="2000" b="1">
                <a:solidFill>
                  <a:schemeClr val="accent1"/>
                </a:solidFill>
              </a:defRPr>
            </a:lvl1pPr>
          </a:lstStyle>
          <a:p>
            <a:pPr lvl="0"/>
            <a:r>
              <a:rPr lang="en-US" dirty="0"/>
              <a:t>Slide title; short (1 line)</a:t>
            </a:r>
          </a:p>
        </p:txBody>
      </p:sp>
      <p:sp>
        <p:nvSpPr>
          <p:cNvPr id="4" name="Content Placeholder 3"/>
          <p:cNvSpPr>
            <a:spLocks noGrp="1"/>
          </p:cNvSpPr>
          <p:nvPr>
            <p:ph sz="half" idx="2" hasCustomPrompt="1"/>
          </p:nvPr>
        </p:nvSpPr>
        <p:spPr>
          <a:xfrm>
            <a:off x="512064" y="1011250"/>
            <a:ext cx="3411538" cy="5094275"/>
          </a:xfrm>
        </p:spPr>
        <p:txBody>
          <a:bodyPr/>
          <a:lstStyle/>
          <a:p>
            <a:pPr lvl="0"/>
            <a:r>
              <a:rPr lang="en-US" dirty="0"/>
              <a:t>Click to type text. To activate sub-level formatting, place cursor at beginning of text/line and hit tab or shift tab. Click icon for chart or table.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979163"/>
      </p:ext>
    </p:extLst>
  </p:cSld>
  <p:clrMapOvr>
    <a:masterClrMapping/>
  </p:clrMapOvr>
  <p:extLst>
    <p:ext uri="{DCECCB84-F9BA-43D5-87BE-67443E8EF086}">
      <p15:sldGuideLst xmlns:p15="http://schemas.microsoft.com/office/powerpoint/2012/main">
        <p15:guide id="1" pos="2467">
          <p15:clr>
            <a:srgbClr val="FBAE40"/>
          </p15:clr>
        </p15:guide>
        <p15:guide id="2" pos="275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Back Pag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2">
            <a:extLst>
              <a:ext uri="{FF2B5EF4-FFF2-40B4-BE49-F238E27FC236}">
                <a16:creationId xmlns:a16="http://schemas.microsoft.com/office/drawing/2014/main" id="{9187A733-2828-FF4D-A1DC-7E7D7BF66120}"/>
              </a:ext>
            </a:extLst>
          </p:cNvPr>
          <p:cNvSpPr txBox="1"/>
          <p:nvPr/>
        </p:nvSpPr>
        <p:spPr>
          <a:xfrm>
            <a:off x="2" y="2690337"/>
            <a:ext cx="12191999" cy="1477328"/>
          </a:xfrm>
          <a:prstGeom prst="rect">
            <a:avLst/>
          </a:prstGeom>
          <a:noFill/>
        </p:spPr>
        <p:txBody>
          <a:bodyPr wrap="square" lIns="337500" rIns="337500" rtlCol="0" anchor="ctr" anchorCtr="0">
            <a:spAutoFit/>
          </a:bodyPr>
          <a:lstStyle/>
          <a:p>
            <a:pPr algn="ctr"/>
            <a:r>
              <a:rPr lang="en-CA" sz="9000" i="0" noProof="0" dirty="0">
                <a:solidFill>
                  <a:schemeClr val="tx2"/>
                </a:solidFill>
                <a:latin typeface="+mn-lt"/>
              </a:rPr>
              <a:t>End Page layouts</a:t>
            </a:r>
          </a:p>
        </p:txBody>
      </p:sp>
    </p:spTree>
    <p:extLst>
      <p:ext uri="{BB962C8B-B14F-4D97-AF65-F5344CB8AC3E}">
        <p14:creationId xmlns:p14="http://schemas.microsoft.com/office/powerpoint/2010/main" val="320706772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Back Pag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0"/>
          </a:xfrm>
          <a:prstGeom prst="rect">
            <a:avLst/>
          </a:prstGeom>
        </p:spPr>
      </p:pic>
    </p:spTree>
    <p:extLst>
      <p:ext uri="{BB962C8B-B14F-4D97-AF65-F5344CB8AC3E}">
        <p14:creationId xmlns:p14="http://schemas.microsoft.com/office/powerpoint/2010/main" val="141663893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Back Page Blue">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F54C89-1860-6542-AE68-06CDC85D9D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481346" y="2628924"/>
            <a:ext cx="3229307" cy="1600151"/>
          </a:xfrm>
          <a:prstGeom prst="rect">
            <a:avLst/>
          </a:prstGeom>
        </p:spPr>
      </p:pic>
    </p:spTree>
    <p:extLst>
      <p:ext uri="{BB962C8B-B14F-4D97-AF65-F5344CB8AC3E}">
        <p14:creationId xmlns:p14="http://schemas.microsoft.com/office/powerpoint/2010/main" val="33342117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Warning">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7B9861-91E9-C742-B7A7-F218EA9C1F1A}"/>
              </a:ext>
            </a:extLst>
          </p:cNvPr>
          <p:cNvSpPr txBox="1"/>
          <p:nvPr/>
        </p:nvSpPr>
        <p:spPr>
          <a:xfrm>
            <a:off x="2" y="1651589"/>
            <a:ext cx="12191999" cy="3554819"/>
          </a:xfrm>
          <a:prstGeom prst="rect">
            <a:avLst/>
          </a:prstGeom>
          <a:noFill/>
        </p:spPr>
        <p:txBody>
          <a:bodyPr wrap="square" lIns="337500" rIns="337500" rtlCol="0" anchor="ctr" anchorCtr="0">
            <a:spAutoFit/>
          </a:bodyPr>
          <a:lstStyle/>
          <a:p>
            <a:pPr algn="ctr"/>
            <a:r>
              <a:rPr lang="en-CA" sz="7500" noProof="0" dirty="0">
                <a:solidFill>
                  <a:schemeClr val="tx2"/>
                </a:solidFill>
                <a:latin typeface="+mj-lt"/>
              </a:rPr>
              <a:t>Do not use any of the layouts that may appear after this one</a:t>
            </a:r>
          </a:p>
        </p:txBody>
      </p:sp>
    </p:spTree>
    <p:extLst>
      <p:ext uri="{BB962C8B-B14F-4D97-AF65-F5344CB8AC3E}">
        <p14:creationId xmlns:p14="http://schemas.microsoft.com/office/powerpoint/2010/main" val="26020598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320121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241741" y="6378130"/>
            <a:ext cx="454745"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fld id="{523A240F-EAFE-E84F-B44C-6D7A08E0E409}" type="slidenum">
              <a:rPr lang="en-US" smtClean="0"/>
              <a:t>‹#›</a:t>
            </a:fld>
            <a:endParaRPr lang="en-US"/>
          </a:p>
        </p:txBody>
      </p:sp>
      <p:sp>
        <p:nvSpPr>
          <p:cNvPr id="5" name="Footer Placeholder 4"/>
          <p:cNvSpPr>
            <a:spLocks noGrp="1"/>
          </p:cNvSpPr>
          <p:nvPr>
            <p:ph type="ftr" sz="quarter" idx="3"/>
          </p:nvPr>
        </p:nvSpPr>
        <p:spPr>
          <a:xfrm>
            <a:off x="8839199" y="6378130"/>
            <a:ext cx="2241177" cy="245223"/>
          </a:xfrm>
          <a:prstGeom prst="rect">
            <a:avLst/>
          </a:prstGeom>
        </p:spPr>
        <p:txBody>
          <a:bodyPr lIns="0" tIns="0" rIns="0" bIns="0" anchor="b"/>
          <a:lstStyle>
            <a:lvl1pPr algn="r">
              <a:defRPr lang="en-US" sz="1000" smtClean="0">
                <a:solidFill>
                  <a:schemeClr val="bg1">
                    <a:lumMod val="75000"/>
                  </a:schemeClr>
                </a:solidFill>
                <a:latin typeface="+mn-lt"/>
                <a:cs typeface="Arial" panose="020B0604020202020204" pitchFamily="34" charset="0"/>
              </a:defRPr>
            </a:lvl1pPr>
          </a:lstStyle>
          <a:p>
            <a:r>
              <a:rPr lang="en-US"/>
              <a:t>MSK Confidential — do not distribute</a:t>
            </a:r>
          </a:p>
        </p:txBody>
      </p:sp>
      <p:sp>
        <p:nvSpPr>
          <p:cNvPr id="2" name="Title Placeholder 1"/>
          <p:cNvSpPr>
            <a:spLocks noGrp="1"/>
          </p:cNvSpPr>
          <p:nvPr>
            <p:ph type="title"/>
          </p:nvPr>
        </p:nvSpPr>
        <p:spPr>
          <a:xfrm>
            <a:off x="512063" y="457201"/>
            <a:ext cx="11184423" cy="9144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512064" y="1700783"/>
            <a:ext cx="11184422" cy="440474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1188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5" r:id="rId74"/>
  </p:sldLayoutIdLst>
  <p:hf hdr="0" dt="0"/>
  <p:txStyles>
    <p:titleStyle>
      <a:lvl1pPr algn="l" defTabSz="914400" rtl="0" eaLnBrk="1" latinLnBrk="0" hangingPunct="1">
        <a:lnSpc>
          <a:spcPct val="90000"/>
        </a:lnSpc>
        <a:spcBef>
          <a:spcPct val="0"/>
        </a:spcBef>
        <a:buNone/>
        <a:defRPr sz="32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rgbClr val="272524"/>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2pPr>
      <a:lvl3pPr marL="4572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3pPr>
      <a:lvl4pPr marL="685800" indent="-228600" algn="l" defTabSz="914400" rtl="0" eaLnBrk="1" latinLnBrk="0" hangingPunct="1">
        <a:lnSpc>
          <a:spcPct val="100000"/>
        </a:lnSpc>
        <a:spcBef>
          <a:spcPts val="0"/>
        </a:spcBef>
        <a:spcAft>
          <a:spcPts val="600"/>
        </a:spcAft>
        <a:buFont typeface="Arial" panose="020B0604020202020204" pitchFamily="34" charset="0"/>
        <a:buChar char="•"/>
        <a:tabLst/>
        <a:defRPr sz="1800" kern="1200">
          <a:solidFill>
            <a:srgbClr val="272524"/>
          </a:solidFill>
          <a:latin typeface="+mn-lt"/>
          <a:ea typeface="+mn-ea"/>
          <a:cs typeface="+mn-cs"/>
        </a:defRPr>
      </a:lvl4pPr>
      <a:lvl5pPr marL="914400" indent="-228600" algn="l" defTabSz="914400" rtl="0" eaLnBrk="1" latinLnBrk="0" hangingPunct="1">
        <a:lnSpc>
          <a:spcPct val="100000"/>
        </a:lnSpc>
        <a:spcBef>
          <a:spcPts val="0"/>
        </a:spcBef>
        <a:spcAft>
          <a:spcPts val="600"/>
        </a:spcAft>
        <a:buFont typeface="System Font Regular"/>
        <a:buChar char="–"/>
        <a:tabLst/>
        <a:defRPr sz="1800" kern="1200">
          <a:solidFill>
            <a:srgbClr val="27252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p15:clr>
            <a:srgbClr val="F26B43"/>
          </p15:clr>
        </p15:guide>
        <p15:guide id="2" pos="318">
          <p15:clr>
            <a:srgbClr val="F26B43"/>
          </p15:clr>
        </p15:guide>
        <p15:guide id="3" pos="7370">
          <p15:clr>
            <a:srgbClr val="F26B43"/>
          </p15:clr>
        </p15:guide>
        <p15:guide id="4" orient="horz" pos="4170">
          <p15:clr>
            <a:srgbClr val="F26B43"/>
          </p15:clr>
        </p15:guide>
        <p15:guide id="5" orient="horz" pos="864">
          <p15:clr>
            <a:srgbClr val="F26B43"/>
          </p15:clr>
        </p15:guide>
        <p15:guide id="6" orient="horz" pos="1070">
          <p15:clr>
            <a:srgbClr val="F26B43"/>
          </p15:clr>
        </p15:guide>
        <p15:guide id="7" orient="horz" pos="38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4.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C1B9BD7-563B-1177-4B1B-4715367F3ADA}"/>
              </a:ext>
            </a:extLst>
          </p:cNvPr>
          <p:cNvSpPr>
            <a:spLocks noGrp="1"/>
          </p:cNvSpPr>
          <p:nvPr>
            <p:ph type="pic" sz="quarter" idx="11"/>
          </p:nvPr>
        </p:nvSpPr>
        <p:spPr/>
        <p:txBody>
          <a:bodyPr/>
          <a:lstStyle/>
          <a:p>
            <a:endParaRPr lang="en-US"/>
          </a:p>
        </p:txBody>
      </p:sp>
      <p:sp>
        <p:nvSpPr>
          <p:cNvPr id="5" name="Footer Placeholder 4">
            <a:extLst>
              <a:ext uri="{FF2B5EF4-FFF2-40B4-BE49-F238E27FC236}">
                <a16:creationId xmlns:a16="http://schemas.microsoft.com/office/drawing/2014/main" id="{B295BDCC-43E6-A6DE-B14D-3C248ACC4481}"/>
              </a:ext>
            </a:extLst>
          </p:cNvPr>
          <p:cNvSpPr>
            <a:spLocks noGrp="1"/>
          </p:cNvSpPr>
          <p:nvPr>
            <p:ph type="ftr" sz="quarter" idx="10"/>
          </p:nvPr>
        </p:nvSpPr>
        <p:spPr/>
        <p:txBody>
          <a:bodyPr/>
          <a:lstStyle/>
          <a:p>
            <a:r>
              <a:rPr lang="en-US"/>
              <a:t>MSK Confidential — do not distribute</a:t>
            </a:r>
          </a:p>
        </p:txBody>
      </p:sp>
      <p:sp>
        <p:nvSpPr>
          <p:cNvPr id="3" name="Title 2">
            <a:extLst>
              <a:ext uri="{FF2B5EF4-FFF2-40B4-BE49-F238E27FC236}">
                <a16:creationId xmlns:a16="http://schemas.microsoft.com/office/drawing/2014/main" id="{6AF1DB00-25C4-6CF6-13A2-0F7F62266BC7}"/>
              </a:ext>
            </a:extLst>
          </p:cNvPr>
          <p:cNvSpPr>
            <a:spLocks noGrp="1"/>
          </p:cNvSpPr>
          <p:nvPr>
            <p:ph type="ctrTitle"/>
          </p:nvPr>
        </p:nvSpPr>
        <p:spPr/>
        <p:txBody>
          <a:bodyPr/>
          <a:lstStyle/>
          <a:p>
            <a:r>
              <a:rPr lang="en-US" dirty="0"/>
              <a:t>OPTICS Work in Progress</a:t>
            </a:r>
          </a:p>
        </p:txBody>
      </p:sp>
      <p:sp>
        <p:nvSpPr>
          <p:cNvPr id="6" name="Text Placeholder 5">
            <a:extLst>
              <a:ext uri="{FF2B5EF4-FFF2-40B4-BE49-F238E27FC236}">
                <a16:creationId xmlns:a16="http://schemas.microsoft.com/office/drawing/2014/main" id="{19FB656C-3A8F-3B84-3362-8412A6288298}"/>
              </a:ext>
            </a:extLst>
          </p:cNvPr>
          <p:cNvSpPr>
            <a:spLocks noGrp="1"/>
          </p:cNvSpPr>
          <p:nvPr>
            <p:ph type="body" sz="quarter" idx="12"/>
          </p:nvPr>
        </p:nvSpPr>
        <p:spPr>
          <a:xfrm>
            <a:off x="504825" y="4617720"/>
            <a:ext cx="3505201" cy="457200"/>
          </a:xfrm>
        </p:spPr>
        <p:txBody>
          <a:bodyPr/>
          <a:lstStyle/>
          <a:p>
            <a:r>
              <a:rPr lang="en-US" dirty="0"/>
              <a:t>December 18, 2025</a:t>
            </a:r>
          </a:p>
        </p:txBody>
      </p:sp>
      <p:sp>
        <p:nvSpPr>
          <p:cNvPr id="7" name="Text Placeholder 6">
            <a:extLst>
              <a:ext uri="{FF2B5EF4-FFF2-40B4-BE49-F238E27FC236}">
                <a16:creationId xmlns:a16="http://schemas.microsoft.com/office/drawing/2014/main" id="{4730289A-E9FD-D95C-7012-930F68A3BDE3}"/>
              </a:ext>
            </a:extLst>
          </p:cNvPr>
          <p:cNvSpPr>
            <a:spLocks noGrp="1"/>
          </p:cNvSpPr>
          <p:nvPr>
            <p:ph type="body" sz="quarter" idx="13"/>
          </p:nvPr>
        </p:nvSpPr>
        <p:spPr/>
        <p:txBody>
          <a:bodyPr/>
          <a:lstStyle/>
          <a:p>
            <a:r>
              <a:rPr lang="en-US" dirty="0"/>
              <a:t>By: Robert James</a:t>
            </a:r>
          </a:p>
        </p:txBody>
      </p:sp>
    </p:spTree>
    <p:extLst>
      <p:ext uri="{BB962C8B-B14F-4D97-AF65-F5344CB8AC3E}">
        <p14:creationId xmlns:p14="http://schemas.microsoft.com/office/powerpoint/2010/main" val="3408005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7CF7D0-089C-458F-8649-FB16C47BA62A}"/>
              </a:ext>
            </a:extLst>
          </p:cNvPr>
          <p:cNvSpPr>
            <a:spLocks noGrp="1"/>
          </p:cNvSpPr>
          <p:nvPr>
            <p:ph type="sldNum" sz="quarter" idx="11"/>
          </p:nvPr>
        </p:nvSpPr>
        <p:spPr/>
        <p:txBody>
          <a:bodyPr/>
          <a:lstStyle/>
          <a:p>
            <a:fld id="{523A240F-EAFE-E84F-B44C-6D7A08E0E409}" type="slidenum">
              <a:rPr lang="en-US" smtClean="0"/>
              <a:t>2</a:t>
            </a:fld>
            <a:endParaRPr lang="en-US"/>
          </a:p>
        </p:txBody>
      </p:sp>
      <p:sp>
        <p:nvSpPr>
          <p:cNvPr id="3" name="Footer Placeholder 2">
            <a:extLst>
              <a:ext uri="{FF2B5EF4-FFF2-40B4-BE49-F238E27FC236}">
                <a16:creationId xmlns:a16="http://schemas.microsoft.com/office/drawing/2014/main" id="{15AB1AEB-AEC1-D5B9-4596-07028E197C36}"/>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90928935-3239-B2BC-A956-B24DCCBF6C37}"/>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0F86A71B-062C-9DC3-6F25-B88AEE14E487}"/>
              </a:ext>
            </a:extLst>
          </p:cNvPr>
          <p:cNvSpPr>
            <a:spLocks noGrp="1"/>
          </p:cNvSpPr>
          <p:nvPr>
            <p:ph type="title"/>
          </p:nvPr>
        </p:nvSpPr>
        <p:spPr/>
        <p:txBody>
          <a:bodyPr/>
          <a:lstStyle/>
          <a:p>
            <a:r>
              <a:rPr lang="en-US" dirty="0"/>
              <a:t>What is the clinical problem?</a:t>
            </a:r>
          </a:p>
        </p:txBody>
      </p:sp>
      <p:sp>
        <p:nvSpPr>
          <p:cNvPr id="6" name="Text Placeholder 5">
            <a:extLst>
              <a:ext uri="{FF2B5EF4-FFF2-40B4-BE49-F238E27FC236}">
                <a16:creationId xmlns:a16="http://schemas.microsoft.com/office/drawing/2014/main" id="{C875E457-737A-A963-0E63-9E693B495645}"/>
              </a:ext>
            </a:extLst>
          </p:cNvPr>
          <p:cNvSpPr>
            <a:spLocks noGrp="1"/>
          </p:cNvSpPr>
          <p:nvPr>
            <p:ph type="body" idx="12"/>
          </p:nvPr>
        </p:nvSpPr>
        <p:spPr/>
        <p:txBody>
          <a:bodyPr/>
          <a:lstStyle/>
          <a:p>
            <a:r>
              <a:rPr lang="en-US" dirty="0"/>
              <a:t>Introduction</a:t>
            </a:r>
          </a:p>
        </p:txBody>
      </p:sp>
      <p:sp>
        <p:nvSpPr>
          <p:cNvPr id="7" name="Content Placeholder 6">
            <a:extLst>
              <a:ext uri="{FF2B5EF4-FFF2-40B4-BE49-F238E27FC236}">
                <a16:creationId xmlns:a16="http://schemas.microsoft.com/office/drawing/2014/main" id="{1204EBE0-101C-4413-A0FB-D607F9FF6043}"/>
              </a:ext>
            </a:extLst>
          </p:cNvPr>
          <p:cNvSpPr>
            <a:spLocks noGrp="1"/>
          </p:cNvSpPr>
          <p:nvPr>
            <p:ph idx="1"/>
          </p:nvPr>
        </p:nvSpPr>
        <p:spPr/>
        <p:txBody>
          <a:bodyPr/>
          <a:lstStyle/>
          <a:p>
            <a:r>
              <a:rPr lang="en-US" dirty="0"/>
              <a:t>Synthesis of oncologic data for breast cancer surgical consultations is time intensive, error prone, and variable across clinicians</a:t>
            </a:r>
          </a:p>
          <a:p>
            <a:endParaRPr lang="en-US" dirty="0"/>
          </a:p>
          <a:p>
            <a:r>
              <a:rPr lang="en-US" dirty="0"/>
              <a:t>Clinical information is fragmented across radiology and pathology reports, creating significant cognitive burden</a:t>
            </a:r>
          </a:p>
          <a:p>
            <a:endParaRPr lang="en-US" dirty="0"/>
          </a:p>
          <a:p>
            <a:r>
              <a:rPr lang="en-US" dirty="0"/>
              <a:t>Large language models (LLMs) offer a potential solution for structured extraction and concise summarization of clinical data. </a:t>
            </a:r>
          </a:p>
        </p:txBody>
      </p:sp>
    </p:spTree>
    <p:extLst>
      <p:ext uri="{BB962C8B-B14F-4D97-AF65-F5344CB8AC3E}">
        <p14:creationId xmlns:p14="http://schemas.microsoft.com/office/powerpoint/2010/main" val="3530447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What is an LLM?</a:t>
            </a:r>
          </a:p>
          <a:p>
            <a:pPr marL="285750" indent="-285750">
              <a:buFont typeface="Arial" panose="020B0604020202020204" pitchFamily="34" charset="0"/>
              <a:buChar char="•"/>
            </a:pPr>
            <a:r>
              <a:rPr lang="en-US" dirty="0"/>
              <a:t>Neural networks trained on large text corpora</a:t>
            </a:r>
          </a:p>
          <a:p>
            <a:pPr marL="285750" indent="-285750">
              <a:buFont typeface="Arial" panose="020B0604020202020204" pitchFamily="34" charset="0"/>
              <a:buChar char="•"/>
            </a:pPr>
            <a:r>
              <a:rPr lang="en-US" dirty="0"/>
              <a:t>Based on transformer architecture</a:t>
            </a:r>
          </a:p>
          <a:p>
            <a:pPr marL="285750" indent="-285750">
              <a:buFont typeface="Arial" panose="020B0604020202020204" pitchFamily="34" charset="0"/>
              <a:buChar char="•"/>
            </a:pPr>
            <a:r>
              <a:rPr lang="en-US" dirty="0"/>
              <a:t>Learn probability distributions over language</a:t>
            </a:r>
          </a:p>
          <a:p>
            <a:pPr marL="285750" indent="-285750">
              <a:buFont typeface="Arial" panose="020B0604020202020204" pitchFamily="34" charset="0"/>
              <a:buChar char="•"/>
            </a:pPr>
            <a:r>
              <a:rPr lang="en-US" dirty="0"/>
              <a:t>Non-deterministic outputs (same input ≠ same output)"</a:t>
            </a:r>
          </a:p>
          <a:p>
            <a:endParaRPr lang="en-US" dirty="0"/>
          </a:p>
        </p:txBody>
      </p:sp>
      <p:sp>
        <p:nvSpPr>
          <p:cNvPr id="6" name="Title 4">
            <a:extLst>
              <a:ext uri="{FF2B5EF4-FFF2-40B4-BE49-F238E27FC236}">
                <a16:creationId xmlns:a16="http://schemas.microsoft.com/office/drawing/2014/main" id="{DDB093FB-AA2A-182D-6672-E334FC58E494}"/>
              </a:ext>
            </a:extLst>
          </p:cNvPr>
          <p:cNvSpPr txBox="1">
            <a:spLocks/>
          </p:cNvSpPr>
          <p:nvPr/>
        </p:nvSpPr>
        <p:spPr>
          <a:xfrm>
            <a:off x="581348" y="950391"/>
            <a:ext cx="11184423" cy="555813"/>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spc="-50" baseline="0">
                <a:solidFill>
                  <a:schemeClr val="tx1"/>
                </a:solidFill>
                <a:latin typeface="+mj-lt"/>
                <a:ea typeface="+mj-ea"/>
                <a:cs typeface="+mj-cs"/>
              </a:defRPr>
            </a:lvl1pPr>
          </a:lstStyle>
          <a:p>
            <a:r>
              <a:rPr lang="en-US" dirty="0"/>
              <a:t>LLM Basic</a:t>
            </a:r>
          </a:p>
        </p:txBody>
      </p:sp>
      <p:sp>
        <p:nvSpPr>
          <p:cNvPr id="7" name="Text Placeholder 5">
            <a:extLst>
              <a:ext uri="{FF2B5EF4-FFF2-40B4-BE49-F238E27FC236}">
                <a16:creationId xmlns:a16="http://schemas.microsoft.com/office/drawing/2014/main" id="{87471FD3-21E3-B9DF-C87C-DE246FB698FC}"/>
              </a:ext>
            </a:extLst>
          </p:cNvPr>
          <p:cNvSpPr txBox="1">
            <a:spLocks/>
          </p:cNvSpPr>
          <p:nvPr/>
        </p:nvSpPr>
        <p:spPr>
          <a:xfrm>
            <a:off x="512064" y="421340"/>
            <a:ext cx="11184422" cy="295276"/>
          </a:xfrm>
          <a:prstGeom prst="rect">
            <a:avLst/>
          </a:prstGeom>
        </p:spPr>
        <p:txBody>
          <a:bodyPr lIns="0" tIns="0" rIns="0" bIns="0" anchor="b"/>
          <a:lstStyle>
            <a:defPPr>
              <a:defRPr lang="en-US"/>
            </a:defPPr>
            <a:lvl1pPr marL="0" algn="r" defTabSz="914400" rtl="0" eaLnBrk="1" latinLnBrk="0" hangingPunct="1">
              <a:defRPr lang="en-US" sz="1000" kern="1200" smtClean="0">
                <a:solidFill>
                  <a:schemeClr val="bg1">
                    <a:lumMod val="75000"/>
                  </a:schemeClr>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a:t>
            </a:r>
            <a:endParaRPr lang="en-US" dirty="0"/>
          </a:p>
        </p:txBody>
      </p:sp>
      <p:sp>
        <p:nvSpPr>
          <p:cNvPr id="8" name="Text Placeholder 5">
            <a:extLst>
              <a:ext uri="{FF2B5EF4-FFF2-40B4-BE49-F238E27FC236}">
                <a16:creationId xmlns:a16="http://schemas.microsoft.com/office/drawing/2014/main" id="{B445DEBB-54EF-198E-EA64-7EB0A4977B03}"/>
              </a:ext>
            </a:extLst>
          </p:cNvPr>
          <p:cNvSpPr txBox="1">
            <a:spLocks/>
          </p:cNvSpPr>
          <p:nvPr/>
        </p:nvSpPr>
        <p:spPr>
          <a:xfrm>
            <a:off x="664464" y="573740"/>
            <a:ext cx="11184422" cy="295276"/>
          </a:xfrm>
          <a:prstGeom prst="rect">
            <a:avLst/>
          </a:prstGeom>
        </p:spPr>
        <p:txBody>
          <a:bodyPr lIns="0" tIns="0" rIns="0" bIns="0" anchor="b"/>
          <a:lstStyle>
            <a:defPPr>
              <a:defRPr lang="en-US"/>
            </a:defPPr>
            <a:lvl1pPr marL="0" algn="r" defTabSz="914400" rtl="0" eaLnBrk="1" latinLnBrk="0" hangingPunct="1">
              <a:defRPr lang="en-US" sz="1000" kern="1200" smtClean="0">
                <a:solidFill>
                  <a:schemeClr val="bg1">
                    <a:lumMod val="75000"/>
                  </a:schemeClr>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a:t>
            </a:r>
            <a:endParaRPr lang="en-US" dirty="0"/>
          </a:p>
        </p:txBody>
      </p:sp>
      <p:pic>
        <p:nvPicPr>
          <p:cNvPr id="9" name="Picture 8">
            <a:extLst>
              <a:ext uri="{FF2B5EF4-FFF2-40B4-BE49-F238E27FC236}">
                <a16:creationId xmlns:a16="http://schemas.microsoft.com/office/drawing/2014/main" id="{2D3C6785-637D-33A4-D293-D3FAD5E9A342}"/>
              </a:ext>
            </a:extLst>
          </p:cNvPr>
          <p:cNvPicPr>
            <a:picLocks noChangeAspect="1"/>
          </p:cNvPicPr>
          <p:nvPr/>
        </p:nvPicPr>
        <p:blipFill>
          <a:blip r:embed="rId3"/>
          <a:stretch>
            <a:fillRect/>
          </a:stretch>
        </p:blipFill>
        <p:spPr>
          <a:xfrm>
            <a:off x="426228" y="275920"/>
            <a:ext cx="11339543" cy="5364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870D87-7B7C-8507-B620-A99971953E78}"/>
              </a:ext>
            </a:extLst>
          </p:cNvPr>
          <p:cNvSpPr>
            <a:spLocks noGrp="1"/>
          </p:cNvSpPr>
          <p:nvPr>
            <p:ph type="sldNum" sz="quarter" idx="11"/>
          </p:nvPr>
        </p:nvSpPr>
        <p:spPr/>
        <p:txBody>
          <a:bodyPr/>
          <a:lstStyle/>
          <a:p>
            <a:fld id="{523A240F-EAFE-E84F-B44C-6D7A08E0E409}" type="slidenum">
              <a:rPr lang="en-US" smtClean="0"/>
              <a:t>4</a:t>
            </a:fld>
            <a:endParaRPr lang="en-US"/>
          </a:p>
        </p:txBody>
      </p:sp>
      <p:sp>
        <p:nvSpPr>
          <p:cNvPr id="3" name="Footer Placeholder 2">
            <a:extLst>
              <a:ext uri="{FF2B5EF4-FFF2-40B4-BE49-F238E27FC236}">
                <a16:creationId xmlns:a16="http://schemas.microsoft.com/office/drawing/2014/main" id="{873818DA-0F32-6884-E1FF-87A9C056BCF3}"/>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7F120752-8F4E-5A9B-1BC8-BDFB3DE47905}"/>
              </a:ext>
            </a:extLst>
          </p:cNvPr>
          <p:cNvSpPr>
            <a:spLocks noGrp="1"/>
          </p:cNvSpPr>
          <p:nvPr>
            <p:ph type="body" sz="half" idx="2"/>
          </p:nvPr>
        </p:nvSpPr>
        <p:spPr/>
        <p:txBody>
          <a:bodyPr/>
          <a:lstStyle/>
          <a:p>
            <a:endParaRPr lang="en-US" dirty="0"/>
          </a:p>
        </p:txBody>
      </p:sp>
      <p:sp>
        <p:nvSpPr>
          <p:cNvPr id="5" name="Title 4">
            <a:extLst>
              <a:ext uri="{FF2B5EF4-FFF2-40B4-BE49-F238E27FC236}">
                <a16:creationId xmlns:a16="http://schemas.microsoft.com/office/drawing/2014/main" id="{A5EE09DA-EA0D-2E24-41FB-87D9DE0607DD}"/>
              </a:ext>
            </a:extLst>
          </p:cNvPr>
          <p:cNvSpPr>
            <a:spLocks noGrp="1"/>
          </p:cNvSpPr>
          <p:nvPr>
            <p:ph type="title"/>
          </p:nvPr>
        </p:nvSpPr>
        <p:spPr/>
        <p:txBody>
          <a:bodyPr/>
          <a:lstStyle/>
          <a:p>
            <a:r>
              <a:rPr lang="en-US" dirty="0"/>
              <a:t>Prior Research</a:t>
            </a:r>
          </a:p>
        </p:txBody>
      </p:sp>
      <p:sp>
        <p:nvSpPr>
          <p:cNvPr id="6" name="Text Placeholder 5">
            <a:extLst>
              <a:ext uri="{FF2B5EF4-FFF2-40B4-BE49-F238E27FC236}">
                <a16:creationId xmlns:a16="http://schemas.microsoft.com/office/drawing/2014/main" id="{AA0D6D0A-25AC-2876-1550-748CF46B69B7}"/>
              </a:ext>
            </a:extLst>
          </p:cNvPr>
          <p:cNvSpPr>
            <a:spLocks noGrp="1"/>
          </p:cNvSpPr>
          <p:nvPr>
            <p:ph type="body" idx="12"/>
          </p:nvPr>
        </p:nvSpPr>
        <p:spPr/>
        <p:txBody>
          <a:bodyPr/>
          <a:lstStyle/>
          <a:p>
            <a:r>
              <a:rPr lang="en-US" dirty="0"/>
              <a:t>Introduction</a:t>
            </a:r>
          </a:p>
        </p:txBody>
      </p:sp>
      <p:sp>
        <p:nvSpPr>
          <p:cNvPr id="7" name="Content Placeholder 6">
            <a:extLst>
              <a:ext uri="{FF2B5EF4-FFF2-40B4-BE49-F238E27FC236}">
                <a16:creationId xmlns:a16="http://schemas.microsoft.com/office/drawing/2014/main" id="{D1E179AB-4DCE-FE24-6134-703A253C4539}"/>
              </a:ext>
            </a:extLst>
          </p:cNvPr>
          <p:cNvSpPr>
            <a:spLocks noGrp="1"/>
          </p:cNvSpPr>
          <p:nvPr>
            <p:ph idx="1"/>
          </p:nvPr>
        </p:nvSpPr>
        <p:spPr/>
        <p:txBody>
          <a:bodyPr/>
          <a:lstStyle/>
          <a:p>
            <a:pPr lvl="0" eaLnBrk="0" fontAlgn="base" hangingPunct="0">
              <a:spcBef>
                <a:spcPct val="0"/>
              </a:spcBef>
              <a:spcAft>
                <a:spcPct val="0"/>
              </a:spcAft>
            </a:pPr>
            <a:r>
              <a:rPr lang="en-US" altLang="en-US" dirty="0">
                <a:solidFill>
                  <a:schemeClr val="tx2"/>
                </a:solidFill>
                <a:latin typeface="Arial" panose="020B0604020202020204" pitchFamily="34" charset="0"/>
              </a:rPr>
              <a:t>Efficacy as compared to human generated summaries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tx2"/>
                </a:solidFill>
                <a:latin typeface="Arial" panose="020B0604020202020204" pitchFamily="34" charset="0"/>
              </a:rPr>
              <a:t>Performance comparable to clinicians in clinical summarization tasks</a:t>
            </a:r>
            <a:br>
              <a:rPr lang="en-US" altLang="en-US" dirty="0">
                <a:solidFill>
                  <a:schemeClr val="tx2"/>
                </a:solidFill>
                <a:latin typeface="Arial" panose="020B0604020202020204" pitchFamily="34" charset="0"/>
              </a:rPr>
            </a:br>
            <a:r>
              <a:rPr lang="en-US" altLang="en-US" i="1" dirty="0">
                <a:solidFill>
                  <a:schemeClr val="tx2"/>
                </a:solidFill>
                <a:latin typeface="Arial" panose="020B0604020202020204" pitchFamily="34" charset="0"/>
              </a:rPr>
              <a:t>(Van Veen et al., 2023)</a:t>
            </a:r>
            <a:r>
              <a:rPr lang="en-US" altLang="en-US" dirty="0">
                <a:solidFill>
                  <a:schemeClr val="tx2"/>
                </a:solidFill>
                <a:latin typeface="Arial" panose="020B0604020202020204" pitchFamily="34" charset="0"/>
              </a:rPr>
              <a:t> </a:t>
            </a:r>
          </a:p>
          <a:p>
            <a:pPr marL="0" lvl="1" indent="0" eaLnBrk="0" fontAlgn="base" hangingPunct="0">
              <a:spcBef>
                <a:spcPct val="0"/>
              </a:spcBef>
              <a:spcAft>
                <a:spcPct val="0"/>
              </a:spcAft>
              <a:buNone/>
            </a:pPr>
            <a:endParaRPr lang="en-US" altLang="en-US" i="1" dirty="0">
              <a:solidFill>
                <a:schemeClr val="tx1"/>
              </a:solidFill>
              <a:latin typeface="Arial" panose="020B0604020202020204" pitchFamily="34" charset="0"/>
            </a:endParaRPr>
          </a:p>
          <a:p>
            <a:r>
              <a:rPr lang="en-US" dirty="0"/>
              <a:t>However, LLM outputs may: </a:t>
            </a:r>
          </a:p>
          <a:p>
            <a:pPr lvl="1"/>
            <a:r>
              <a:rPr lang="en-US" dirty="0"/>
              <a:t>Hallucinate unsupported clinical information </a:t>
            </a:r>
          </a:p>
          <a:p>
            <a:pPr lvl="1"/>
            <a:r>
              <a:rPr lang="en-US" dirty="0"/>
              <a:t>Omit critical findings </a:t>
            </a:r>
          </a:p>
          <a:p>
            <a:pPr marL="0" lvl="1" indent="0">
              <a:buNone/>
            </a:pPr>
            <a:endParaRPr lang="en-US" dirty="0"/>
          </a:p>
          <a:p>
            <a:pPr marL="0" lvl="1" indent="0">
              <a:buNone/>
            </a:pPr>
            <a:r>
              <a:rPr lang="en-US" dirty="0"/>
              <a:t>Reliability is a primary barrier to clinical deployment, requires initial model eval and optimization</a:t>
            </a:r>
          </a:p>
          <a:p>
            <a:endParaRPr lang="en-US" dirty="0"/>
          </a:p>
        </p:txBody>
      </p:sp>
    </p:spTree>
    <p:extLst>
      <p:ext uri="{BB962C8B-B14F-4D97-AF65-F5344CB8AC3E}">
        <p14:creationId xmlns:p14="http://schemas.microsoft.com/office/powerpoint/2010/main" val="2017397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4AAB01-981E-19E1-859B-43F603B1D133}"/>
              </a:ext>
            </a:extLst>
          </p:cNvPr>
          <p:cNvSpPr>
            <a:spLocks noGrp="1"/>
          </p:cNvSpPr>
          <p:nvPr>
            <p:ph type="sldNum" sz="quarter" idx="11"/>
          </p:nvPr>
        </p:nvSpPr>
        <p:spPr/>
        <p:txBody>
          <a:bodyPr/>
          <a:lstStyle/>
          <a:p>
            <a:fld id="{523A240F-EAFE-E84F-B44C-6D7A08E0E409}" type="slidenum">
              <a:rPr lang="en-US" smtClean="0"/>
              <a:t>5</a:t>
            </a:fld>
            <a:endParaRPr lang="en-US"/>
          </a:p>
        </p:txBody>
      </p:sp>
      <p:sp>
        <p:nvSpPr>
          <p:cNvPr id="3" name="Footer Placeholder 2">
            <a:extLst>
              <a:ext uri="{FF2B5EF4-FFF2-40B4-BE49-F238E27FC236}">
                <a16:creationId xmlns:a16="http://schemas.microsoft.com/office/drawing/2014/main" id="{3D68A49C-0B3F-4222-E506-898C9AACF06B}"/>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0ECE606D-A2B7-C6EF-6AEE-8970274207DD}"/>
              </a:ext>
            </a:extLst>
          </p:cNvPr>
          <p:cNvSpPr>
            <a:spLocks noGrp="1"/>
          </p:cNvSpPr>
          <p:nvPr>
            <p:ph type="body" sz="half" idx="2"/>
          </p:nvPr>
        </p:nvSpPr>
        <p:spPr/>
        <p:txBody>
          <a:bodyPr/>
          <a:lstStyle/>
          <a:p>
            <a:r>
              <a:rPr lang="en-US" b="1" dirty="0"/>
              <a:t>Toward Clinical-Grade Evaluation of Large Language Models</a:t>
            </a:r>
          </a:p>
          <a:p>
            <a:endParaRPr lang="en-US" dirty="0"/>
          </a:p>
        </p:txBody>
      </p:sp>
      <p:sp>
        <p:nvSpPr>
          <p:cNvPr id="5" name="Title 4">
            <a:extLst>
              <a:ext uri="{FF2B5EF4-FFF2-40B4-BE49-F238E27FC236}">
                <a16:creationId xmlns:a16="http://schemas.microsoft.com/office/drawing/2014/main" id="{DFCF1373-476F-EF0A-9E2B-6A47BBE67C9A}"/>
              </a:ext>
            </a:extLst>
          </p:cNvPr>
          <p:cNvSpPr>
            <a:spLocks noGrp="1"/>
          </p:cNvSpPr>
          <p:nvPr>
            <p:ph type="title"/>
          </p:nvPr>
        </p:nvSpPr>
        <p:spPr>
          <a:xfrm>
            <a:off x="495513" y="1243583"/>
            <a:ext cx="11184423" cy="914400"/>
          </a:xfrm>
        </p:spPr>
        <p:txBody>
          <a:bodyPr/>
          <a:lstStyle/>
          <a:p>
            <a:r>
              <a:rPr lang="en-US" dirty="0"/>
              <a:t>Gap in Knowledge</a:t>
            </a:r>
          </a:p>
        </p:txBody>
      </p:sp>
      <p:sp>
        <p:nvSpPr>
          <p:cNvPr id="6" name="Content Placeholder 5">
            <a:extLst>
              <a:ext uri="{FF2B5EF4-FFF2-40B4-BE49-F238E27FC236}">
                <a16:creationId xmlns:a16="http://schemas.microsoft.com/office/drawing/2014/main" id="{1A20FB51-9C40-6216-A920-6D8A2CA4867F}"/>
              </a:ext>
            </a:extLst>
          </p:cNvPr>
          <p:cNvSpPr>
            <a:spLocks noGrp="1"/>
          </p:cNvSpPr>
          <p:nvPr>
            <p:ph idx="1"/>
          </p:nvPr>
        </p:nvSpPr>
        <p:spPr/>
        <p:txBody>
          <a:bodyPr/>
          <a:lstStyle/>
          <a:p>
            <a:pPr marL="0" lvl="1" indent="0">
              <a:buNone/>
            </a:pPr>
            <a:endParaRPr lang="en-US" dirty="0"/>
          </a:p>
          <a:p>
            <a:pPr marL="0" lvl="1" indent="0">
              <a:buNone/>
            </a:pPr>
            <a:r>
              <a:rPr lang="en-US" b="1" dirty="0"/>
              <a:t>Limitations in current evidence</a:t>
            </a:r>
          </a:p>
          <a:p>
            <a:pPr lvl="1"/>
            <a:r>
              <a:rPr lang="en-US" dirty="0"/>
              <a:t>Predominantly retrospective studies</a:t>
            </a:r>
          </a:p>
          <a:p>
            <a:pPr lvl="1"/>
            <a:r>
              <a:rPr lang="en-US" dirty="0"/>
              <a:t>Limited studies validating performance of LLMs in summarizing breast cancer workup for preoperative patients</a:t>
            </a:r>
          </a:p>
          <a:p>
            <a:pPr lvl="1"/>
            <a:r>
              <a:rPr lang="en-US" dirty="0"/>
              <a:t>Limited studies assessing safety risks involved, such as fabrication, omission, and reliability</a:t>
            </a:r>
            <a:endParaRPr lang="en-US" altLang="en-US" i="1" dirty="0">
              <a:solidFill>
                <a:schemeClr val="tx1"/>
              </a:solidFill>
              <a:latin typeface="Arial" panose="020B0604020202020204" pitchFamily="34" charset="0"/>
            </a:endParaRPr>
          </a:p>
          <a:p>
            <a:endParaRPr lang="en-US" dirty="0"/>
          </a:p>
        </p:txBody>
      </p:sp>
      <p:pic>
        <p:nvPicPr>
          <p:cNvPr id="10" name="Picture 9">
            <a:extLst>
              <a:ext uri="{FF2B5EF4-FFF2-40B4-BE49-F238E27FC236}">
                <a16:creationId xmlns:a16="http://schemas.microsoft.com/office/drawing/2014/main" id="{3D4C2ADC-A864-6B12-952E-037CFD91F4AD}"/>
              </a:ext>
            </a:extLst>
          </p:cNvPr>
          <p:cNvPicPr>
            <a:picLocks noChangeAspect="1"/>
          </p:cNvPicPr>
          <p:nvPr/>
        </p:nvPicPr>
        <p:blipFill>
          <a:blip r:embed="rId2"/>
          <a:stretch>
            <a:fillRect/>
          </a:stretch>
        </p:blipFill>
        <p:spPr>
          <a:xfrm>
            <a:off x="340393" y="478489"/>
            <a:ext cx="11339543" cy="536494"/>
          </a:xfrm>
          <a:prstGeom prst="rect">
            <a:avLst/>
          </a:prstGeom>
        </p:spPr>
      </p:pic>
    </p:spTree>
    <p:extLst>
      <p:ext uri="{BB962C8B-B14F-4D97-AF65-F5344CB8AC3E}">
        <p14:creationId xmlns:p14="http://schemas.microsoft.com/office/powerpoint/2010/main" val="247361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A3BE6B-0FB7-5391-DA39-0B6F87D2CC98}"/>
              </a:ext>
            </a:extLst>
          </p:cNvPr>
          <p:cNvSpPr>
            <a:spLocks noGrp="1"/>
          </p:cNvSpPr>
          <p:nvPr>
            <p:ph type="sldNum" sz="quarter" idx="11"/>
          </p:nvPr>
        </p:nvSpPr>
        <p:spPr/>
        <p:txBody>
          <a:bodyPr/>
          <a:lstStyle/>
          <a:p>
            <a:fld id="{523A240F-EAFE-E84F-B44C-6D7A08E0E409}" type="slidenum">
              <a:rPr lang="en-US" smtClean="0"/>
              <a:t>6</a:t>
            </a:fld>
            <a:endParaRPr lang="en-US"/>
          </a:p>
        </p:txBody>
      </p:sp>
      <p:sp>
        <p:nvSpPr>
          <p:cNvPr id="3" name="Footer Placeholder 2">
            <a:extLst>
              <a:ext uri="{FF2B5EF4-FFF2-40B4-BE49-F238E27FC236}">
                <a16:creationId xmlns:a16="http://schemas.microsoft.com/office/drawing/2014/main" id="{3E27DC1F-F610-E318-3236-AE07D983FDF2}"/>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137A6805-E095-BE12-A814-6E6C0D16F019}"/>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8774CE1A-1313-B9BA-6F15-A8CDA4E2E391}"/>
              </a:ext>
            </a:extLst>
          </p:cNvPr>
          <p:cNvSpPr>
            <a:spLocks noGrp="1"/>
          </p:cNvSpPr>
          <p:nvPr>
            <p:ph type="title"/>
          </p:nvPr>
        </p:nvSpPr>
        <p:spPr/>
        <p:txBody>
          <a:bodyPr/>
          <a:lstStyle/>
          <a:p>
            <a:r>
              <a:rPr lang="en-US" dirty="0"/>
              <a:t>Addressing the gap</a:t>
            </a:r>
          </a:p>
        </p:txBody>
      </p:sp>
      <p:sp>
        <p:nvSpPr>
          <p:cNvPr id="6" name="Text Placeholder 5">
            <a:extLst>
              <a:ext uri="{FF2B5EF4-FFF2-40B4-BE49-F238E27FC236}">
                <a16:creationId xmlns:a16="http://schemas.microsoft.com/office/drawing/2014/main" id="{E099692C-AAFC-BF6D-9F30-5F6199C50B23}"/>
              </a:ext>
            </a:extLst>
          </p:cNvPr>
          <p:cNvSpPr>
            <a:spLocks noGrp="1"/>
          </p:cNvSpPr>
          <p:nvPr>
            <p:ph type="body" idx="12"/>
          </p:nvPr>
        </p:nvSpPr>
        <p:spPr/>
        <p:txBody>
          <a:bodyPr/>
          <a:lstStyle/>
          <a:p>
            <a:r>
              <a:rPr lang="en-US" dirty="0"/>
              <a:t>Introduction – our study</a:t>
            </a:r>
          </a:p>
        </p:txBody>
      </p:sp>
      <p:sp>
        <p:nvSpPr>
          <p:cNvPr id="9" name="Content Placeholder 8">
            <a:extLst>
              <a:ext uri="{FF2B5EF4-FFF2-40B4-BE49-F238E27FC236}">
                <a16:creationId xmlns:a16="http://schemas.microsoft.com/office/drawing/2014/main" id="{DE6EB34F-29C5-E6D9-D407-7CF93F51B476}"/>
              </a:ext>
            </a:extLst>
          </p:cNvPr>
          <p:cNvSpPr>
            <a:spLocks noGrp="1"/>
          </p:cNvSpPr>
          <p:nvPr>
            <p:ph idx="1"/>
          </p:nvPr>
        </p:nvSpPr>
        <p:spPr/>
        <p:txBody>
          <a:bodyPr/>
          <a:lstStyle/>
          <a:p>
            <a:r>
              <a:rPr lang="en-US" dirty="0"/>
              <a:t>We assess efficacy and safety of large language model to generate structured preoperative summaries of breast cancer patients  from radiologic and pathologic reports, as compared to humans. </a:t>
            </a:r>
          </a:p>
          <a:p>
            <a:endParaRPr lang="en-US" dirty="0"/>
          </a:p>
          <a:p>
            <a:r>
              <a:rPr lang="en-US" dirty="0"/>
              <a:t>We then optimize accuracy and mitigate hallucination risk using prompt engineering and evidence-grounded outputs</a:t>
            </a:r>
          </a:p>
        </p:txBody>
      </p:sp>
    </p:spTree>
    <p:extLst>
      <p:ext uri="{BB962C8B-B14F-4D97-AF65-F5344CB8AC3E}">
        <p14:creationId xmlns:p14="http://schemas.microsoft.com/office/powerpoint/2010/main" val="3351717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58805A-5709-93DC-BA76-C9A43699DA57}"/>
              </a:ext>
            </a:extLst>
          </p:cNvPr>
          <p:cNvSpPr>
            <a:spLocks noGrp="1"/>
          </p:cNvSpPr>
          <p:nvPr>
            <p:ph type="sldNum" sz="quarter" idx="11"/>
          </p:nvPr>
        </p:nvSpPr>
        <p:spPr/>
        <p:txBody>
          <a:bodyPr/>
          <a:lstStyle/>
          <a:p>
            <a:fld id="{523A240F-EAFE-E84F-B44C-6D7A08E0E409}" type="slidenum">
              <a:rPr lang="en-US" smtClean="0"/>
              <a:t>7</a:t>
            </a:fld>
            <a:endParaRPr lang="en-US"/>
          </a:p>
        </p:txBody>
      </p:sp>
      <p:sp>
        <p:nvSpPr>
          <p:cNvPr id="3" name="Footer Placeholder 2">
            <a:extLst>
              <a:ext uri="{FF2B5EF4-FFF2-40B4-BE49-F238E27FC236}">
                <a16:creationId xmlns:a16="http://schemas.microsoft.com/office/drawing/2014/main" id="{2BEEA97C-2C8C-6ABD-09B2-DEE1EA250825}"/>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79B750C4-67C1-5AE5-3BC6-9D0AAC6DCAC8}"/>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81B5C1EE-B6C1-6E6E-C8AB-754E1036F841}"/>
              </a:ext>
            </a:extLst>
          </p:cNvPr>
          <p:cNvSpPr>
            <a:spLocks noGrp="1"/>
          </p:cNvSpPr>
          <p:nvPr>
            <p:ph type="title"/>
          </p:nvPr>
        </p:nvSpPr>
        <p:spPr/>
        <p:txBody>
          <a:bodyPr/>
          <a:lstStyle/>
          <a:p>
            <a:r>
              <a:rPr lang="en-US" dirty="0"/>
              <a:t>Study Question and Aims</a:t>
            </a:r>
          </a:p>
        </p:txBody>
      </p:sp>
      <p:sp>
        <p:nvSpPr>
          <p:cNvPr id="6" name="Text Placeholder 5">
            <a:extLst>
              <a:ext uri="{FF2B5EF4-FFF2-40B4-BE49-F238E27FC236}">
                <a16:creationId xmlns:a16="http://schemas.microsoft.com/office/drawing/2014/main" id="{A3EE5A0A-BF27-6465-BA87-2E72DEB9117A}"/>
              </a:ext>
            </a:extLst>
          </p:cNvPr>
          <p:cNvSpPr>
            <a:spLocks noGrp="1"/>
          </p:cNvSpPr>
          <p:nvPr>
            <p:ph type="body" idx="12"/>
          </p:nvPr>
        </p:nvSpPr>
        <p:spPr/>
        <p:txBody>
          <a:bodyPr/>
          <a:lstStyle/>
          <a:p>
            <a:r>
              <a:rPr lang="en-US" dirty="0"/>
              <a:t>Objectives</a:t>
            </a:r>
          </a:p>
        </p:txBody>
      </p:sp>
      <p:sp>
        <p:nvSpPr>
          <p:cNvPr id="7" name="Content Placeholder 6">
            <a:extLst>
              <a:ext uri="{FF2B5EF4-FFF2-40B4-BE49-F238E27FC236}">
                <a16:creationId xmlns:a16="http://schemas.microsoft.com/office/drawing/2014/main" id="{E1FC1D69-CFDF-CF80-B26B-59D0F7616800}"/>
              </a:ext>
            </a:extLst>
          </p:cNvPr>
          <p:cNvSpPr>
            <a:spLocks noGrp="1"/>
          </p:cNvSpPr>
          <p:nvPr>
            <p:ph idx="1"/>
          </p:nvPr>
        </p:nvSpPr>
        <p:spPr/>
        <p:txBody>
          <a:bodyPr/>
          <a:lstStyle/>
          <a:p>
            <a:r>
              <a:rPr lang="en-US" b="1" dirty="0"/>
              <a:t>Primary Question</a:t>
            </a:r>
          </a:p>
          <a:p>
            <a:r>
              <a:rPr lang="en-US" dirty="0"/>
              <a:t>Can LLMs accurately and safely generate structured preoperative breast cancer summaries compared to human clinicians? </a:t>
            </a:r>
          </a:p>
          <a:p>
            <a:r>
              <a:rPr lang="en-US" b="1" dirty="0"/>
              <a:t>Hypothesis</a:t>
            </a:r>
          </a:p>
          <a:p>
            <a:r>
              <a:rPr lang="en-US" dirty="0"/>
              <a:t>LLM-generated summaries can achieve high accuracy with improved safety using prompt engineering and evidence-based grounding </a:t>
            </a:r>
          </a:p>
          <a:p>
            <a:endParaRPr lang="en-US" dirty="0"/>
          </a:p>
          <a:p>
            <a:r>
              <a:rPr lang="en-US" b="1" dirty="0"/>
              <a:t>Exploratory Aim</a:t>
            </a:r>
          </a:p>
          <a:p>
            <a:r>
              <a:rPr lang="en-US" dirty="0"/>
              <a:t>Evaluate the effect of prompt design (zero-shot vs structured with guardrails) on accuracy and fabrication</a:t>
            </a:r>
          </a:p>
          <a:p>
            <a:endParaRPr lang="en-US" dirty="0"/>
          </a:p>
          <a:p>
            <a:endParaRPr lang="en-US" dirty="0"/>
          </a:p>
        </p:txBody>
      </p:sp>
    </p:spTree>
    <p:extLst>
      <p:ext uri="{BB962C8B-B14F-4D97-AF65-F5344CB8AC3E}">
        <p14:creationId xmlns:p14="http://schemas.microsoft.com/office/powerpoint/2010/main" val="1281292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C60504-9D9D-D1C0-7A0A-8E9DB2CD45FA}"/>
              </a:ext>
            </a:extLst>
          </p:cNvPr>
          <p:cNvSpPr>
            <a:spLocks noGrp="1"/>
          </p:cNvSpPr>
          <p:nvPr>
            <p:ph type="sldNum" sz="quarter" idx="11"/>
          </p:nvPr>
        </p:nvSpPr>
        <p:spPr/>
        <p:txBody>
          <a:bodyPr/>
          <a:lstStyle/>
          <a:p>
            <a:fld id="{523A240F-EAFE-E84F-B44C-6D7A08E0E409}" type="slidenum">
              <a:rPr lang="en-US" smtClean="0"/>
              <a:t>8</a:t>
            </a:fld>
            <a:endParaRPr lang="en-US"/>
          </a:p>
        </p:txBody>
      </p:sp>
      <p:sp>
        <p:nvSpPr>
          <p:cNvPr id="3" name="Footer Placeholder 2">
            <a:extLst>
              <a:ext uri="{FF2B5EF4-FFF2-40B4-BE49-F238E27FC236}">
                <a16:creationId xmlns:a16="http://schemas.microsoft.com/office/drawing/2014/main" id="{A621EA30-C86E-D3E2-8E63-A8B7A3642600}"/>
              </a:ext>
            </a:extLst>
          </p:cNvPr>
          <p:cNvSpPr>
            <a:spLocks noGrp="1"/>
          </p:cNvSpPr>
          <p:nvPr>
            <p:ph type="ftr" sz="quarter" idx="10"/>
          </p:nvPr>
        </p:nvSpPr>
        <p:spPr/>
        <p:txBody>
          <a:bodyPr/>
          <a:lstStyle/>
          <a:p>
            <a:r>
              <a:rPr lang="en-US"/>
              <a:t>MSK Confidential — do not distribute</a:t>
            </a:r>
          </a:p>
        </p:txBody>
      </p:sp>
      <p:sp>
        <p:nvSpPr>
          <p:cNvPr id="4" name="Text Placeholder 3">
            <a:extLst>
              <a:ext uri="{FF2B5EF4-FFF2-40B4-BE49-F238E27FC236}">
                <a16:creationId xmlns:a16="http://schemas.microsoft.com/office/drawing/2014/main" id="{4C971D12-24D7-3C65-57B0-91A335AB4324}"/>
              </a:ext>
            </a:extLst>
          </p:cNvPr>
          <p:cNvSpPr>
            <a:spLocks noGrp="1"/>
          </p:cNvSpPr>
          <p:nvPr>
            <p:ph type="body" sz="half" idx="2"/>
          </p:nvPr>
        </p:nvSpPr>
        <p:spPr/>
        <p:txBody>
          <a:bodyPr/>
          <a:lstStyle/>
          <a:p>
            <a:endParaRPr lang="en-US"/>
          </a:p>
        </p:txBody>
      </p:sp>
      <p:sp>
        <p:nvSpPr>
          <p:cNvPr id="5" name="Title 4">
            <a:extLst>
              <a:ext uri="{FF2B5EF4-FFF2-40B4-BE49-F238E27FC236}">
                <a16:creationId xmlns:a16="http://schemas.microsoft.com/office/drawing/2014/main" id="{761BCCBB-336B-9D2F-07F2-609FC1D67EA0}"/>
              </a:ext>
            </a:extLst>
          </p:cNvPr>
          <p:cNvSpPr>
            <a:spLocks noGrp="1"/>
          </p:cNvSpPr>
          <p:nvPr>
            <p:ph type="title"/>
          </p:nvPr>
        </p:nvSpPr>
        <p:spPr/>
        <p:txBody>
          <a:bodyPr/>
          <a:lstStyle/>
          <a:p>
            <a:r>
              <a:rPr lang="en-US" dirty="0"/>
              <a:t>Project Framework</a:t>
            </a:r>
          </a:p>
        </p:txBody>
      </p:sp>
      <p:sp>
        <p:nvSpPr>
          <p:cNvPr id="6" name="Text Placeholder 5">
            <a:extLst>
              <a:ext uri="{FF2B5EF4-FFF2-40B4-BE49-F238E27FC236}">
                <a16:creationId xmlns:a16="http://schemas.microsoft.com/office/drawing/2014/main" id="{C9711CFE-C9EA-43FA-48DE-97C0F9516709}"/>
              </a:ext>
            </a:extLst>
          </p:cNvPr>
          <p:cNvSpPr>
            <a:spLocks noGrp="1"/>
          </p:cNvSpPr>
          <p:nvPr>
            <p:ph type="body" idx="12"/>
          </p:nvPr>
        </p:nvSpPr>
        <p:spPr/>
        <p:txBody>
          <a:bodyPr/>
          <a:lstStyle/>
          <a:p>
            <a:endParaRPr lang="en-US"/>
          </a:p>
        </p:txBody>
      </p:sp>
      <p:sp>
        <p:nvSpPr>
          <p:cNvPr id="7" name="Content Placeholder 6">
            <a:extLst>
              <a:ext uri="{FF2B5EF4-FFF2-40B4-BE49-F238E27FC236}">
                <a16:creationId xmlns:a16="http://schemas.microsoft.com/office/drawing/2014/main" id="{403EAA67-C27C-20CC-1216-30400D5BE79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65880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D12F528-7FD4-F767-BE26-4F9EDB2AB923}"/>
              </a:ext>
            </a:extLst>
          </p:cNvPr>
          <p:cNvSpPr>
            <a:spLocks noGrp="1"/>
          </p:cNvSpPr>
          <p:nvPr>
            <p:ph type="sldNum" sz="quarter" idx="11"/>
          </p:nvPr>
        </p:nvSpPr>
        <p:spPr/>
        <p:txBody>
          <a:bodyPr/>
          <a:lstStyle/>
          <a:p>
            <a:fld id="{523A240F-EAFE-E84F-B44C-6D7A08E0E409}" type="slidenum">
              <a:rPr lang="en-US" smtClean="0"/>
              <a:pPr/>
              <a:t>9</a:t>
            </a:fld>
            <a:endParaRPr lang="en-US"/>
          </a:p>
        </p:txBody>
      </p:sp>
      <p:sp>
        <p:nvSpPr>
          <p:cNvPr id="3" name="Footer Placeholder 2">
            <a:extLst>
              <a:ext uri="{FF2B5EF4-FFF2-40B4-BE49-F238E27FC236}">
                <a16:creationId xmlns:a16="http://schemas.microsoft.com/office/drawing/2014/main" id="{4019AB22-788C-DA4A-8418-1268FB2A3E56}"/>
              </a:ext>
            </a:extLst>
          </p:cNvPr>
          <p:cNvSpPr>
            <a:spLocks noGrp="1"/>
          </p:cNvSpPr>
          <p:nvPr>
            <p:ph type="ftr" sz="quarter" idx="10"/>
          </p:nvPr>
        </p:nvSpPr>
        <p:spPr/>
        <p:txBody>
          <a:bodyPr/>
          <a:lstStyle/>
          <a:p>
            <a:r>
              <a:rPr lang="en-US"/>
              <a:t>MSK Confidential — do not distribute</a:t>
            </a:r>
          </a:p>
        </p:txBody>
      </p:sp>
      <p:sp>
        <p:nvSpPr>
          <p:cNvPr id="11" name="Title 10">
            <a:extLst>
              <a:ext uri="{FF2B5EF4-FFF2-40B4-BE49-F238E27FC236}">
                <a16:creationId xmlns:a16="http://schemas.microsoft.com/office/drawing/2014/main" id="{499C0C2B-5547-1B79-1BDE-DB5958D417D3}"/>
              </a:ext>
            </a:extLst>
          </p:cNvPr>
          <p:cNvSpPr>
            <a:spLocks noGrp="1"/>
          </p:cNvSpPr>
          <p:nvPr>
            <p:ph type="title"/>
          </p:nvPr>
        </p:nvSpPr>
        <p:spPr/>
        <p:txBody>
          <a:bodyPr/>
          <a:lstStyle/>
          <a:p>
            <a:r>
              <a:rPr lang="en-US" dirty="0"/>
              <a:t>Study Design &amp; Data Sources</a:t>
            </a:r>
          </a:p>
        </p:txBody>
      </p:sp>
      <p:sp>
        <p:nvSpPr>
          <p:cNvPr id="5" name="Text Placeholder 4">
            <a:extLst>
              <a:ext uri="{FF2B5EF4-FFF2-40B4-BE49-F238E27FC236}">
                <a16:creationId xmlns:a16="http://schemas.microsoft.com/office/drawing/2014/main" id="{7F07F52E-231F-97A6-F112-F18BFDEFF242}"/>
              </a:ext>
            </a:extLst>
          </p:cNvPr>
          <p:cNvSpPr>
            <a:spLocks noGrp="1"/>
          </p:cNvSpPr>
          <p:nvPr>
            <p:ph type="body" idx="12"/>
          </p:nvPr>
        </p:nvSpPr>
        <p:spPr/>
        <p:txBody>
          <a:bodyPr/>
          <a:lstStyle/>
          <a:p>
            <a:r>
              <a:rPr lang="en-US" dirty="0"/>
              <a:t>Methods</a:t>
            </a:r>
          </a:p>
        </p:txBody>
      </p:sp>
      <p:sp>
        <p:nvSpPr>
          <p:cNvPr id="6" name="Rectangle 1">
            <a:extLst>
              <a:ext uri="{FF2B5EF4-FFF2-40B4-BE49-F238E27FC236}">
                <a16:creationId xmlns:a16="http://schemas.microsoft.com/office/drawing/2014/main" id="{0B63D134-EB02-9906-A962-7ECE3AAE3100}"/>
              </a:ext>
            </a:extLst>
          </p:cNvPr>
          <p:cNvSpPr>
            <a:spLocks noGrp="1" noChangeArrowheads="1"/>
          </p:cNvSpPr>
          <p:nvPr>
            <p:ph idx="1"/>
          </p:nvPr>
        </p:nvSpPr>
        <p:spPr bwMode="auto">
          <a:xfrm>
            <a:off x="512063" y="1571823"/>
            <a:ext cx="71288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Cohort</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200 breast surgery patients across all department attendings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Retrospective chart review</a:t>
            </a:r>
          </a:p>
          <a:p>
            <a:pPr marL="742950" lvl="2" indent="-285750" eaLnBrk="0" fontAlgn="base" hangingPunct="0">
              <a:spcBef>
                <a:spcPct val="0"/>
              </a:spcBef>
              <a:spcAft>
                <a:spcPct val="0"/>
              </a:spcAft>
            </a:pPr>
            <a:endParaRPr kumimoji="0" lang="en-US" altLang="en-US" b="0" i="0" u="none" strike="noStrike" cap="none" normalizeH="0" baseline="0" dirty="0">
              <a:ln>
                <a:noFill/>
              </a:ln>
              <a:solidFill>
                <a:schemeClr val="tx1">
                  <a:lumMod val="50000"/>
                </a:schemeClr>
              </a:solidFill>
              <a:effectLst/>
              <a:latin typeface="Arial" panose="020B0604020202020204" pitchFamily="34" charset="0"/>
            </a:endParaRPr>
          </a:p>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Source documents</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Outside hospital radiologic reports (</a:t>
            </a:r>
            <a:r>
              <a:rPr kumimoji="0" lang="en-US" altLang="en-US" b="0" i="0" u="none" strike="noStrike" cap="none" normalizeH="0" baseline="0" dirty="0" err="1">
                <a:ln>
                  <a:noFill/>
                </a:ln>
                <a:solidFill>
                  <a:schemeClr val="tx1">
                    <a:lumMod val="50000"/>
                  </a:schemeClr>
                </a:solidFill>
                <a:effectLst/>
                <a:latin typeface="Arial" panose="020B0604020202020204" pitchFamily="34" charset="0"/>
              </a:rPr>
              <a:t>mammo</a:t>
            </a:r>
            <a:r>
              <a:rPr kumimoji="0" lang="en-US" altLang="en-US" b="0" i="0" u="none" strike="noStrike" cap="none" normalizeH="0" baseline="0" dirty="0">
                <a:ln>
                  <a:noFill/>
                </a:ln>
                <a:solidFill>
                  <a:schemeClr val="tx1">
                    <a:lumMod val="50000"/>
                  </a:schemeClr>
                </a:solidFill>
                <a:effectLst/>
                <a:latin typeface="Arial" panose="020B0604020202020204" pitchFamily="34" charset="0"/>
              </a:rPr>
              <a:t>/US/MRI)</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Outside hospital pathology reports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Internal MSK radiology reads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Staff-generated clinical summary from surgical consultation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50000"/>
                </a:schemeClr>
              </a:solidFill>
              <a:effectLst/>
              <a:latin typeface="Arial" panose="020B0604020202020204" pitchFamily="34" charset="0"/>
            </a:endParaRPr>
          </a:p>
        </p:txBody>
      </p:sp>
    </p:spTree>
    <p:extLst>
      <p:ext uri="{BB962C8B-B14F-4D97-AF65-F5344CB8AC3E}">
        <p14:creationId xmlns:p14="http://schemas.microsoft.com/office/powerpoint/2010/main" val="1627617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087F-36C3-F1D3-63C9-06894A1AC2C2}"/>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1A34F3A-9AC8-7CD8-2343-511EB9EE6300}"/>
              </a:ext>
            </a:extLst>
          </p:cNvPr>
          <p:cNvSpPr>
            <a:spLocks noGrp="1"/>
          </p:cNvSpPr>
          <p:nvPr>
            <p:ph type="sldNum" sz="quarter" idx="11"/>
          </p:nvPr>
        </p:nvSpPr>
        <p:spPr/>
        <p:txBody>
          <a:bodyPr/>
          <a:lstStyle/>
          <a:p>
            <a:fld id="{523A240F-EAFE-E84F-B44C-6D7A08E0E409}" type="slidenum">
              <a:rPr lang="en-US" smtClean="0"/>
              <a:pPr/>
              <a:t>10</a:t>
            </a:fld>
            <a:endParaRPr lang="en-US"/>
          </a:p>
        </p:txBody>
      </p:sp>
      <p:sp>
        <p:nvSpPr>
          <p:cNvPr id="3" name="Footer Placeholder 2">
            <a:extLst>
              <a:ext uri="{FF2B5EF4-FFF2-40B4-BE49-F238E27FC236}">
                <a16:creationId xmlns:a16="http://schemas.microsoft.com/office/drawing/2014/main" id="{D5B82BF1-8551-ED31-D71E-FF6DD5D39395}"/>
              </a:ext>
            </a:extLst>
          </p:cNvPr>
          <p:cNvSpPr>
            <a:spLocks noGrp="1"/>
          </p:cNvSpPr>
          <p:nvPr>
            <p:ph type="ftr" sz="quarter" idx="10"/>
          </p:nvPr>
        </p:nvSpPr>
        <p:spPr/>
        <p:txBody>
          <a:bodyPr/>
          <a:lstStyle/>
          <a:p>
            <a:r>
              <a:rPr lang="en-US"/>
              <a:t>MSK Confidential — do not distribute</a:t>
            </a:r>
          </a:p>
        </p:txBody>
      </p:sp>
      <p:sp>
        <p:nvSpPr>
          <p:cNvPr id="11" name="Title 10">
            <a:extLst>
              <a:ext uri="{FF2B5EF4-FFF2-40B4-BE49-F238E27FC236}">
                <a16:creationId xmlns:a16="http://schemas.microsoft.com/office/drawing/2014/main" id="{DBF1A89A-12EA-BED5-A7DB-8F2A860C7850}"/>
              </a:ext>
            </a:extLst>
          </p:cNvPr>
          <p:cNvSpPr>
            <a:spLocks noGrp="1"/>
          </p:cNvSpPr>
          <p:nvPr>
            <p:ph type="title"/>
          </p:nvPr>
        </p:nvSpPr>
        <p:spPr/>
        <p:txBody>
          <a:bodyPr/>
          <a:lstStyle/>
          <a:p>
            <a:r>
              <a:rPr lang="en-US" dirty="0"/>
              <a:t>Study Design &amp; Data Sources</a:t>
            </a:r>
          </a:p>
        </p:txBody>
      </p:sp>
      <p:sp>
        <p:nvSpPr>
          <p:cNvPr id="5" name="Text Placeholder 4">
            <a:extLst>
              <a:ext uri="{FF2B5EF4-FFF2-40B4-BE49-F238E27FC236}">
                <a16:creationId xmlns:a16="http://schemas.microsoft.com/office/drawing/2014/main" id="{11DF593B-9640-603A-0E48-3C53CA1EA246}"/>
              </a:ext>
            </a:extLst>
          </p:cNvPr>
          <p:cNvSpPr>
            <a:spLocks noGrp="1"/>
          </p:cNvSpPr>
          <p:nvPr>
            <p:ph type="body" idx="12"/>
          </p:nvPr>
        </p:nvSpPr>
        <p:spPr/>
        <p:txBody>
          <a:bodyPr/>
          <a:lstStyle/>
          <a:p>
            <a:r>
              <a:rPr lang="en-US" dirty="0"/>
              <a:t>Methods</a:t>
            </a:r>
          </a:p>
        </p:txBody>
      </p:sp>
      <p:sp>
        <p:nvSpPr>
          <p:cNvPr id="4" name="Rectangle 1">
            <a:extLst>
              <a:ext uri="{FF2B5EF4-FFF2-40B4-BE49-F238E27FC236}">
                <a16:creationId xmlns:a16="http://schemas.microsoft.com/office/drawing/2014/main" id="{50D205F6-D221-C180-44E3-D7D77D7ADD32}"/>
              </a:ext>
            </a:extLst>
          </p:cNvPr>
          <p:cNvSpPr>
            <a:spLocks noGrp="1" noChangeArrowheads="1"/>
          </p:cNvSpPr>
          <p:nvPr>
            <p:ph idx="1"/>
          </p:nvPr>
        </p:nvSpPr>
        <p:spPr bwMode="auto">
          <a:xfrm>
            <a:off x="512763" y="1541567"/>
            <a:ext cx="84369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Breast Surgery Bot </a:t>
            </a:r>
            <a:r>
              <a:rPr lang="en-US" dirty="0"/>
              <a:t>(Anthropic Claude Sonnet 4, GPT 5.2)</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Pre-configured with a </a:t>
            </a:r>
            <a:r>
              <a:rPr kumimoji="0" lang="en-US" altLang="en-US" i="0" u="none" strike="noStrike" cap="none" normalizeH="0" baseline="0" dirty="0">
                <a:ln>
                  <a:noFill/>
                </a:ln>
                <a:solidFill>
                  <a:schemeClr val="tx1">
                    <a:lumMod val="50000"/>
                  </a:schemeClr>
                </a:solidFill>
                <a:effectLst/>
                <a:latin typeface="Arial" panose="020B0604020202020204" pitchFamily="34" charset="0"/>
              </a:rPr>
              <a:t>template-based prompt to </a:t>
            </a: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standardize summaries</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Structured to capture imaging, pathology, discrepancies, and timeline</a:t>
            </a:r>
          </a:p>
          <a:p>
            <a:pPr marL="742950" lvl="2" indent="-285750" eaLnBrk="0" fontAlgn="base" hangingPunct="0">
              <a:spcBef>
                <a:spcPct val="0"/>
              </a:spcBef>
              <a:spcAft>
                <a:spcPct val="0"/>
              </a:spcAft>
            </a:pPr>
            <a:endParaRPr kumimoji="0" lang="en-US" altLang="en-US" b="0" i="0" u="none" strike="noStrike" cap="none" normalizeH="0" baseline="0" dirty="0">
              <a:ln>
                <a:noFill/>
              </a:ln>
              <a:solidFill>
                <a:schemeClr val="tx1">
                  <a:lumMod val="50000"/>
                </a:schemeClr>
              </a:solidFill>
              <a:effectLst/>
              <a:latin typeface="Arial" panose="020B0604020202020204" pitchFamily="34" charset="0"/>
            </a:endParaRPr>
          </a:p>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Data preparation</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Standardized file naming and folder structure</a:t>
            </a: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All documents </a:t>
            </a:r>
            <a:r>
              <a:rPr kumimoji="0" lang="en-US" altLang="en-US" i="0" u="none" strike="noStrike" cap="none" normalizeH="0" baseline="0" dirty="0">
                <a:ln>
                  <a:noFill/>
                </a:ln>
                <a:solidFill>
                  <a:schemeClr val="tx1">
                    <a:lumMod val="50000"/>
                  </a:schemeClr>
                </a:solidFill>
                <a:effectLst/>
                <a:latin typeface="Arial" panose="020B0604020202020204" pitchFamily="34" charset="0"/>
              </a:rPr>
              <a:t>converted to .txt format prior </a:t>
            </a:r>
            <a:r>
              <a:rPr kumimoji="0" lang="en-US" altLang="en-US" b="0" i="0" u="none" strike="noStrike" cap="none" normalizeH="0" baseline="0" dirty="0">
                <a:ln>
                  <a:noFill/>
                </a:ln>
                <a:solidFill>
                  <a:schemeClr val="tx1">
                    <a:lumMod val="50000"/>
                  </a:schemeClr>
                </a:solidFill>
                <a:effectLst/>
                <a:latin typeface="Arial" panose="020B0604020202020204" pitchFamily="34" charset="0"/>
              </a:rPr>
              <a:t>to upload</a:t>
            </a:r>
          </a:p>
          <a:p>
            <a:pPr marL="742950" lvl="2" indent="-285750" eaLnBrk="0" fontAlgn="base" hangingPunct="0">
              <a:spcBef>
                <a:spcPct val="0"/>
              </a:spcBef>
              <a:spcAft>
                <a:spcPct val="0"/>
              </a:spcAft>
            </a:pPr>
            <a:endParaRPr kumimoji="0" lang="en-US" altLang="en-US" b="0" i="0" u="none" strike="noStrike" cap="none" normalizeH="0" baseline="0" dirty="0">
              <a:ln>
                <a:noFill/>
              </a:ln>
              <a:solidFill>
                <a:schemeClr val="tx1">
                  <a:lumMod val="50000"/>
                </a:schemeClr>
              </a:solidFill>
              <a:effectLst/>
              <a:latin typeface="Arial" panose="020B0604020202020204" pitchFamily="34" charset="0"/>
            </a:endParaRPr>
          </a:p>
          <a:p>
            <a:pPr marL="514350" lvl="1" indent="-285750" eaLnBrk="0" fontAlgn="base" hangingPunct="0">
              <a:spcBef>
                <a:spcPct val="0"/>
              </a:spcBef>
              <a:spcAft>
                <a:spcPct val="0"/>
              </a:spcAft>
            </a:pPr>
            <a:r>
              <a:rPr kumimoji="0" lang="en-US" altLang="en-US" b="1" i="0" u="none" strike="noStrike" cap="none" normalizeH="0" baseline="0" dirty="0">
                <a:ln>
                  <a:noFill/>
                </a:ln>
                <a:solidFill>
                  <a:schemeClr val="tx1">
                    <a:lumMod val="50000"/>
                  </a:schemeClr>
                </a:solidFill>
                <a:effectLst/>
                <a:latin typeface="Arial" panose="020B0604020202020204" pitchFamily="34" charset="0"/>
              </a:rPr>
              <a:t>Validation</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b="0" i="0" u="none" strike="noStrike" cap="none" normalizeH="0" baseline="0" dirty="0">
                <a:ln>
                  <a:noFill/>
                </a:ln>
                <a:solidFill>
                  <a:schemeClr val="tx1">
                    <a:lumMod val="50000"/>
                  </a:schemeClr>
                </a:solidFill>
                <a:effectLst/>
                <a:latin typeface="Arial" panose="020B0604020202020204" pitchFamily="34" charset="0"/>
              </a:rPr>
              <a:t>Staff-generated </a:t>
            </a:r>
            <a:r>
              <a:rPr kumimoji="0" lang="en-US" altLang="en-US" i="0" u="none" strike="noStrike" cap="none" normalizeH="0" baseline="0" dirty="0">
                <a:ln>
                  <a:noFill/>
                </a:ln>
                <a:solidFill>
                  <a:schemeClr val="tx1">
                    <a:lumMod val="50000"/>
                  </a:schemeClr>
                </a:solidFill>
                <a:effectLst/>
                <a:latin typeface="Arial" panose="020B0604020202020204" pitchFamily="34" charset="0"/>
              </a:rPr>
              <a:t>summary vs LLM-generated summary</a:t>
            </a:r>
            <a:endParaRPr lang="en-US" altLang="en-US" dirty="0">
              <a:solidFill>
                <a:schemeClr val="tx1">
                  <a:lumMod val="50000"/>
                </a:schemeClr>
              </a:solidFill>
              <a:latin typeface="Arial" panose="020B0604020202020204" pitchFamily="34" charset="0"/>
            </a:endParaRPr>
          </a:p>
          <a:p>
            <a:pPr marL="742950" lvl="2" indent="-285750" eaLnBrk="0" fontAlgn="base" hangingPunct="0">
              <a:spcBef>
                <a:spcPct val="0"/>
              </a:spcBef>
              <a:spcAft>
                <a:spcPct val="0"/>
              </a:spcAft>
            </a:pPr>
            <a:r>
              <a:rPr kumimoji="0" lang="en-US" altLang="en-US" i="0" u="none" strike="noStrike" cap="none" normalizeH="0" baseline="0" dirty="0">
                <a:ln>
                  <a:noFill/>
                </a:ln>
                <a:solidFill>
                  <a:schemeClr val="tx1">
                    <a:lumMod val="50000"/>
                  </a:schemeClr>
                </a:solidFill>
                <a:effectLst/>
                <a:latin typeface="Arial" panose="020B0604020202020204" pitchFamily="34" charset="0"/>
              </a:rPr>
              <a:t>Evaluation of completeness, accuracy, and clinical concordance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50000"/>
                </a:schemeClr>
              </a:solidFill>
              <a:effectLst/>
              <a:latin typeface="Arial" panose="020B0604020202020204" pitchFamily="34" charset="0"/>
            </a:endParaRPr>
          </a:p>
        </p:txBody>
      </p:sp>
    </p:spTree>
    <p:extLst>
      <p:ext uri="{BB962C8B-B14F-4D97-AF65-F5344CB8AC3E}">
        <p14:creationId xmlns:p14="http://schemas.microsoft.com/office/powerpoint/2010/main" val="1853379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0148-321D-551C-D201-290537E99547}"/>
              </a:ext>
            </a:extLst>
          </p:cNvPr>
          <p:cNvSpPr>
            <a:spLocks noGrp="1"/>
          </p:cNvSpPr>
          <p:nvPr>
            <p:ph type="title"/>
          </p:nvPr>
        </p:nvSpPr>
        <p:spPr>
          <a:xfrm>
            <a:off x="1981200" y="457200"/>
            <a:ext cx="8229600" cy="1143000"/>
          </a:xfrm>
        </p:spPr>
        <p:txBody>
          <a:bodyPr>
            <a:normAutofit fontScale="90000"/>
          </a:bodyPr>
          <a:lstStyle/>
          <a:p>
            <a:r>
              <a:rPr lang="en-US" dirty="0"/>
              <a:t>Part 1 – validation and eval of classification performance</a:t>
            </a:r>
            <a:br>
              <a:rPr lang="en-US" dirty="0"/>
            </a:br>
            <a:endParaRPr lang="en-US" dirty="0"/>
          </a:p>
        </p:txBody>
      </p:sp>
      <p:sp>
        <p:nvSpPr>
          <p:cNvPr id="3" name="Content Placeholder 2">
            <a:extLst>
              <a:ext uri="{FF2B5EF4-FFF2-40B4-BE49-F238E27FC236}">
                <a16:creationId xmlns:a16="http://schemas.microsoft.com/office/drawing/2014/main" id="{B9B05034-1DBD-5445-BC09-114907A20FD7}"/>
              </a:ext>
            </a:extLst>
          </p:cNvPr>
          <p:cNvSpPr>
            <a:spLocks noGrp="1"/>
          </p:cNvSpPr>
          <p:nvPr>
            <p:ph idx="1"/>
          </p:nvPr>
        </p:nvSpPr>
        <p:spPr/>
        <p:txBody>
          <a:bodyPr>
            <a:normAutofit/>
          </a:bodyPr>
          <a:lstStyle/>
          <a:p>
            <a:r>
              <a:rPr lang="en-US" dirty="0"/>
              <a:t> Annotations in summaries classified as:</a:t>
            </a:r>
          </a:p>
          <a:p>
            <a:pPr lvl="1"/>
            <a:r>
              <a:rPr lang="en-US" dirty="0"/>
              <a:t>TP: correct extraction </a:t>
            </a:r>
          </a:p>
          <a:p>
            <a:pPr lvl="1"/>
            <a:r>
              <a:rPr lang="en-US" dirty="0"/>
              <a:t>FN: omission</a:t>
            </a:r>
          </a:p>
          <a:p>
            <a:pPr lvl="1"/>
            <a:r>
              <a:rPr lang="en-US" dirty="0"/>
              <a:t>FP: fabrication</a:t>
            </a:r>
          </a:p>
          <a:p>
            <a:pPr lvl="1"/>
            <a:r>
              <a:rPr lang="en-US" dirty="0"/>
              <a:t>N/A: not present in source</a:t>
            </a:r>
          </a:p>
          <a:p>
            <a:r>
              <a:rPr lang="en-US" dirty="0"/>
              <a:t>Primary outcome: fabrication rate = FP / (FP + FN + TP)</a:t>
            </a:r>
          </a:p>
          <a:p>
            <a:pPr lvl="1"/>
            <a:r>
              <a:rPr lang="en-US" dirty="0"/>
              <a:t>TN excluded from calculation</a:t>
            </a:r>
          </a:p>
          <a:p>
            <a:r>
              <a:rPr lang="en-US" dirty="0"/>
              <a:t>Secondary outcomes: accuracy and omission rate</a:t>
            </a:r>
          </a:p>
          <a:p>
            <a:endParaRPr lang="en-US" dirty="0"/>
          </a:p>
        </p:txBody>
      </p:sp>
    </p:spTree>
    <p:extLst>
      <p:ext uri="{BB962C8B-B14F-4D97-AF65-F5344CB8AC3E}">
        <p14:creationId xmlns:p14="http://schemas.microsoft.com/office/powerpoint/2010/main" val="2059648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7C472-F333-89E6-F0CF-9CF57DFFC430}"/>
              </a:ext>
            </a:extLst>
          </p:cNvPr>
          <p:cNvSpPr>
            <a:spLocks noGrp="1"/>
          </p:cNvSpPr>
          <p:nvPr>
            <p:ph type="title"/>
          </p:nvPr>
        </p:nvSpPr>
        <p:spPr>
          <a:xfrm>
            <a:off x="2152650" y="184806"/>
            <a:ext cx="7886700" cy="1505883"/>
          </a:xfrm>
        </p:spPr>
        <p:txBody>
          <a:bodyPr vert="horz" lIns="91440" tIns="45720" rIns="91440" bIns="45720" rtlCol="0" anchor="ctr">
            <a:normAutofit/>
          </a:bodyPr>
          <a:lstStyle/>
          <a:p>
            <a:r>
              <a:rPr lang="en-US" sz="4500" dirty="0"/>
              <a:t>Initial results of model validation by human judges</a:t>
            </a:r>
          </a:p>
        </p:txBody>
      </p:sp>
      <p:pic>
        <p:nvPicPr>
          <p:cNvPr id="5" name="Picture 4" descr="A table with numbers and a number of summaries&#10;&#10;AI-generated content may be incorrect.">
            <a:extLst>
              <a:ext uri="{FF2B5EF4-FFF2-40B4-BE49-F238E27FC236}">
                <a16:creationId xmlns:a16="http://schemas.microsoft.com/office/drawing/2014/main" id="{E6640553-C7C3-1A49-6802-F41BA1E9471F}"/>
              </a:ext>
            </a:extLst>
          </p:cNvPr>
          <p:cNvPicPr>
            <a:picLocks noChangeAspect="1"/>
          </p:cNvPicPr>
          <p:nvPr/>
        </p:nvPicPr>
        <p:blipFill>
          <a:blip r:embed="rId2"/>
          <a:stretch>
            <a:fillRect/>
          </a:stretch>
        </p:blipFill>
        <p:spPr>
          <a:xfrm>
            <a:off x="2355105" y="1845427"/>
            <a:ext cx="7479500" cy="4450303"/>
          </a:xfrm>
          <a:prstGeom prst="rect">
            <a:avLst/>
          </a:prstGeom>
        </p:spPr>
      </p:pic>
    </p:spTree>
    <p:extLst>
      <p:ext uri="{BB962C8B-B14F-4D97-AF65-F5344CB8AC3E}">
        <p14:creationId xmlns:p14="http://schemas.microsoft.com/office/powerpoint/2010/main" val="2917804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173D7-BC2C-3D3A-B1F2-CC655233A570}"/>
              </a:ext>
            </a:extLst>
          </p:cNvPr>
          <p:cNvSpPr>
            <a:spLocks noGrp="1"/>
          </p:cNvSpPr>
          <p:nvPr>
            <p:ph type="title"/>
          </p:nvPr>
        </p:nvSpPr>
        <p:spPr/>
        <p:txBody>
          <a:bodyPr>
            <a:normAutofit/>
          </a:bodyPr>
          <a:lstStyle/>
          <a:p>
            <a:r>
              <a:rPr lang="en-US" dirty="0"/>
              <a:t>Exploratory assessment of structured prompt with guardrails on performance and safety</a:t>
            </a:r>
          </a:p>
        </p:txBody>
      </p:sp>
    </p:spTree>
    <p:extLst>
      <p:ext uri="{BB962C8B-B14F-4D97-AF65-F5344CB8AC3E}">
        <p14:creationId xmlns:p14="http://schemas.microsoft.com/office/powerpoint/2010/main" val="3816739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a:t>
            </a:r>
            <a:r>
              <a:rPr dirty="0"/>
              <a:t>rompt </a:t>
            </a:r>
            <a:r>
              <a:rPr lang="en-US" dirty="0"/>
              <a:t>e</a:t>
            </a:r>
            <a:r>
              <a:rPr dirty="0"/>
              <a:t>ngineering</a:t>
            </a:r>
            <a:r>
              <a:rPr lang="en-US" dirty="0"/>
              <a:t> matters?</a:t>
            </a:r>
            <a:endParaRPr dirty="0"/>
          </a:p>
        </p:txBody>
      </p:sp>
      <p:sp>
        <p:nvSpPr>
          <p:cNvPr id="3" name="Content Placeholder 2"/>
          <p:cNvSpPr>
            <a:spLocks noGrp="1"/>
          </p:cNvSpPr>
          <p:nvPr>
            <p:ph idx="1"/>
          </p:nvPr>
        </p:nvSpPr>
        <p:spPr/>
        <p:txBody>
          <a:bodyPr>
            <a:normAutofit/>
          </a:bodyPr>
          <a:lstStyle/>
          <a:p>
            <a:r>
              <a:rPr lang="en-US" dirty="0"/>
              <a:t>Involves the design of instructions given to the LLM which has a large influence on model behavior</a:t>
            </a:r>
          </a:p>
          <a:p>
            <a:pPr lvl="1"/>
            <a:r>
              <a:rPr lang="en-US" dirty="0"/>
              <a:t>Involves specification of roles, guardrails/constraints, examples, output formatting</a:t>
            </a:r>
          </a:p>
          <a:p>
            <a:r>
              <a:rPr dirty="0"/>
              <a:t>Critical for clinical safety</a:t>
            </a:r>
            <a:endParaRPr lang="en-US" dirty="0"/>
          </a:p>
          <a:p>
            <a:pPr lvl="1"/>
            <a:r>
              <a:rPr lang="en-US" dirty="0"/>
              <a:t>Outputs depend on instruction clarity</a:t>
            </a:r>
          </a:p>
          <a:p>
            <a:pPr lvl="1"/>
            <a:r>
              <a:rPr lang="en-US" dirty="0"/>
              <a:t>Poor prompts → hallucination + inconsistency“</a:t>
            </a:r>
          </a:p>
          <a:p>
            <a:r>
              <a:rPr lang="en-US" dirty="0"/>
              <a:t>No retraining required</a:t>
            </a:r>
          </a:p>
          <a:p>
            <a:r>
              <a:rPr lang="en-US" dirty="0"/>
              <a:t>Goal: maximize accuracy, minimize fabrication</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Prompt structure and safety guardrails</a:t>
            </a:r>
          </a:p>
        </p:txBody>
      </p:sp>
      <p:sp>
        <p:nvSpPr>
          <p:cNvPr id="3" name="Content Placeholder 2"/>
          <p:cNvSpPr>
            <a:spLocks noGrp="1"/>
          </p:cNvSpPr>
          <p:nvPr>
            <p:ph idx="1"/>
          </p:nvPr>
        </p:nvSpPr>
        <p:spPr/>
        <p:txBody>
          <a:bodyPr>
            <a:normAutofit/>
          </a:bodyPr>
          <a:lstStyle/>
          <a:p>
            <a:r>
              <a:rPr lang="en-US" dirty="0"/>
              <a:t>System / developer message defines rules",</a:t>
            </a:r>
          </a:p>
          <a:p>
            <a:r>
              <a:rPr lang="en-US" dirty="0"/>
              <a:t>User message provides document",</a:t>
            </a:r>
          </a:p>
          <a:p>
            <a:r>
              <a:rPr lang="en-US" dirty="0"/>
              <a:t> Assistant outputs structured JSON",</a:t>
            </a:r>
          </a:p>
          <a:p>
            <a:r>
              <a:rPr lang="en-US" dirty="0"/>
              <a:t>        "Separation of instructions and data"</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CC169-F7A7-C762-898D-3985142230CB}"/>
              </a:ext>
            </a:extLst>
          </p:cNvPr>
          <p:cNvSpPr>
            <a:spLocks noGrp="1"/>
          </p:cNvSpPr>
          <p:nvPr>
            <p:ph type="title"/>
          </p:nvPr>
        </p:nvSpPr>
        <p:spPr/>
        <p:txBody>
          <a:bodyPr/>
          <a:lstStyle/>
          <a:p>
            <a:r>
              <a:rPr lang="en-US" dirty="0"/>
              <a:t>Prompt versioning</a:t>
            </a:r>
          </a:p>
        </p:txBody>
      </p:sp>
      <p:sp>
        <p:nvSpPr>
          <p:cNvPr id="3" name="Content Placeholder 2">
            <a:extLst>
              <a:ext uri="{FF2B5EF4-FFF2-40B4-BE49-F238E27FC236}">
                <a16:creationId xmlns:a16="http://schemas.microsoft.com/office/drawing/2014/main" id="{6328D4AA-88F0-A000-4DC7-A03C0F2E06B2}"/>
              </a:ext>
            </a:extLst>
          </p:cNvPr>
          <p:cNvSpPr>
            <a:spLocks noGrp="1"/>
          </p:cNvSpPr>
          <p:nvPr>
            <p:ph idx="1"/>
          </p:nvPr>
        </p:nvSpPr>
        <p:spPr/>
        <p:txBody>
          <a:bodyPr>
            <a:normAutofit/>
          </a:bodyPr>
          <a:lstStyle/>
          <a:p>
            <a:r>
              <a:rPr lang="en-US" dirty="0"/>
              <a:t>Prompt V1: zero-shot extraction</a:t>
            </a:r>
          </a:p>
          <a:p>
            <a:r>
              <a:rPr lang="en-US" dirty="0"/>
              <a:t>Prompt V2: structured zero-shot with strict anti-fabrication guardrails </a:t>
            </a:r>
          </a:p>
          <a:p>
            <a:pPr lvl="2"/>
            <a:r>
              <a:rPr lang="en-US" dirty="0"/>
              <a:t>Hard constraints: no inference allowed</a:t>
            </a:r>
          </a:p>
          <a:p>
            <a:pPr lvl="2"/>
            <a:r>
              <a:rPr lang="en-US" dirty="0"/>
              <a:t>Return 'Not reported' if missing"</a:t>
            </a:r>
          </a:p>
          <a:p>
            <a:pPr lvl="2"/>
            <a:r>
              <a:rPr lang="en-US" dirty="0"/>
              <a:t>Return 'Indeterminate' if conflicting"</a:t>
            </a:r>
          </a:p>
          <a:p>
            <a:pPr lvl="2"/>
            <a:r>
              <a:rPr lang="en-US" dirty="0"/>
              <a:t>Evidence-based extraction required</a:t>
            </a:r>
          </a:p>
          <a:p>
            <a:endParaRPr lang="en-US" dirty="0"/>
          </a:p>
        </p:txBody>
      </p:sp>
    </p:spTree>
    <p:extLst>
      <p:ext uri="{BB962C8B-B14F-4D97-AF65-F5344CB8AC3E}">
        <p14:creationId xmlns:p14="http://schemas.microsoft.com/office/powerpoint/2010/main" val="1052225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21CE-2B0F-48A5-99A4-4C0C1F60561A}"/>
              </a:ext>
            </a:extLst>
          </p:cNvPr>
          <p:cNvSpPr>
            <a:spLocks noGrp="1"/>
          </p:cNvSpPr>
          <p:nvPr>
            <p:ph type="title"/>
          </p:nvPr>
        </p:nvSpPr>
        <p:spPr/>
        <p:txBody>
          <a:bodyPr>
            <a:normAutofit/>
          </a:bodyPr>
          <a:lstStyle/>
          <a:p>
            <a:r>
              <a:rPr lang="en-US" dirty="0"/>
              <a:t>Prompt performance evaluation</a:t>
            </a:r>
          </a:p>
        </p:txBody>
      </p:sp>
      <p:sp>
        <p:nvSpPr>
          <p:cNvPr id="3" name="Content Placeholder 2">
            <a:extLst>
              <a:ext uri="{FF2B5EF4-FFF2-40B4-BE49-F238E27FC236}">
                <a16:creationId xmlns:a16="http://schemas.microsoft.com/office/drawing/2014/main" id="{6834FC33-2700-048C-29F8-44B7A7DE2E4A}"/>
              </a:ext>
            </a:extLst>
          </p:cNvPr>
          <p:cNvSpPr>
            <a:spLocks noGrp="1"/>
          </p:cNvSpPr>
          <p:nvPr>
            <p:ph idx="1"/>
          </p:nvPr>
        </p:nvSpPr>
        <p:spPr>
          <a:xfrm>
            <a:off x="1981200" y="1166019"/>
            <a:ext cx="8229600" cy="4525963"/>
          </a:xfrm>
        </p:spPr>
        <p:txBody>
          <a:bodyPr>
            <a:normAutofit fontScale="40000" lnSpcReduction="20000"/>
          </a:bodyPr>
          <a:lstStyle/>
          <a:p>
            <a:endParaRPr lang="en-US" dirty="0"/>
          </a:p>
          <a:p>
            <a:r>
              <a:rPr lang="en-US" dirty="0"/>
              <a:t>{</a:t>
            </a:r>
          </a:p>
          <a:p>
            <a:r>
              <a:rPr lang="en-US" dirty="0"/>
              <a:t>“prompt_v1": {</a:t>
            </a:r>
          </a:p>
          <a:p>
            <a:r>
              <a:rPr lang="en-US" dirty="0"/>
              <a:t>"id": "P1",</a:t>
            </a:r>
          </a:p>
          <a:p>
            <a:r>
              <a:rPr lang="en-US" dirty="0"/>
              <a:t>"date_frozen": "2026-02-28",</a:t>
            </a:r>
          </a:p>
          <a:p>
            <a:r>
              <a:rPr lang="en-US" dirty="0"/>
              <a:t>"approach": "structured extraction",</a:t>
            </a:r>
          </a:p>
          <a:p>
            <a:r>
              <a:rPr lang="en-US" dirty="0"/>
              <a:t>"model": "gpt-4.x",</a:t>
            </a:r>
          </a:p>
          <a:p>
            <a:r>
              <a:rPr lang="en-US" dirty="0"/>
              <a:t>"temperature": 0.0,</a:t>
            </a:r>
          </a:p>
          <a:p>
            <a:r>
              <a:rPr lang="en-US" dirty="0"/>
              <a:t>"status": "frozen"},</a:t>
            </a:r>
          </a:p>
          <a:p>
            <a:endParaRPr lang="en-US" dirty="0"/>
          </a:p>
          <a:p>
            <a:r>
              <a:rPr lang="en-US" dirty="0"/>
              <a:t>"prompt_v2": {</a:t>
            </a:r>
          </a:p>
          <a:p>
            <a:r>
              <a:rPr lang="en-US" dirty="0"/>
              <a:t>"id": "P2",</a:t>
            </a:r>
          </a:p>
          <a:p>
            <a:r>
              <a:rPr lang="en-US" dirty="0"/>
              <a:t>"date_frozen": "2026-03-01",</a:t>
            </a:r>
          </a:p>
          <a:p>
            <a:r>
              <a:rPr lang="en-US" dirty="0"/>
              <a:t>"approach": "refined extraction",</a:t>
            </a:r>
          </a:p>
          <a:p>
            <a:r>
              <a:rPr lang="en-US" dirty="0"/>
              <a:t>“status": "frozen"}</a:t>
            </a:r>
          </a:p>
          <a:p>
            <a:r>
              <a:rPr lang="en-US" dirty="0"/>
              <a:t>}</a:t>
            </a:r>
          </a:p>
          <a:p>
            <a:endParaRPr lang="en-US" dirty="0"/>
          </a:p>
          <a:p>
            <a:r>
              <a:rPr lang="en-US" dirty="0"/>
              <a:t>Classification performance run log:</a:t>
            </a:r>
          </a:p>
          <a:p>
            <a:r>
              <a:rPr lang="en-US" dirty="0"/>
              <a:t>{"</a:t>
            </a:r>
            <a:r>
              <a:rPr lang="en-US" dirty="0" err="1"/>
              <a:t>run_id</a:t>
            </a:r>
            <a:r>
              <a:rPr lang="en-US" dirty="0"/>
              <a:t>": "R23",</a:t>
            </a:r>
          </a:p>
          <a:p>
            <a:r>
              <a:rPr lang="en-US" dirty="0"/>
              <a:t>"model": "gpt-4.x",</a:t>
            </a:r>
          </a:p>
          <a:p>
            <a:r>
              <a:rPr lang="en-US" dirty="0"/>
              <a:t>"prompt_id": "P17",“</a:t>
            </a:r>
          </a:p>
          <a:p>
            <a:r>
              <a:rPr lang="en-US" dirty="0"/>
              <a:t>approach": "BFOP",</a:t>
            </a:r>
          </a:p>
          <a:p>
            <a:r>
              <a:rPr lang="en-US" dirty="0"/>
              <a:t>"timestamp": "2026-03-10",</a:t>
            </a:r>
          </a:p>
          <a:p>
            <a:r>
              <a:rPr lang="en-US" dirty="0"/>
              <a:t>"overall_accuracy": 0.82,</a:t>
            </a:r>
          </a:p>
          <a:p>
            <a:r>
              <a:rPr lang="en-US" dirty="0"/>
              <a:t>"fabrication_rate": 0.05,</a:t>
            </a:r>
          </a:p>
          <a:p>
            <a:r>
              <a:rPr lang="en-US" dirty="0"/>
              <a:t>"domain_breakdown": {</a:t>
            </a:r>
          </a:p>
          <a:p>
            <a:r>
              <a:rPr lang="en-US" dirty="0"/>
              <a:t>"radiology": 0.84,"pathology": 0.79}}</a:t>
            </a:r>
          </a:p>
        </p:txBody>
      </p:sp>
    </p:spTree>
    <p:extLst>
      <p:ext uri="{BB962C8B-B14F-4D97-AF65-F5344CB8AC3E}">
        <p14:creationId xmlns:p14="http://schemas.microsoft.com/office/powerpoint/2010/main" val="570611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21F8-9390-3DE0-F176-6592E414D43F}"/>
              </a:ext>
            </a:extLst>
          </p:cNvPr>
          <p:cNvSpPr>
            <a:spLocks noGrp="1"/>
          </p:cNvSpPr>
          <p:nvPr>
            <p:ph type="title"/>
          </p:nvPr>
        </p:nvSpPr>
        <p:spPr/>
        <p:txBody>
          <a:bodyPr/>
          <a:lstStyle/>
          <a:p>
            <a:r>
              <a:rPr lang="en-US" dirty="0"/>
              <a:t>Summary of Results</a:t>
            </a:r>
          </a:p>
        </p:txBody>
      </p:sp>
      <p:sp>
        <p:nvSpPr>
          <p:cNvPr id="3" name="Content Placeholder 2">
            <a:extLst>
              <a:ext uri="{FF2B5EF4-FFF2-40B4-BE49-F238E27FC236}">
                <a16:creationId xmlns:a16="http://schemas.microsoft.com/office/drawing/2014/main" id="{D0C3BAF7-901E-3C31-935A-740B21F37CA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F2D51202-25A3-579F-4B23-8B1B84A1D7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1671C5-480A-BC30-C4EB-1FAF62ED2E99}"/>
              </a:ext>
            </a:extLst>
          </p:cNvPr>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3717739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C6E8E-EAEF-808E-CB34-11A3019327DB}"/>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A19ED776-82DB-9AA2-A857-E0B5F2082BC0}"/>
              </a:ext>
            </a:extLst>
          </p:cNvPr>
          <p:cNvSpPr>
            <a:spLocks noGrp="1"/>
          </p:cNvSpPr>
          <p:nvPr>
            <p:ph type="sldNum" sz="quarter" idx="11"/>
          </p:nvPr>
        </p:nvSpPr>
        <p:spPr/>
        <p:txBody>
          <a:bodyPr/>
          <a:lstStyle/>
          <a:p>
            <a:fld id="{523A240F-EAFE-E84F-B44C-6D7A08E0E409}" type="slidenum">
              <a:rPr lang="en-US" smtClean="0"/>
              <a:pPr/>
              <a:t>19</a:t>
            </a:fld>
            <a:endParaRPr lang="en-US"/>
          </a:p>
        </p:txBody>
      </p:sp>
      <p:sp>
        <p:nvSpPr>
          <p:cNvPr id="3" name="Footer Placeholder 2">
            <a:extLst>
              <a:ext uri="{FF2B5EF4-FFF2-40B4-BE49-F238E27FC236}">
                <a16:creationId xmlns:a16="http://schemas.microsoft.com/office/drawing/2014/main" id="{C5106054-40B5-115B-B435-DE5865F492C6}"/>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7DA528AF-FC9A-7FC2-3933-BE4A5E68629E}"/>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24767E1F-E87C-762F-24C6-FD470AD2D445}"/>
              </a:ext>
            </a:extLst>
          </p:cNvPr>
          <p:cNvSpPr>
            <a:spLocks noGrp="1"/>
          </p:cNvSpPr>
          <p:nvPr>
            <p:ph type="title"/>
          </p:nvPr>
        </p:nvSpPr>
        <p:spPr>
          <a:xfrm>
            <a:off x="512063" y="736093"/>
            <a:ext cx="11184423" cy="557784"/>
          </a:xfrm>
        </p:spPr>
        <p:txBody>
          <a:bodyPr/>
          <a:lstStyle/>
          <a:p>
            <a:r>
              <a:rPr lang="en-US" dirty="0"/>
              <a:t>Clinical implications</a:t>
            </a:r>
          </a:p>
        </p:txBody>
      </p:sp>
      <p:sp>
        <p:nvSpPr>
          <p:cNvPr id="4" name="Rectangle 1">
            <a:extLst>
              <a:ext uri="{FF2B5EF4-FFF2-40B4-BE49-F238E27FC236}">
                <a16:creationId xmlns:a16="http://schemas.microsoft.com/office/drawing/2014/main" id="{458CFF1A-308D-90CC-6B46-027BCEDC285D}"/>
              </a:ext>
            </a:extLst>
          </p:cNvPr>
          <p:cNvSpPr>
            <a:spLocks noGrp="1" noChangeArrowheads="1"/>
          </p:cNvSpPr>
          <p:nvPr>
            <p:ph idx="1"/>
          </p:nvPr>
        </p:nvSpPr>
        <p:spPr bwMode="auto">
          <a:xfrm>
            <a:off x="512063" y="1892585"/>
            <a:ext cx="93730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Reduces manual workload associated with summarizing imaging and pathology reports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Standardizes oncologic history collection across staff and sites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Improves completeness of key breast cancer–specific clinical information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Mitigates variability driven by differences in staff training and experience</a:t>
            </a:r>
          </a:p>
        </p:txBody>
      </p:sp>
    </p:spTree>
    <p:extLst>
      <p:ext uri="{BB962C8B-B14F-4D97-AF65-F5344CB8AC3E}">
        <p14:creationId xmlns:p14="http://schemas.microsoft.com/office/powerpoint/2010/main" val="4038599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B7EA-06B1-AEA2-12A9-957930393C6A}"/>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8DA8091-C8D7-6E7B-EB1E-EDBFB262101B}"/>
              </a:ext>
            </a:extLst>
          </p:cNvPr>
          <p:cNvSpPr>
            <a:spLocks noGrp="1"/>
          </p:cNvSpPr>
          <p:nvPr>
            <p:ph type="sldNum" sz="quarter" idx="11"/>
          </p:nvPr>
        </p:nvSpPr>
        <p:spPr/>
        <p:txBody>
          <a:bodyPr/>
          <a:lstStyle/>
          <a:p>
            <a:fld id="{523A240F-EAFE-E84F-B44C-6D7A08E0E409}" type="slidenum">
              <a:rPr lang="en-US" smtClean="0"/>
              <a:pPr/>
              <a:t>20</a:t>
            </a:fld>
            <a:endParaRPr lang="en-US"/>
          </a:p>
        </p:txBody>
      </p:sp>
      <p:sp>
        <p:nvSpPr>
          <p:cNvPr id="3" name="Footer Placeholder 2">
            <a:extLst>
              <a:ext uri="{FF2B5EF4-FFF2-40B4-BE49-F238E27FC236}">
                <a16:creationId xmlns:a16="http://schemas.microsoft.com/office/drawing/2014/main" id="{D993A441-3F4E-2808-42F3-E014F5CB6790}"/>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0A852323-F1D5-94B3-1EE9-38CDD12AC03A}"/>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34693915-684E-CA6E-4764-8C4648A92DDC}"/>
              </a:ext>
            </a:extLst>
          </p:cNvPr>
          <p:cNvSpPr>
            <a:spLocks noGrp="1"/>
          </p:cNvSpPr>
          <p:nvPr>
            <p:ph type="title"/>
          </p:nvPr>
        </p:nvSpPr>
        <p:spPr/>
        <p:txBody>
          <a:bodyPr/>
          <a:lstStyle/>
          <a:p>
            <a:r>
              <a:rPr lang="en-US" dirty="0"/>
              <a:t>Potential study limitations</a:t>
            </a:r>
          </a:p>
        </p:txBody>
      </p:sp>
      <p:sp>
        <p:nvSpPr>
          <p:cNvPr id="4" name="Rectangle 1">
            <a:extLst>
              <a:ext uri="{FF2B5EF4-FFF2-40B4-BE49-F238E27FC236}">
                <a16:creationId xmlns:a16="http://schemas.microsoft.com/office/drawing/2014/main" id="{DFFA3AD3-E044-E044-F818-DC0FFA5F615A}"/>
              </a:ext>
            </a:extLst>
          </p:cNvPr>
          <p:cNvSpPr>
            <a:spLocks noGrp="1" noChangeArrowheads="1"/>
          </p:cNvSpPr>
          <p:nvPr>
            <p:ph idx="1"/>
          </p:nvPr>
        </p:nvSpPr>
        <p:spPr bwMode="auto">
          <a:xfrm>
            <a:off x="512763" y="1625544"/>
            <a:ext cx="1038254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No universally accepted gold standard exists for evaluating clinical summarization beyond lexical overlap metrics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Automated metrics may not reflect clinical correctness or completeness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Reference summaries may themselves be variable or incomplete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Human evaluation introduces subjectivity and inter-reviewer variability</a:t>
            </a:r>
          </a:p>
        </p:txBody>
      </p:sp>
    </p:spTree>
    <p:extLst>
      <p:ext uri="{BB962C8B-B14F-4D97-AF65-F5344CB8AC3E}">
        <p14:creationId xmlns:p14="http://schemas.microsoft.com/office/powerpoint/2010/main" val="1872415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7B22A-2FF5-FC9A-5845-BF6855F6BCCD}"/>
            </a:ext>
          </a:extLst>
        </p:cNvPr>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12F3B94-DA23-DBCA-313E-66FA833D7EB7}"/>
              </a:ext>
            </a:extLst>
          </p:cNvPr>
          <p:cNvSpPr>
            <a:spLocks noGrp="1"/>
          </p:cNvSpPr>
          <p:nvPr>
            <p:ph type="sldNum" sz="quarter" idx="11"/>
          </p:nvPr>
        </p:nvSpPr>
        <p:spPr/>
        <p:txBody>
          <a:bodyPr/>
          <a:lstStyle/>
          <a:p>
            <a:fld id="{523A240F-EAFE-E84F-B44C-6D7A08E0E409}" type="slidenum">
              <a:rPr lang="en-US" smtClean="0"/>
              <a:pPr/>
              <a:t>21</a:t>
            </a:fld>
            <a:endParaRPr lang="en-US"/>
          </a:p>
        </p:txBody>
      </p:sp>
      <p:sp>
        <p:nvSpPr>
          <p:cNvPr id="3" name="Footer Placeholder 2">
            <a:extLst>
              <a:ext uri="{FF2B5EF4-FFF2-40B4-BE49-F238E27FC236}">
                <a16:creationId xmlns:a16="http://schemas.microsoft.com/office/drawing/2014/main" id="{959DD118-AEB6-A269-1652-EA2561FD1C01}"/>
              </a:ext>
            </a:extLst>
          </p:cNvPr>
          <p:cNvSpPr>
            <a:spLocks noGrp="1"/>
          </p:cNvSpPr>
          <p:nvPr>
            <p:ph type="ftr" sz="quarter" idx="10"/>
          </p:nvPr>
        </p:nvSpPr>
        <p:spPr/>
        <p:txBody>
          <a:bodyPr/>
          <a:lstStyle/>
          <a:p>
            <a:r>
              <a:rPr lang="en-US"/>
              <a:t>MSK Confidential — do not distribute</a:t>
            </a:r>
          </a:p>
        </p:txBody>
      </p:sp>
      <p:sp>
        <p:nvSpPr>
          <p:cNvPr id="13" name="Text Placeholder 12">
            <a:extLst>
              <a:ext uri="{FF2B5EF4-FFF2-40B4-BE49-F238E27FC236}">
                <a16:creationId xmlns:a16="http://schemas.microsoft.com/office/drawing/2014/main" id="{7FE85BD9-FB84-B996-5058-DF5D8882DACB}"/>
              </a:ext>
            </a:extLst>
          </p:cNvPr>
          <p:cNvSpPr>
            <a:spLocks noGrp="1"/>
          </p:cNvSpPr>
          <p:nvPr>
            <p:ph type="body" sz="half" idx="2"/>
          </p:nvPr>
        </p:nvSpPr>
        <p:spPr/>
        <p:txBody>
          <a:bodyPr/>
          <a:lstStyle/>
          <a:p>
            <a:endParaRPr lang="en-US"/>
          </a:p>
        </p:txBody>
      </p:sp>
      <p:sp>
        <p:nvSpPr>
          <p:cNvPr id="11" name="Title 10">
            <a:extLst>
              <a:ext uri="{FF2B5EF4-FFF2-40B4-BE49-F238E27FC236}">
                <a16:creationId xmlns:a16="http://schemas.microsoft.com/office/drawing/2014/main" id="{FEC54DC7-6AB6-B045-0CED-A7E834E6C6E8}"/>
              </a:ext>
            </a:extLst>
          </p:cNvPr>
          <p:cNvSpPr>
            <a:spLocks noGrp="1"/>
          </p:cNvSpPr>
          <p:nvPr>
            <p:ph type="title"/>
          </p:nvPr>
        </p:nvSpPr>
        <p:spPr/>
        <p:txBody>
          <a:bodyPr/>
          <a:lstStyle/>
          <a:p>
            <a:r>
              <a:rPr lang="en-US" dirty="0"/>
              <a:t>Safety and ethical considerations</a:t>
            </a:r>
          </a:p>
        </p:txBody>
      </p:sp>
      <p:sp>
        <p:nvSpPr>
          <p:cNvPr id="4" name="Rectangle 1">
            <a:extLst>
              <a:ext uri="{FF2B5EF4-FFF2-40B4-BE49-F238E27FC236}">
                <a16:creationId xmlns:a16="http://schemas.microsoft.com/office/drawing/2014/main" id="{B5F6D740-20E5-AF39-702E-149F388840B2}"/>
              </a:ext>
            </a:extLst>
          </p:cNvPr>
          <p:cNvSpPr>
            <a:spLocks noGrp="1" noChangeArrowheads="1"/>
          </p:cNvSpPr>
          <p:nvPr>
            <p:ph idx="1"/>
          </p:nvPr>
        </p:nvSpPr>
        <p:spPr bwMode="auto">
          <a:xfrm>
            <a:off x="512763" y="1782420"/>
            <a:ext cx="1027405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All LLM-generated summaries require clinician review and verification before use in clinical decision-making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The tool is designed to augment—not replace—clinical judgment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Staff must retain competency in independently collecting oncologic histories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2"/>
                </a:solidFill>
                <a:effectLst/>
                <a:latin typeface="Arial" panose="020B0604020202020204" pitchFamily="34" charset="0"/>
              </a:rPr>
              <a:t>Clinical workflows should remain robust to system downtime or tool unavailability</a:t>
            </a:r>
          </a:p>
        </p:txBody>
      </p:sp>
    </p:spTree>
    <p:extLst>
      <p:ext uri="{BB962C8B-B14F-4D97-AF65-F5344CB8AC3E}">
        <p14:creationId xmlns:p14="http://schemas.microsoft.com/office/powerpoint/2010/main" val="2824012289"/>
      </p:ext>
    </p:extLst>
  </p:cSld>
  <p:clrMapOvr>
    <a:masterClrMapping/>
  </p:clrMapOvr>
</p:sld>
</file>

<file path=ppt/theme/theme1.xml><?xml version="1.0" encoding="utf-8"?>
<a:theme xmlns:a="http://schemas.openxmlformats.org/drawingml/2006/main" name="MSK Internal Template">
  <a:themeElements>
    <a:clrScheme name="MSK Direct">
      <a:dk1>
        <a:srgbClr val="002569"/>
      </a:dk1>
      <a:lt1>
        <a:srgbClr val="FFFFFF"/>
      </a:lt1>
      <a:dk2>
        <a:srgbClr val="272524"/>
      </a:dk2>
      <a:lt2>
        <a:srgbClr val="FBF9F7"/>
      </a:lt2>
      <a:accent1>
        <a:srgbClr val="0073E0"/>
      </a:accent1>
      <a:accent2>
        <a:srgbClr val="70BCFF"/>
      </a:accent2>
      <a:accent3>
        <a:srgbClr val="C3DEFF"/>
      </a:accent3>
      <a:accent4>
        <a:srgbClr val="037D98"/>
      </a:accent4>
      <a:accent5>
        <a:srgbClr val="78E2DA"/>
      </a:accent5>
      <a:accent6>
        <a:srgbClr val="B1FFF9"/>
      </a:accent6>
      <a:hlink>
        <a:srgbClr val="3259E7"/>
      </a:hlink>
      <a:folHlink>
        <a:srgbClr val="863E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solidFill>
              <a:srgbClr val="272524"/>
            </a:solidFill>
          </a:defRPr>
        </a:defPPr>
      </a:lstStyle>
    </a:txDef>
  </a:objectDefaults>
  <a:extraClrSchemeLst/>
  <a:custClrLst>
    <a:custClr name="Dark Warm Gray">
      <a:srgbClr val="272524"/>
    </a:custClr>
    <a:custClr name="Blue">
      <a:srgbClr val="0073E0"/>
    </a:custClr>
    <a:custClr name="Dark Teal">
      <a:srgbClr val="037D98"/>
    </a:custClr>
    <a:custClr name="Dark Green">
      <a:srgbClr val="308229"/>
    </a:custClr>
    <a:custClr name="Dark Orange">
      <a:srgbClr val="E65722"/>
    </a:custClr>
    <a:custClr name="Dark Gold">
      <a:srgbClr val="C28110"/>
    </a:custClr>
    <a:custClr name="Dark Pink">
      <a:srgbClr val="D71D77"/>
    </a:custClr>
    <a:custClr name="Dark Purple">
      <a:srgbClr val="863ECC"/>
    </a:custClr>
    <a:custClr name="White01">
      <a:srgbClr val="FFFFFF"/>
    </a:custClr>
    <a:custClr name="Utility Red">
      <a:srgbClr val="E40D00"/>
    </a:custClr>
    <a:custClr name="Medium Warm Gray">
      <a:srgbClr val="B5B2AD"/>
    </a:custClr>
    <a:custClr name="Medium Blue">
      <a:srgbClr val="70BCFF"/>
    </a:custClr>
    <a:custClr name="Teal">
      <a:srgbClr val="78E2DA"/>
    </a:custClr>
    <a:custClr name="Green">
      <a:srgbClr val="5DCC6F"/>
    </a:custClr>
    <a:custClr name="Orange">
      <a:srgbClr val="FF8834"/>
    </a:custClr>
    <a:custClr name="Gold">
      <a:srgbClr val="FFBE02"/>
    </a:custClr>
    <a:custClr name="Pink">
      <a:srgbClr val="FF85BF"/>
    </a:custClr>
    <a:custClr name="Purple">
      <a:srgbClr val="BD8AEF"/>
    </a:custClr>
    <a:custClr name="White02">
      <a:srgbClr val="FFFFFF"/>
    </a:custClr>
    <a:custClr name="Utility Light Red">
      <a:srgbClr val="FFEDE8"/>
    </a:custClr>
    <a:custClr name="White03">
      <a:srgbClr val="FFFFFF"/>
    </a:custClr>
    <a:custClr name="Light Blue">
      <a:srgbClr val="C3DEFF"/>
    </a:custClr>
    <a:custClr name="Light Teal">
      <a:srgbClr val="B1FFF9"/>
    </a:custClr>
    <a:custClr name="Light Green">
      <a:srgbClr val="C7FCC6"/>
    </a:custClr>
    <a:custClr name="Light Orange">
      <a:srgbClr val="FCD2B4"/>
    </a:custClr>
    <a:custClr name="Light Gold">
      <a:srgbClr val="FFEDBA"/>
    </a:custClr>
    <a:custClr name="Light Pink">
      <a:srgbClr val="FFBBEC"/>
    </a:custClr>
    <a:custClr name="Light Purple">
      <a:srgbClr val="F4BDFF"/>
    </a:custClr>
    <a:custClr name="White04">
      <a:srgbClr val="FFFFFF"/>
    </a:custClr>
    <a:custClr name="Utility Dark Green">
      <a:srgbClr val="008937"/>
    </a:custClr>
    <a:custClr name="Pale Warm Gray">
      <a:srgbClr val="FBF9F7"/>
    </a:custClr>
    <a:custClr name="Pale Blue">
      <a:srgbClr val="F0F7FF"/>
    </a:custClr>
    <a:custClr name="Pale Teal">
      <a:srgbClr val="EBFCFA"/>
    </a:custClr>
    <a:custClr name="White05">
      <a:srgbClr val="FFFFFF"/>
    </a:custClr>
    <a:custClr name="White06">
      <a:srgbClr val="FFFFFF"/>
    </a:custClr>
    <a:custClr name="White07">
      <a:srgbClr val="FFFFFF"/>
    </a:custClr>
    <a:custClr name="White08">
      <a:srgbClr val="FFFFFF"/>
    </a:custClr>
    <a:custClr name="White09">
      <a:srgbClr val="FFFFFF"/>
    </a:custClr>
    <a:custClr name="White10">
      <a:srgbClr val="FFFFFF"/>
    </a:custClr>
    <a:custClr name="Utility Light Green">
      <a:srgbClr val="E4FFE3"/>
    </a:custClr>
  </a:custClrLst>
  <a:extLst>
    <a:ext uri="{05A4C25C-085E-4340-85A3-A5531E510DB2}">
      <thm15:themeFamily xmlns:thm15="http://schemas.microsoft.com/office/thememl/2012/main" name="MSK_Internal_Template" id="{59C23CD5-9955-5D4B-8670-B804478838D9}" vid="{943BE80A-EBCC-7E4F-9C4C-522D1ECDE1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5185</TotalTime>
  <Words>4708</Words>
  <Application>Microsoft Office PowerPoint</Application>
  <PresentationFormat>Widescreen</PresentationFormat>
  <Paragraphs>843</Paragraphs>
  <Slides>21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System Font Regular</vt:lpstr>
      <vt:lpstr>Times</vt:lpstr>
      <vt:lpstr>MSK Internal Template</vt:lpstr>
      <vt:lpstr>OPTICS Work in Progress</vt:lpstr>
      <vt:lpstr>What is the clinical problem?</vt:lpstr>
      <vt:lpstr>PowerPoint Presentation</vt:lpstr>
      <vt:lpstr>Prior Research</vt:lpstr>
      <vt:lpstr>Gap in Knowledge</vt:lpstr>
      <vt:lpstr>Addressing the gap</vt:lpstr>
      <vt:lpstr>Study Question and Aims</vt:lpstr>
      <vt:lpstr>Project Framework</vt:lpstr>
      <vt:lpstr>Study Design &amp; Data Sources</vt:lpstr>
      <vt:lpstr>Study Design &amp; Data Sources</vt:lpstr>
      <vt:lpstr>Part 1 – validation and eval of classification performance </vt:lpstr>
      <vt:lpstr>Initial results of model validation by human judges</vt:lpstr>
      <vt:lpstr>Exploratory assessment of structured prompt with guardrails on performance and safety</vt:lpstr>
      <vt:lpstr>Why prompt engineering matters?</vt:lpstr>
      <vt:lpstr>Prompt structure and safety guardrails</vt:lpstr>
      <vt:lpstr>Prompt versioning</vt:lpstr>
      <vt:lpstr>Prompt performance evaluation</vt:lpstr>
      <vt:lpstr>Summary of Results</vt:lpstr>
      <vt:lpstr>Clinical implications</vt:lpstr>
      <vt:lpstr>Potential study limitations</vt:lpstr>
      <vt:lpstr>Safety and ethical considerations</vt:lpstr>
    </vt:vector>
  </TitlesOfParts>
  <Company>MSK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Robert</dc:creator>
  <cp:lastModifiedBy>James, Robert</cp:lastModifiedBy>
  <cp:revision>3</cp:revision>
  <dcterms:created xsi:type="dcterms:W3CDTF">2025-12-07T03:04:10Z</dcterms:created>
  <dcterms:modified xsi:type="dcterms:W3CDTF">2026-05-03T17:59:00Z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f1469a-2c2a-4aee-b92b-090d4c5468ff_Enabled">
    <vt:lpwstr>true</vt:lpwstr>
  </property>
  <property fmtid="{D5CDD505-2E9C-101B-9397-08002B2CF9AE}" pid="3" name="MSIP_Label_38f1469a-2c2a-4aee-b92b-090d4c5468ff_SetDate">
    <vt:lpwstr>2022-09-12T14:33:51Z</vt:lpwstr>
  </property>
  <property fmtid="{D5CDD505-2E9C-101B-9397-08002B2CF9AE}" pid="4" name="MSIP_Label_38f1469a-2c2a-4aee-b92b-090d4c5468ff_Method">
    <vt:lpwstr>Standard</vt:lpwstr>
  </property>
  <property fmtid="{D5CDD505-2E9C-101B-9397-08002B2CF9AE}" pid="5" name="MSIP_Label_38f1469a-2c2a-4aee-b92b-090d4c5468ff_Name">
    <vt:lpwstr>Confidential - Unmarked</vt:lpwstr>
  </property>
  <property fmtid="{D5CDD505-2E9C-101B-9397-08002B2CF9AE}" pid="6" name="MSIP_Label_38f1469a-2c2a-4aee-b92b-090d4c5468ff_SiteId">
    <vt:lpwstr>2a6e6092-73e4-4752-b1a5-477a17f5056d</vt:lpwstr>
  </property>
  <property fmtid="{D5CDD505-2E9C-101B-9397-08002B2CF9AE}" pid="7" name="MSIP_Label_38f1469a-2c2a-4aee-b92b-090d4c5468ff_ActionId">
    <vt:lpwstr>e87d08fb-4b2a-4502-ad1f-5afae1f7f999</vt:lpwstr>
  </property>
  <property fmtid="{D5CDD505-2E9C-101B-9397-08002B2CF9AE}" pid="8" name="MSIP_Label_38f1469a-2c2a-4aee-b92b-090d4c5468ff_ContentBits">
    <vt:lpwstr>0</vt:lpwstr>
  </property>
</Properties>
</file>